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7315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6400" b="1" i="0">
                <a:solidFill>
                  <a:srgbClr val="0F172A"/>
                </a:solidFill>
                <a:latin typeface="Segoe UI"/>
              </a:rPr>
              <a:t>Snag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95728"/>
            <a:ext cx="1005840" cy="2743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6700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700" b="0" i="0">
                <a:solidFill>
                  <a:srgbClr val="0F172A"/>
                </a:solidFill>
                <a:latin typeface="Segoe UI"/>
              </a:rPr>
              <a:t>A receipt-ledger agent — </a:t>
            </a:r>
            <a:r>
              <a:rPr sz="1700" b="0" i="0">
                <a:solidFill>
                  <a:srgbClr val="B45309"/>
                </a:solidFill>
                <a:latin typeface="Segoe UI"/>
              </a:rPr>
              <a:t>every peso traced back to the paper it came from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72384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Gemma 4 — e4b vision (OCR) + 12B text (planner)  ·  nomic-embed-text 137M  ·  served through Ollama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Photo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4096512"/>
            <a:ext cx="20177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any receipt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23" y="383133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4683" y="3840480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B45309"/>
                </a:solidFill>
                <a:latin typeface="Segoe UI"/>
              </a:rPr>
              <a:t>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9547" y="4096512"/>
            <a:ext cx="20177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local vision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4966" y="383133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2126" y="3840480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990" y="4096512"/>
            <a:ext cx="20177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10 arithmetic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2409" y="383133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569" y="3840480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File or hold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14433" y="4096512"/>
            <a:ext cx="20177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ledger, or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9852" y="383133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7012" y="3840480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Ask &amp; record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1876" y="4096512"/>
            <a:ext cx="20177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in plain English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66344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77240" y="491947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937760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3F4B5C"/>
                </a:solidFill>
                <a:latin typeface="Segoe UI"/>
              </a:rPr>
              <a:t>Next.js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00017" y="491947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05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337" y="4937760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3F4B5C"/>
                </a:solidFill>
                <a:latin typeface="Segoe UI"/>
              </a:rPr>
              <a:t>FastAPI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22794" y="491947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114" y="4937760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3F4B5C"/>
                </a:solidFill>
                <a:latin typeface="Segoe UI"/>
              </a:rPr>
              <a:t>Ollama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80283" y="491947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003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4603" y="4937760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3F4B5C"/>
                </a:solidFill>
                <a:latin typeface="Segoe UI"/>
              </a:rPr>
              <a:t>SQLite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37772" y="491947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029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12092" y="4937760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3F4B5C"/>
                </a:solidFill>
                <a:latin typeface="Segoe UI"/>
              </a:rPr>
              <a:t>MLflow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95261" y="491947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1D6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69581" y="4937760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3F4B5C"/>
                </a:solidFill>
                <a:latin typeface="Segoe UI"/>
              </a:rPr>
              <a:t>Docker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52750" y="491947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E9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27070" y="4937760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3F4B5C"/>
                </a:solidFill>
                <a:latin typeface="Segoe UI"/>
              </a:rPr>
              <a:t>Pydantic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431536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Nathaniel Adiong  ·  Clarence Ang  ·  Fraser Sim  ·  Aaron Go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724144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8A94A3"/>
                </a:solidFill>
                <a:latin typeface="Segoe UI"/>
              </a:rPr>
              <a:t>Introduction to Agentic AI (STAI100)  ·  Stratpoint × DLSU  ·  Week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Use 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571500"/>
            <a:ext cx="530352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300 paper receipts a month, one pair of hands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11680"/>
            <a:ext cx="26593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464308"/>
            <a:ext cx="2659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receipts a month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9384" y="213969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6544" y="2011680"/>
            <a:ext cx="26593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2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6544" y="2464308"/>
            <a:ext cx="2659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to type 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8688" y="213969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8" y="2011680"/>
            <a:ext cx="26593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10 hours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8" y="2464308"/>
            <a:ext cx="2659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every 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7991" y="213969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5151" y="2011680"/>
            <a:ext cx="26593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3000" b="1" i="0">
                <a:solidFill>
                  <a:srgbClr val="B45309"/>
                </a:solidFill>
                <a:latin typeface="Segoe UI"/>
              </a:rPr>
              <a:t>₱1,562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5151" y="2464308"/>
            <a:ext cx="2659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of labour a month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20040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340156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91C1C"/>
                </a:solidFill>
                <a:latin typeface="Segoe UI"/>
              </a:rPr>
              <a:t>AND NOBODY CHECKS THE MATH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79476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" y="3767328"/>
            <a:ext cx="30885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50" b="1" i="0">
                <a:solidFill>
                  <a:srgbClr val="0F172A"/>
                </a:solidFill>
                <a:latin typeface="Segoe UI"/>
              </a:rPr>
              <a:t>A line misread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4059936"/>
            <a:ext cx="30885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the total still looks fine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22978" y="379476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9010" y="3767328"/>
            <a:ext cx="30885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50" b="1" i="0">
                <a:solidFill>
                  <a:srgbClr val="0F172A"/>
                </a:solidFill>
                <a:latin typeface="Segoe UI"/>
              </a:rPr>
              <a:t>VAT added twice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9010" y="4059936"/>
            <a:ext cx="30885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on a VAT-inclusive receipt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8717" y="379476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4749" y="3767328"/>
            <a:ext cx="30885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50" b="1" i="0">
                <a:solidFill>
                  <a:srgbClr val="0F172A"/>
                </a:solidFill>
                <a:latin typeface="Segoe UI"/>
              </a:rPr>
              <a:t>Entered twice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4749" y="4059936"/>
            <a:ext cx="30885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one purchase, two rows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4892040"/>
            <a:ext cx="731520" cy="20117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509320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Found at filing time. Months later. If at all.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404561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Every figure in this deck exists because that sentence is expensive.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Use 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571500"/>
            <a:ext cx="530352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One thing done well beats five done adequately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828800"/>
            <a:ext cx="8230" cy="324612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182880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047857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1883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 spc="90">
                <a:solidFill>
                  <a:srgbClr val="047857"/>
                </a:solidFill>
                <a:latin typeface="Segoe UI"/>
              </a:rPr>
              <a:t>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286000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2432304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Photographed PH retail receipt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816352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296265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Its own printed arithmetic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346704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34930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Hold the bad, file the good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877056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402336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A ledger you can ask, month after month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407408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55371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Bank / card statement CSV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937760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37960" y="182880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1883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 spc="90">
                <a:solidFill>
                  <a:srgbClr val="B91C1C"/>
                </a:solidFill>
                <a:latin typeface="Segoe UI"/>
              </a:rPr>
              <a:t>OUT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2286000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37960" y="2432304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Invoices, payslips, contracts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60" y="2816352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37960" y="296265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Auto-correcting what the model read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37960" y="3346704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37960" y="34930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Multi-user accounts, cloud sync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37960" y="3877056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37960" y="402336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PDF statements, refunds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60" y="4407408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37960" y="455371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Handwriting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37960" y="4937760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77240" y="5257800"/>
            <a:ext cx="731520" cy="20117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77240" y="545896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A chat window cannot re-photograph the paper, keep a ledger, or stay on your machine.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5740146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That is the sanity check the brief asks for — and the reason this is an agent.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Use 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571500"/>
            <a:ext cx="530352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The arithmetic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Every input carries its unit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82880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103120"/>
            <a:ext cx="123901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2414016"/>
            <a:ext cx="12390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receipts /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9404" y="2103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8A94A3"/>
                </a:solidFill>
                <a:latin typeface="Segoe UI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55164" y="2103120"/>
            <a:ext cx="123901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2.0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5164" y="2414016"/>
            <a:ext cx="12390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min / receipt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2103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8A94A3"/>
                </a:solidFill>
                <a:latin typeface="Segoe UI"/>
              </a:rPr>
              <a:t>=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103120"/>
            <a:ext cx="110185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600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414016"/>
            <a:ext cx="110185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min /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1516" y="2103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8A94A3"/>
                </a:solidFill>
                <a:latin typeface="Segoe UI"/>
              </a:rPr>
              <a:t>=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37276" y="2103120"/>
            <a:ext cx="10698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10.0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37276" y="2414016"/>
            <a:ext cx="10698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hours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1988" y="2103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8A94A3"/>
                </a:solidFill>
                <a:latin typeface="Segoe UI"/>
              </a:rPr>
              <a:t>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27748" y="2103120"/>
            <a:ext cx="13030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₱156.25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27748" y="2414016"/>
            <a:ext cx="13030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per hour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5632" y="2103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8A94A3"/>
                </a:solidFill>
                <a:latin typeface="Segoe UI"/>
              </a:rPr>
              <a:t>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2103120"/>
            <a:ext cx="12801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₱1,562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51392" y="2414016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per month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2761488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2980944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45309"/>
                </a:solidFill>
                <a:latin typeface="Segoe UI"/>
              </a:rPr>
              <a:t>WITH SNAG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8" y="3255264"/>
            <a:ext cx="123901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300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8" y="3566160"/>
            <a:ext cx="12390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receipts / 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89404" y="325526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8A94A3"/>
                </a:solidFill>
                <a:latin typeface="Segoe UI"/>
              </a:rPr>
              <a:t>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55164" y="3255264"/>
            <a:ext cx="13944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15.4%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55164" y="3566160"/>
            <a:ext cx="13944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held for review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04488" y="325526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8A94A3"/>
                </a:solidFill>
                <a:latin typeface="Segoe UI"/>
              </a:rPr>
              <a:t>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70248" y="3255264"/>
            <a:ext cx="115671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0.5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70248" y="3566160"/>
            <a:ext cx="115671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min / held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1828" y="325526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8A94A3"/>
                </a:solidFill>
                <a:latin typeface="Segoe UI"/>
              </a:rPr>
              <a:t>=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7588" y="3255264"/>
            <a:ext cx="10515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7588" y="3566160"/>
            <a:ext cx="1051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min / 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4012" y="325526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8A94A3"/>
                </a:solidFill>
                <a:latin typeface="Segoe UI"/>
              </a:rPr>
              <a:t>=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9772" y="3255264"/>
            <a:ext cx="112928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₱64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9772" y="3566160"/>
            <a:ext cx="11292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per month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3913632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77240" y="4187952"/>
            <a:ext cx="26593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900" b="1" i="0">
                <a:solidFill>
                  <a:srgbClr val="0F172A"/>
                </a:solidFill>
                <a:latin typeface="Segoe UI"/>
              </a:rPr>
              <a:t>9.6 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4627321"/>
            <a:ext cx="2659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saved / month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36544" y="4187952"/>
            <a:ext cx="26593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900" b="1" i="0">
                <a:solidFill>
                  <a:srgbClr val="0F172A"/>
                </a:solidFill>
                <a:latin typeface="Segoe UI"/>
              </a:rPr>
              <a:t>₱1,498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36544" y="4627321"/>
            <a:ext cx="2659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saved / month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95848" y="4187952"/>
            <a:ext cx="26593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900" b="1" i="0">
                <a:solidFill>
                  <a:srgbClr val="B45309"/>
                </a:solidFill>
                <a:latin typeface="Segoe UI"/>
              </a:rPr>
              <a:t>₱17,982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95848" y="4627321"/>
            <a:ext cx="2659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saved / year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55151" y="4187952"/>
            <a:ext cx="26593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900" b="1" i="0">
                <a:solidFill>
                  <a:srgbClr val="B45309"/>
                </a:solidFill>
                <a:latin typeface="Segoe UI"/>
              </a:rPr>
              <a:t>26×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55151" y="4627321"/>
            <a:ext cx="2659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less human time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7240" y="557784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77240" y="572414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Measured vs assumed: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15.4% and 14.9 s/page come from our own traces. The other six inputs are declared assumptions, and every one carries its unit.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Use 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571500"/>
            <a:ext cx="530352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What it costs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Per month, for the same 300 receipts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05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1773936"/>
            <a:ext cx="3179978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1956816"/>
            <a:ext cx="3179978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0F172A"/>
                </a:solidFill>
                <a:latin typeface="Segoe UI"/>
              </a:rPr>
              <a:t>₱1,562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15514"/>
            <a:ext cx="317997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3F4B5C"/>
                </a:solidFill>
                <a:latin typeface="Segoe UI"/>
              </a:rPr>
              <a:t>one pair of hands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734970"/>
            <a:ext cx="317997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10 hours of typing, every month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2978" y="1773936"/>
            <a:ext cx="3179978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22978" y="1956816"/>
            <a:ext cx="3179978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0F172A"/>
                </a:solidFill>
                <a:latin typeface="Segoe UI"/>
              </a:rPr>
              <a:t>₱1,160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2978" y="2515514"/>
            <a:ext cx="317997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3F4B5C"/>
                </a:solidFill>
                <a:latin typeface="Segoe UI"/>
              </a:rPr>
              <a:t>a Claude subscription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2978" y="2734970"/>
            <a:ext cx="317997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$20 a month — and you wire it up yourself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68717" y="1773936"/>
            <a:ext cx="3179978" cy="182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8717" y="1956816"/>
            <a:ext cx="3179978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B45309"/>
                </a:solidFill>
                <a:latin typeface="Segoe UI"/>
              </a:rPr>
              <a:t>₱99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8717" y="2515514"/>
            <a:ext cx="317997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3F4B5C"/>
                </a:solidFill>
                <a:latin typeface="Segoe UI"/>
              </a:rPr>
              <a:t>Snag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8717" y="2734970"/>
            <a:ext cx="317997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set up, running, nothing to configure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291840"/>
            <a:ext cx="2234794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16× cheaper than typing them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40050" y="3291840"/>
            <a:ext cx="2448763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12× cheaper than a subscription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6829" y="3291840"/>
            <a:ext cx="1521562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0 minutes of setup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23360"/>
            <a:ext cx="731520" cy="20117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422452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Cheaper — and already running.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535881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The convenient option is the one people keep using. A subscription you have to configure is a subscription that sits unused by week two; a box that already works is one the bookkeeper opens on Monday.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39496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554126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Unit of measurement: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all three are pesos per month for 300 receipts. The subscription line converts $20 at ₱58 = $1 — confirm the rate before you quote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RRL</a:t>
            </a:r>
          </a:p>
        </p:txBody>
      </p:sp>
      <p:sp>
        <p:nvSpPr>
          <p:cNvPr id="4" name="Rectangle 3"/>
          <p:cNvSpPr/>
          <p:nvPr/>
        </p:nvSpPr>
        <p:spPr>
          <a:xfrm>
            <a:off x="1636776" y="571500"/>
            <a:ext cx="210312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Review of related literature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One unlabelled receipt decided it before accuracy ever came 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06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131820"/>
            <a:ext cx="3931920" cy="1074420"/>
          </a:xfrm>
          <a:prstGeom prst="roundRect">
            <a:avLst>
              <a:gd name="adj" fmla="val 2000"/>
            </a:avLst>
          </a:prstGeom>
          <a:solidFill>
            <a:srgbClr val="FD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88920" y="2057400"/>
            <a:ext cx="786384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88920" y="3131820"/>
            <a:ext cx="786384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788920" y="4206240"/>
            <a:ext cx="786384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8230" cy="214884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720840" y="2057400"/>
            <a:ext cx="8230" cy="214884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0652760" y="2057400"/>
            <a:ext cx="8230" cy="214884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788920" y="1783080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LEAVES THE MACHINE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1783080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0F172A"/>
                </a:solidFill>
                <a:latin typeface="Segoe UI"/>
              </a:rPr>
              <a:t>STAYS LOCAL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2459736"/>
            <a:ext cx="1783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NEEDS
LABELLED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589020"/>
            <a:ext cx="1783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0F172A"/>
                </a:solidFill>
                <a:latin typeface="Segoe UI"/>
              </a:rPr>
              <a:t>ZERO-SHOT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233172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23042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3F4B5C"/>
                </a:solidFill>
                <a:latin typeface="Segoe UI"/>
              </a:rPr>
              <a:t>Cloud Document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260604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Textract · Google · Azure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233172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23042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3F4B5C"/>
                </a:solidFill>
                <a:latin typeface="Segoe UI"/>
              </a:rPr>
              <a:t>Layout transformers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260604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LayoutLMv3 · Donut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340614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7560" y="33787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3F4B5C"/>
                </a:solidFill>
                <a:latin typeface="Segoe UI"/>
              </a:rPr>
              <a:t>Classical OCR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37560" y="368046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Tesseract · PaddleOCR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340614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047857"/>
                </a:solidFill>
                <a:latin typeface="Segoe U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33787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Open vision-language models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368046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B45309"/>
                </a:solidFill>
                <a:latin typeface="Segoe UI"/>
              </a:rPr>
              <a:t>Qwen2.5-VL · Llama 3.2-V · Gemma 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448056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7240" y="466344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WHAT WE RUN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4937760"/>
            <a:ext cx="35457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B45309"/>
                </a:solidFill>
                <a:latin typeface="Segoe UI"/>
              </a:rPr>
              <a:t>Vision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" y="5193792"/>
            <a:ext cx="343601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gemma4:e4b  ·  ~4B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85818" y="49286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2978" y="4937760"/>
            <a:ext cx="35457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Planner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7842" y="5193792"/>
            <a:ext cx="343601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gemma4:12b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1557" y="49286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8717" y="4937760"/>
            <a:ext cx="35457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Embedding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3581" y="5193792"/>
            <a:ext cx="343601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nomic-embed-text  ·  137M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705856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77240" y="585216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The trade-off we recorded rather than resolved: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e4b is fast but misses the VAT block; 12b reads it and garbles the OR number. The audit catches both.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176272" y="571500"/>
            <a:ext cx="786384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System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07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737360"/>
            <a:ext cx="10637215" cy="786384"/>
          </a:xfrm>
          <a:prstGeom prst="roundRect">
            <a:avLst>
              <a:gd name="adj" fmla="val 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05256" y="1819656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00" b="1" i="0" spc="90">
                <a:solidFill>
                  <a:srgbClr val="8A94A3"/>
                </a:solidFill>
                <a:latin typeface="Segoe UI"/>
              </a:rPr>
              <a:t>BROWSER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688336"/>
            <a:ext cx="10637215" cy="1481328"/>
          </a:xfrm>
          <a:prstGeom prst="roundRect">
            <a:avLst>
              <a:gd name="adj" fmla="val 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05256" y="277063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00" b="1" i="0" spc="90">
                <a:solidFill>
                  <a:srgbClr val="8A94A3"/>
                </a:solidFill>
                <a:latin typeface="Segoe UI"/>
              </a:rPr>
              <a:t>SERVICES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34256"/>
            <a:ext cx="10637215" cy="1481328"/>
          </a:xfrm>
          <a:prstGeom prst="roundRect">
            <a:avLst>
              <a:gd name="adj" fmla="val 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5256" y="44165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00" b="1" i="0" spc="90">
                <a:solidFill>
                  <a:srgbClr val="8A94A3"/>
                </a:solidFill>
                <a:latin typeface="Segoe UI"/>
              </a:rPr>
              <a:t>MODELS &amp; STORAGE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1965960"/>
            <a:ext cx="2139696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172A"/>
                </a:solidFill>
                <a:latin typeface="Segoe UI"/>
              </a:rPr>
              <a:t>Scanner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drag · camera · 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28416" y="1965960"/>
            <a:ext cx="2139696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172A"/>
                </a:solidFill>
                <a:latin typeface="Segoe UI"/>
              </a:rPr>
              <a:t>Dashboard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cashflow · budgets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32704" y="1965960"/>
            <a:ext cx="2139696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172A"/>
                </a:solidFill>
                <a:latin typeface="Segoe UI"/>
              </a:rPr>
              <a:t>Chat panel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streams its thinking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36992" y="1965960"/>
            <a:ext cx="2139696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172A"/>
                </a:solidFill>
                <a:latin typeface="Segoe UI"/>
              </a:rPr>
              <a:t>Review table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confidence badges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61320" y="2066544"/>
            <a:ext cx="684452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850" b="1">
                <a:solidFill>
                  <a:srgbClr val="3F4B5C"/>
                </a:solidFill>
                <a:latin typeface="Segoe UI"/>
              </a:rPr>
              <a:t>Next.js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9536" y="2907792"/>
            <a:ext cx="1993392" cy="5120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172A"/>
                </a:solidFill>
                <a:latin typeface="Segoe UI"/>
              </a:rPr>
              <a:t>Web server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same-origin proxy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80944" y="2907792"/>
            <a:ext cx="1993392" cy="5120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172A"/>
                </a:solidFill>
                <a:latin typeface="Segoe UI"/>
              </a:rPr>
              <a:t>API server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80 routes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02352" y="2907792"/>
            <a:ext cx="1993392" cy="5120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B45309"/>
                </a:solidFill>
                <a:latin typeface="Segoe UI"/>
              </a:rPr>
              <a:t>Extraction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guardrails · audit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23760" y="2907792"/>
            <a:ext cx="1993392" cy="5120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B45309"/>
                </a:solidFill>
                <a:latin typeface="Segoe UI"/>
              </a:rPr>
              <a:t>Agent runtime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ReAct · 11 tools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45168" y="2907792"/>
            <a:ext cx="1993392" cy="5120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172A"/>
                </a:solidFill>
                <a:latin typeface="Segoe UI"/>
              </a:rPr>
              <a:t>Finance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balances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6" y="3547872"/>
            <a:ext cx="2432304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Segoe UI"/>
              </a:rPr>
              <a:t>Reconciler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no model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11296" y="3547872"/>
            <a:ext cx="2432304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Segoe UI"/>
              </a:rPr>
              <a:t>Index builder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embeds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63056" y="3547872"/>
            <a:ext cx="2432304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Segoe UI"/>
              </a:rPr>
              <a:t>Query planner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text-to-SQL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14816" y="3547872"/>
            <a:ext cx="2432304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Segoe UI"/>
              </a:rPr>
              <a:t>Tracer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one run per call</a:t>
            </a:r>
          </a:p>
        </p:txBody>
      </p:sp>
      <p:sp>
        <p:nvSpPr>
          <p:cNvPr id="32" name="Magnetic Disk 31"/>
          <p:cNvSpPr/>
          <p:nvPr/>
        </p:nvSpPr>
        <p:spPr>
          <a:xfrm>
            <a:off x="914400" y="4553712"/>
            <a:ext cx="1920240" cy="1024128"/>
          </a:xfrm>
          <a:prstGeom prst="flowChartMagneticDisk">
            <a:avLst/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Segoe UI"/>
              </a:rPr>
              <a:t>Ledger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17 tables · persists</a:t>
            </a:r>
          </a:p>
        </p:txBody>
      </p:sp>
      <p:sp>
        <p:nvSpPr>
          <p:cNvPr id="33" name="Magnetic Disk 32"/>
          <p:cNvSpPr/>
          <p:nvPr/>
        </p:nvSpPr>
        <p:spPr>
          <a:xfrm>
            <a:off x="3072384" y="4553712"/>
            <a:ext cx="1645920" cy="1024128"/>
          </a:xfrm>
          <a:prstGeom prst="flowChartMagneticDisk">
            <a:avLst/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Segoe UI"/>
              </a:rPr>
              <a:t>Vectors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embeddings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0" y="4553712"/>
            <a:ext cx="4709160" cy="1024128"/>
          </a:xfrm>
          <a:prstGeom prst="roundRect">
            <a:avLst>
              <a:gd name="adj" fmla="val 3000"/>
            </a:avLst>
          </a:prstGeom>
          <a:solidFill>
            <a:srgbClr val="FD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93792" y="4626864"/>
            <a:ext cx="4297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00" b="1" i="0" spc="90">
                <a:solidFill>
                  <a:srgbClr val="B45309"/>
                </a:solidFill>
                <a:latin typeface="Segoe UI"/>
              </a:rPr>
              <a:t>LOCAL INFERENCE SERVER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75504" y="4882896"/>
            <a:ext cx="1389888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F172A"/>
                </a:solidFill>
                <a:latin typeface="Segoe UI"/>
              </a:rPr>
              <a:t>Vision</a:t>
            </a:r>
          </a:p>
          <a:p>
            <a:pPr algn="ctr">
              <a:lnSpc>
                <a:spcPct val="100000"/>
              </a:lnSpc>
            </a:pPr>
            <a:r>
              <a:rPr sz="750">
                <a:solidFill>
                  <a:srgbClr val="B45309"/>
                </a:solidFill>
                <a:latin typeface="Segoe UI"/>
              </a:rPr>
              <a:t>gemma4:e4b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56832" y="4882896"/>
            <a:ext cx="1389888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F172A"/>
                </a:solidFill>
                <a:latin typeface="Segoe UI"/>
              </a:rPr>
              <a:t>Planner</a:t>
            </a:r>
          </a:p>
          <a:p>
            <a:pPr algn="ctr">
              <a:lnSpc>
                <a:spcPct val="100000"/>
              </a:lnSpc>
            </a:pPr>
            <a:r>
              <a:rPr sz="750">
                <a:solidFill>
                  <a:srgbClr val="B45309"/>
                </a:solidFill>
                <a:latin typeface="Segoe UI"/>
              </a:rPr>
              <a:t>gemma4:12b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38160" y="4882896"/>
            <a:ext cx="1389888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F172A"/>
                </a:solidFill>
                <a:latin typeface="Segoe UI"/>
              </a:rPr>
              <a:t>Embed</a:t>
            </a:r>
          </a:p>
          <a:p>
            <a:pPr algn="ctr">
              <a:lnSpc>
                <a:spcPct val="100000"/>
              </a:lnSpc>
            </a:pPr>
            <a:r>
              <a:rPr sz="750">
                <a:solidFill>
                  <a:srgbClr val="B45309"/>
                </a:solidFill>
                <a:latin typeface="Segoe UI"/>
              </a:rPr>
              <a:t>nomic-embed-text</a:t>
            </a:r>
          </a:p>
        </p:txBody>
      </p:sp>
      <p:sp>
        <p:nvSpPr>
          <p:cNvPr id="39" name="Magnetic Disk 38"/>
          <p:cNvSpPr/>
          <p:nvPr/>
        </p:nvSpPr>
        <p:spPr>
          <a:xfrm>
            <a:off x="9948672" y="4553712"/>
            <a:ext cx="1463040" cy="1024128"/>
          </a:xfrm>
          <a:prstGeom prst="flowChartMagneticDisk">
            <a:avLst/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Segoe UI"/>
              </a:rPr>
              <a:t>Traces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every call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011680" y="2468880"/>
            <a:ext cx="0" cy="402336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 rot="10800000">
            <a:off x="1977390" y="2836926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4133088" y="2468880"/>
            <a:ext cx="0" cy="402336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 rot="10800000">
            <a:off x="4098798" y="2836926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6254496" y="2468880"/>
            <a:ext cx="0" cy="402336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10800000">
            <a:off x="6220206" y="2836926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8375904" y="2468880"/>
            <a:ext cx="0" cy="402336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/>
          <p:cNvSpPr/>
          <p:nvPr/>
        </p:nvSpPr>
        <p:spPr>
          <a:xfrm rot="10800000">
            <a:off x="8341614" y="2836926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1874520" y="4041648"/>
            <a:ext cx="0" cy="457200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10800000">
            <a:off x="1840230" y="4464558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965960" y="411480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00" b="0" i="0">
                <a:solidFill>
                  <a:srgbClr val="8A94A3"/>
                </a:solidFill>
                <a:latin typeface="Segoe UI"/>
              </a:rPr>
              <a:t>persist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931920" y="4041648"/>
            <a:ext cx="0" cy="457200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Isosceles Triangle 51"/>
          <p:cNvSpPr/>
          <p:nvPr/>
        </p:nvSpPr>
        <p:spPr>
          <a:xfrm rot="10800000">
            <a:off x="3897630" y="4464558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023360" y="411480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00" b="0" i="0">
                <a:solidFill>
                  <a:srgbClr val="8A94A3"/>
                </a:solidFill>
                <a:latin typeface="Segoe UI"/>
              </a:rPr>
              <a:t>index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360920" y="4041648"/>
            <a:ext cx="0" cy="457200"/>
          </a:xfrm>
          <a:prstGeom prst="line">
            <a:avLst/>
          </a:prstGeom>
          <a:ln w="9525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Isosceles Triangle 54"/>
          <p:cNvSpPr/>
          <p:nvPr/>
        </p:nvSpPr>
        <p:spPr>
          <a:xfrm rot="10800000">
            <a:off x="7326630" y="4464558"/>
            <a:ext cx="68580" cy="68580"/>
          </a:xfrm>
          <a:prstGeom prst="triangl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452360" y="411480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00" b="0" i="0">
                <a:solidFill>
                  <a:srgbClr val="B45309"/>
                </a:solidFill>
                <a:latin typeface="Segoe UI"/>
              </a:rPr>
              <a:t>infer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0680192" y="4041648"/>
            <a:ext cx="0" cy="457200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/>
          <p:cNvSpPr/>
          <p:nvPr/>
        </p:nvSpPr>
        <p:spPr>
          <a:xfrm rot="10800000">
            <a:off x="10645902" y="4464558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771632" y="411480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00" b="0" i="0">
                <a:solidFill>
                  <a:srgbClr val="8A94A3"/>
                </a:solidFill>
                <a:latin typeface="Segoe UI"/>
              </a:rPr>
              <a:t>trace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" y="5779008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77240" y="5925312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One command brings up three services —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web · API · traces. Inference is an HTTP call out to OLLAMA_HOST, so no GPU is needed inside the stack. Slide 16 has the compose file.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176272" y="571500"/>
            <a:ext cx="786384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Dataflow — one receipt, five shapes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Every hand-off changes representation on purpose. Here is each one, and why.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828800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Bytes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" y="2084832"/>
            <a:ext cx="20177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the upload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7523" y="181965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4683" y="1828800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B45309"/>
                </a:solidFill>
                <a:latin typeface="Segoe UI"/>
              </a:rPr>
              <a:t>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9547" y="2084832"/>
            <a:ext cx="20177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what the model emits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4966" y="181965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32126" y="1828800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B45309"/>
                </a:solidFill>
                <a:latin typeface="Segoe UI"/>
              </a:rPr>
              <a:t>Objects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6990" y="2084832"/>
            <a:ext cx="20177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Pydantic ReceiptData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2409" y="181965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569" y="1828800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Rows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14433" y="2084832"/>
            <a:ext cx="20177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SQLite receipts + line_items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9852" y="181965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7012" y="1828800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1876" y="2084832"/>
            <a:ext cx="20177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the API response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27443" y="2395728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B45309"/>
                </a:solidFill>
                <a:latin typeface="Consolas"/>
              </a:rPr>
              <a:t>validate_input()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4886" y="2395728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B45309"/>
                </a:solidFill>
                <a:latin typeface="Consolas"/>
              </a:rPr>
              <a:t>validate_output()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2688336"/>
            <a:ext cx="1063721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8A94A3"/>
                </a:solidFill>
                <a:latin typeface="Consolas"/>
              </a:rPr>
              <a:t>_traced_run()  wraps the whole path — one MLflow run per call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301752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3200400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WHY EACH SHAPE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352044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" y="3529584"/>
            <a:ext cx="4626864" cy="6244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Bytes  </a:t>
            </a:r>
            <a:r>
              <a:rPr sz="1150" b="0" i="0">
                <a:solidFill>
                  <a:srgbClr val="3F4B5C"/>
                </a:solidFill>
                <a:latin typeface="Segoe UI"/>
              </a:rPr>
              <a:t>EXIF-rotated, long edge capped at 1,600 px, a PDF split into pages — normalised once, so single and batch see identical pixels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29120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" y="4300347"/>
            <a:ext cx="4626864" cy="6244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JSON  </a:t>
            </a:r>
            <a:r>
              <a:rPr sz="1150" b="0" i="0">
                <a:solidFill>
                  <a:srgbClr val="3F4B5C"/>
                </a:solidFill>
                <a:latin typeface="Segoe UI"/>
              </a:rPr>
              <a:t>the call sets format="json", temperature 0 and asks for logprobs — a fixed shape we can parse, diff and score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061966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" y="5071110"/>
            <a:ext cx="4626864" cy="6244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Objects  </a:t>
            </a:r>
            <a:r>
              <a:rPr sz="1150" b="0" i="0">
                <a:solidFill>
                  <a:srgbClr val="3F4B5C"/>
                </a:solidFill>
                <a:latin typeface="Segoe UI"/>
              </a:rPr>
              <a:t>ReceiptData / LineItem, 25 optional typed fields. A value that was not printed is None, never "" and never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352044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57416" y="3529584"/>
            <a:ext cx="4626864" cy="6244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Rows  </a:t>
            </a:r>
            <a:r>
              <a:rPr sz="1150" b="0" i="0">
                <a:solidFill>
                  <a:srgbClr val="3F4B5C"/>
                </a:solidFill>
                <a:latin typeface="Segoe UI"/>
              </a:rPr>
              <a:t>receipts + line_items, 17 tables in all — the ledger answers questions months later, and that is what SQL is for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429120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57416" y="4300347"/>
            <a:ext cx="4626864" cy="434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JSON out  </a:t>
            </a:r>
            <a:r>
              <a:rPr sz="1150" b="0" i="0">
                <a:solidFill>
                  <a:srgbClr val="3F4B5C"/>
                </a:solidFill>
                <a:latin typeface="Segoe UI"/>
              </a:rPr>
              <a:t>FastAPI response models: browser, demo and eval harness all read the same shape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4872101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57416" y="4881245"/>
            <a:ext cx="4626864" cy="6244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Vectors  </a:t>
            </a:r>
            <a:r>
              <a:rPr sz="1150" b="0" i="0">
                <a:solidFill>
                  <a:srgbClr val="3F4B5C"/>
                </a:solidFill>
                <a:latin typeface="Segoe UI"/>
              </a:rPr>
              <a:t>one sentence per receipt in receipt_docs, 768-dim — the side branch retrieval reads, written after the save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" y="5541264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77240" y="56875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Nothing computes a figure on the way through: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each shape is a re-representation of what the paper said, which is why a disputed number can be walked back to the pixel it came from.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176272" y="571500"/>
            <a:ext cx="786384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Modules, and what lives in core.py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One file carries the pipeline. These are its eight sections — and the honest cost of that.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828800"/>
            <a:ext cx="8230" cy="329184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182880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THE MODULES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14884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" y="2157984"/>
            <a:ext cx="4626864" cy="5996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api.py  ·  1,029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80 HTTP routes and their typed request models. No business logic — every route calls into core, finance or reconciliation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83997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" y="2849118"/>
            <a:ext cx="4626864" cy="41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core.py  ·  5,477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the extraction pipeline, the ledger and the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349498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" y="3358642"/>
            <a:ext cx="4626864" cy="5996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extraction.py  ·  2,041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deterministic repair: numbers, dates, placeholders, item coverage, the arithmetic audit. No model calls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0406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" y="4049776"/>
            <a:ext cx="4626864" cy="236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finance.py  ·  1,891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accounts, transactions, plans, budgets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68546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6" y="4377690"/>
            <a:ext cx="4626864" cy="41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reconciliation.py  ·  839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statement matching — no model anywhere in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87807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" y="4887214"/>
            <a:ext cx="4626864" cy="41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web-next/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the Next.js UI, plus four route handlers that proxy to the 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182880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45309"/>
                </a:solidFill>
                <a:latin typeface="Segoe UI"/>
              </a:rPr>
              <a:t>INSIDE CORE.PY, IN THIS ORDER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2157984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37960" y="2249424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8856" y="2231136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Structured outputs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3960" y="2249424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the Pydantic schema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60" y="2542032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37960" y="2633472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48856" y="2615184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Guardrails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2633472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input and output validation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37960" y="2926080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37960" y="301752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48856" y="2999232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Disambiguation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3960" y="3017520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audit, then hold or file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37960" y="3310128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37960" y="3401568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48856" y="3383280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LLMOps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3960" y="3401568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MLflow-wrapped extraction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3694176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537960" y="37856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48856" y="3767328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Memory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3960" y="3785616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the SQLite ledger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7960" y="4078224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537960" y="4169664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48856" y="4151376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SQL agent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23960" y="4169664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text-to-SQL + scope isolation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60" y="4462272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537960" y="4553712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48856" y="4535424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RAG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23960" y="4553712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embeddings and retrieval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37960" y="4846320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537960" y="493776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48856" y="4919472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ReAct agent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23960" y="4937760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tools, loop, agent guardrails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37960" y="5230368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77240" y="5358384"/>
            <a:ext cx="731520" cy="20117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77240" y="5559552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5,477 lines in one file is a fair criticism.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584073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The eight sections are why it still navigates, and they are the seams: each one lifts into its own module behind the same function names, and nothing above it changes.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176272" y="571500"/>
            <a:ext cx="786384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Component 14 — one receipt, ten stages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The vision model is stage 3. Stages 5 and 6 exist because it is not perfect.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1828800"/>
            <a:ext cx="1853123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1956816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176272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Guardrail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04683" y="1828800"/>
            <a:ext cx="1853123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04683" y="1956816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4683" y="2176272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Normalise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32126" y="1828800"/>
            <a:ext cx="1853123" cy="182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32126" y="1956816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B45309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32126" y="2176272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Read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59569" y="1828800"/>
            <a:ext cx="1853123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59569" y="1956816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9569" y="2176272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Clean up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87012" y="1828800"/>
            <a:ext cx="1853123" cy="182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87012" y="1956816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B45309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7012" y="2176272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Recover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2670048"/>
            <a:ext cx="1853123" cy="182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2798064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B45309"/>
                </a:solidFill>
                <a:latin typeface="Segoe U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017520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Re-read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04683" y="2670048"/>
            <a:ext cx="1853123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904683" y="2798064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04683" y="3017520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Validate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32126" y="2670048"/>
            <a:ext cx="1853123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32126" y="2798064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32126" y="3017520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Audit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59569" y="2670048"/>
            <a:ext cx="1853123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59569" y="2798064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59569" y="3017520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Hold?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87012" y="2670048"/>
            <a:ext cx="1853123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287012" y="2798064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7012" y="3017520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Save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365760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77240" y="3840480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45309"/>
                </a:solidFill>
                <a:latin typeface="Segoe UI"/>
              </a:rPr>
              <a:t>THE RE-READ LOOP — WHAT STAGES 5 AND 6 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4169664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250" b="1" i="0">
                <a:solidFill>
                  <a:srgbClr val="3F4B5C"/>
                </a:solidFill>
                <a:latin typeface="Segoe UI"/>
              </a:rPr>
              <a:t>Audit fails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67523" y="416052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04683" y="4169664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250" b="1" i="0">
                <a:solidFill>
                  <a:srgbClr val="3F4B5C"/>
                </a:solidFill>
                <a:latin typeface="Segoe UI"/>
              </a:rPr>
              <a:t>Pick the band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4966" y="416052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32126" y="4169664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250" b="1" i="0">
                <a:solidFill>
                  <a:srgbClr val="3F4B5C"/>
                </a:solidFill>
                <a:latin typeface="Segoe UI"/>
              </a:rPr>
              <a:t>Crop + enlarge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22409" y="416052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59569" y="4169664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250" b="1" i="0">
                <a:solidFill>
                  <a:srgbClr val="3F4B5C"/>
                </a:solidFill>
                <a:latin typeface="Segoe UI"/>
              </a:rPr>
              <a:t>Ask again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9852" y="416052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87012" y="4169664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250" b="1" i="0">
                <a:solidFill>
                  <a:srgbClr val="3F4B5C"/>
                </a:solidFill>
                <a:latin typeface="Segoe UI"/>
              </a:rPr>
              <a:t>Keep only if better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4937760"/>
            <a:ext cx="731520" cy="20117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77240" y="513892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Transcribe, then repair — never compute.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" y="5450281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Only stage 6 may overwrite a figure, and only if the receipt's own arithmetic improves. The audit, the review gate, the ledger and every answer come from what it read.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571500"/>
            <a:ext cx="658368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13 of 14 components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The brief asks for 8. Owner initials under each.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1920240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066544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423160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Prompt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834640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CA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96842" y="1920240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296842" y="2066544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96842" y="2423160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Disambiguation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96842" y="2834640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FS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16444" y="1920240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16444" y="2066544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6444" y="2423160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RAG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6444" y="2834640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FS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36047" y="1920240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36047" y="2066544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6047" y="2423160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Memory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6047" y="2834640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FS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5649" y="1920240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5649" y="2066544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5649" y="2423160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Guardrails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5649" y="2834640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CA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75251" y="1920240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75251" y="2066544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5251" y="2423160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Chat UI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5251" y="2834640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NA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4853" y="1920240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894853" y="2066544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94853" y="2423160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API endpoint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94853" y="2834640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NA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3273552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7240" y="3419856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3776472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LLMOps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4187952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AG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96842" y="3273552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296842" y="3419856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96842" y="3776472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ReAct / tools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96842" y="4187952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AG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16444" y="3273552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816444" y="3419856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16444" y="3776472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SQL + critique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16444" y="4187952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AG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6047" y="3273552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36047" y="3419856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C2C9D2"/>
                </a:solidFill>
                <a:latin typeface="Segoe UI"/>
              </a:rPr>
              <a:t>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36047" y="3776472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C2C9D2"/>
                </a:solidFill>
                <a:latin typeface="Segoe UI"/>
              </a:rPr>
              <a:t>Multi-agent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36047" y="4187952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B91C1C"/>
                </a:solidFill>
                <a:latin typeface="Segoe UI"/>
              </a:rPr>
              <a:t>not claimed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55649" y="3273552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855649" y="3419856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5649" y="3776472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Advanced RAG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5649" y="4187952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FS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75251" y="3273552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375251" y="3419856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13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75251" y="3776472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Evals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75251" y="4187952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AG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94853" y="3273552"/>
            <a:ext cx="1300146" cy="182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894853" y="3419856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B45309"/>
                </a:solidFill>
                <a:latin typeface="Segoe UI"/>
              </a:rPr>
              <a:t>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94853" y="3776472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 i="0">
                <a:solidFill>
                  <a:srgbClr val="3F4B5C"/>
                </a:solidFill>
                <a:latin typeface="Segoe UI"/>
              </a:rPr>
              <a:t>CV / DS 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94853" y="4187952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ALL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7240" y="457200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Rounded Rectangle 69"/>
          <p:cNvSpPr/>
          <p:nvPr/>
        </p:nvSpPr>
        <p:spPr>
          <a:xfrm>
            <a:off x="777240" y="4773168"/>
            <a:ext cx="1164946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CA — Clarence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070202" y="4773168"/>
            <a:ext cx="1022299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FS — Fraser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20517" y="4773168"/>
            <a:ext cx="1236269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NA — Nathaniel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84802" y="4773168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AG — Aaron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63794" y="4773168"/>
            <a:ext cx="1164946" cy="274320"/>
          </a:xfrm>
          <a:prstGeom prst="roundRect">
            <a:avLst>
              <a:gd name="adj" fmla="val 50000"/>
            </a:avLst>
          </a:prstGeom>
          <a:solidFill>
            <a:srgbClr val="FD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B45309"/>
                </a:solidFill>
                <a:latin typeface="Segoe UI"/>
              </a:rPr>
              <a:t>ALL — CV/DS ★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7240" y="5541264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77240" y="56875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Why #11 is grey: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one planner over ten tools is not several collaborating agents. We do not claim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571500"/>
            <a:ext cx="658368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Guardrails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Seven gates on the way in — and the sixteen prompt rules behind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77393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REQUEST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6855" y="177393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047857"/>
                </a:solidFill>
                <a:latin typeface="Segoe UI"/>
              </a:rPr>
              <a:t>LEDGER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29968"/>
            <a:ext cx="10637215" cy="10973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217627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File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450592"/>
            <a:ext cx="142816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750" b="0" i="0">
                <a:solidFill>
                  <a:srgbClr val="B45309"/>
                </a:solidFill>
                <a:latin typeface="Consolas"/>
              </a:rPr>
              <a:t>validate_input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50392" y="2743200"/>
            <a:ext cx="0" cy="201168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816102" y="2910078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299923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wrong type
&gt; 25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68242" y="2176272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6842" y="217627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Schema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96842" y="2450592"/>
            <a:ext cx="142816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750" b="0" i="0">
                <a:solidFill>
                  <a:srgbClr val="B45309"/>
                </a:solidFill>
                <a:latin typeface="Consolas"/>
              </a:rPr>
              <a:t>validate_output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369994" y="2743200"/>
            <a:ext cx="0" cy="201168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2335704" y="2910078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296842" y="299923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malformed
reply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844" y="2176272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6444" y="217627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SQL filter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6444" y="2450592"/>
            <a:ext cx="142816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750" b="0" i="0">
                <a:solidFill>
                  <a:srgbClr val="B45309"/>
                </a:solidFill>
                <a:latin typeface="Consolas"/>
              </a:rPr>
              <a:t>_validate_sql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889596" y="2743200"/>
            <a:ext cx="0" cy="201168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0800000">
            <a:off x="3855306" y="2910078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816444" y="299923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not a
SELECT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07447" y="2176272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36047" y="217627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Scope lock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36047" y="2450592"/>
            <a:ext cx="142816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750" b="0" i="0">
                <a:solidFill>
                  <a:srgbClr val="B45309"/>
                </a:solidFill>
                <a:latin typeface="Consolas"/>
              </a:rPr>
              <a:t>_build_scoped_db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09199" y="2743200"/>
            <a:ext cx="0" cy="201168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10800000">
            <a:off x="5374909" y="2910078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36047" y="299923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reading the
whole ledger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7049" y="2176272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5649" y="217627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Sanitiser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5649" y="2450592"/>
            <a:ext cx="142816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750" b="0" i="0">
                <a:solidFill>
                  <a:srgbClr val="B45309"/>
                </a:solidFill>
                <a:latin typeface="Consolas"/>
              </a:rPr>
              <a:t>_sanitize_observation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928801" y="2743200"/>
            <a:ext cx="0" cy="201168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 rot="10800000">
            <a:off x="6894511" y="2910078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855649" y="299923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injection via a
vendor name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6651" y="2176272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75251" y="217627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Grounding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75251" y="2450592"/>
            <a:ext cx="142816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750" b="0" i="0">
                <a:solidFill>
                  <a:srgbClr val="B45309"/>
                </a:solidFill>
                <a:latin typeface="Consolas"/>
              </a:rPr>
              <a:t>_ungrounded_numbers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448403" y="2743200"/>
            <a:ext cx="0" cy="201168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10800000">
            <a:off x="8414113" y="2910078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375251" y="299923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a figure no
tool returned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66253" y="2176272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94853" y="217627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Write guards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94853" y="2450592"/>
            <a:ext cx="142816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750" b="0" i="0">
                <a:solidFill>
                  <a:srgbClr val="B45309"/>
                </a:solidFill>
                <a:latin typeface="Consolas"/>
              </a:rPr>
              <a:t>_guard_amount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968005" y="2743200"/>
            <a:ext cx="0" cy="201168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Isosceles Triangle 54"/>
          <p:cNvSpPr/>
          <p:nvPr/>
        </p:nvSpPr>
        <p:spPr>
          <a:xfrm rot="10800000">
            <a:off x="9933715" y="2910078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894853" y="299923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wrong account
double entry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7240" y="374904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77240" y="3931920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EVERY PROMPT RULE IS A BUG WE ALREADY HAD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" y="4224528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60">
                <a:solidFill>
                  <a:srgbClr val="B45309"/>
                </a:solidFill>
                <a:latin typeface="Segoe UI"/>
              </a:rPr>
              <a:t>rule 7b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" y="4480560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8A94A3"/>
                </a:solidFill>
                <a:latin typeface="Segoe UI"/>
              </a:rPr>
              <a:t>amount = 500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7240" y="479145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C2C9D2"/>
                </a:solidFill>
                <a:latin typeface="Segoe UI"/>
              </a:rPr>
              <a:t>→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6424" y="4791456"/>
            <a:ext cx="290565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amount = 25.00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22978" y="4224528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60">
                <a:solidFill>
                  <a:srgbClr val="B45309"/>
                </a:solidFill>
                <a:latin typeface="Segoe UI"/>
              </a:rPr>
              <a:t>rule 10b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22978" y="4480560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8A94A3"/>
                </a:solidFill>
                <a:latin typeface="Segoe UI"/>
              </a:rPr>
              <a:t>total = 603.39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22978" y="479145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C2C9D2"/>
                </a:solidFill>
                <a:latin typeface="Segoe UI"/>
              </a:rPr>
              <a:t>→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52162" y="4791456"/>
            <a:ext cx="290565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total = 545.00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68717" y="4224528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60">
                <a:solidFill>
                  <a:srgbClr val="B45309"/>
                </a:solidFill>
                <a:latin typeface="Segoe UI"/>
              </a:rPr>
              <a:t>rule 14b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68717" y="4480560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8A94A3"/>
                </a:solidFill>
                <a:latin typeface="Segoe UI"/>
              </a:rPr>
              <a:t>12 rows, filed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8717" y="479145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C2C9D2"/>
                </a:solidFill>
                <a:latin typeface="Segoe UI"/>
              </a:rPr>
              <a:t>→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97901" y="4791456"/>
            <a:ext cx="290565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12 of 30 → held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77240" y="557784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77240" y="572414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0 ungrounded numbers across 64 traced agent runs —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every figure the agent stated appeared in a tool observation first.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571500"/>
            <a:ext cx="658368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The ReAct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Reason and act, interleaved — and every way out of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773936"/>
            <a:ext cx="1063721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ReAct = reasoning and acting, interleaved.  </a:t>
            </a:r>
            <a:r>
              <a:rPr sz="1300" b="0" i="0">
                <a:solidFill>
                  <a:srgbClr val="3F4B5C"/>
                </a:solidFill>
                <a:latin typeface="Segoe UI"/>
              </a:rPr>
              <a:t>The model writes a </a:t>
            </a:r>
            <a:r>
              <a:rPr sz="1300" b="1" i="0">
                <a:solidFill>
                  <a:srgbClr val="B45309"/>
                </a:solidFill>
                <a:latin typeface="Segoe UI"/>
              </a:rPr>
              <a:t>Thought</a:t>
            </a:r>
            <a:r>
              <a:rPr sz="1300" b="0" i="0">
                <a:solidFill>
                  <a:srgbClr val="3F4B5C"/>
                </a:solidFill>
                <a:latin typeface="Segoe UI"/>
              </a:rPr>
              <a:t>, names exactly one </a:t>
            </a:r>
            <a:r>
              <a:rPr sz="1300" b="1" i="0">
                <a:solidFill>
                  <a:srgbClr val="B45309"/>
                </a:solidFill>
                <a:latin typeface="Segoe UI"/>
              </a:rPr>
              <a:t>Action</a:t>
            </a:r>
            <a:r>
              <a:rPr sz="1300" b="0" i="0">
                <a:solidFill>
                  <a:srgbClr val="3F4B5C"/>
                </a:solidFill>
                <a:latin typeface="Segoe UI"/>
              </a:rPr>
              <a:t>, and stops. The harness runs that tool, appends the real </a:t>
            </a:r>
            <a:r>
              <a:rPr sz="1300" b="1" i="0">
                <a:solidFill>
                  <a:srgbClr val="B45309"/>
                </a:solidFill>
                <a:latin typeface="Segoe UI"/>
              </a:rPr>
              <a:t>Observation</a:t>
            </a:r>
            <a:r>
              <a:rPr sz="1300" b="0" i="0">
                <a:solidFill>
                  <a:srgbClr val="3F4B5C"/>
                </a:solidFill>
                <a:latin typeface="Segoe UI"/>
              </a:rPr>
              <a:t> to the transcript, and hands it back. The next Thought sees the result.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34086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Generation is stopped at the token </a:t>
            </a:r>
            <a:r>
              <a:rPr sz="1100" b="0" i="0">
                <a:solidFill>
                  <a:srgbClr val="0F172A"/>
                </a:solidFill>
                <a:latin typeface="Consolas"/>
              </a:rPr>
              <a:t>Observation:</a:t>
            </a:r>
            <a:r>
              <a:rPr sz="1100" b="0" i="0">
                <a:solidFill>
                  <a:srgbClr val="8A94A3"/>
                </a:solidFill>
                <a:latin typeface="Segoe UI"/>
              </a:rPr>
              <a:t> — the model can never write its own observation. That is what makes this a loop over tools and not a monologue about them.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761488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2999232"/>
            <a:ext cx="1417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10896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64992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+ the last 10 turns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3090672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0" y="2999232"/>
            <a:ext cx="1417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560320" y="310896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Ambiguous?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80360" y="3438144"/>
            <a:ext cx="0" cy="347472"/>
          </a:xfrm>
          <a:prstGeom prst="line">
            <a:avLst/>
          </a:prstGeom>
          <a:ln w="9525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2846070" y="3751326"/>
            <a:ext cx="68580" cy="68580"/>
          </a:xfrm>
          <a:prstGeom prst="triangl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980944" y="3493008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>
                <a:solidFill>
                  <a:srgbClr val="B91C1C"/>
                </a:solidFill>
                <a:latin typeface="Segoe UI"/>
              </a:rP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384048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 i="0">
                <a:solidFill>
                  <a:srgbClr val="B91C1C"/>
                </a:solidFill>
                <a:latin typeface="Segoe UI"/>
              </a:rPr>
              <a:t>Ask once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0" y="4096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nothing runs  ·  0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808" y="3090672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98848" y="2889504"/>
            <a:ext cx="4443984" cy="749808"/>
          </a:xfrm>
          <a:prstGeom prst="roundRect">
            <a:avLst>
              <a:gd name="adj" fmla="val 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45152" y="294436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750" b="1" i="0" spc="90">
                <a:solidFill>
                  <a:srgbClr val="B45309"/>
                </a:solidFill>
                <a:latin typeface="Segoe UI"/>
              </a:rPr>
              <a:t>THE 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5152" y="32004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Thought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53328" y="32004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0064" y="32004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Observation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9864" y="3182112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04888" y="3182112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778240" y="3675888"/>
            <a:ext cx="0" cy="256032"/>
          </a:xfrm>
          <a:prstGeom prst="line">
            <a:avLst/>
          </a:prstGeom>
          <a:ln w="1143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736592" y="3931920"/>
            <a:ext cx="4041648" cy="0"/>
          </a:xfrm>
          <a:prstGeom prst="line">
            <a:avLst/>
          </a:prstGeom>
          <a:ln w="1143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736592" y="3694176"/>
            <a:ext cx="0" cy="237744"/>
          </a:xfrm>
          <a:prstGeom prst="line">
            <a:avLst/>
          </a:prstGeom>
          <a:ln w="1143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>
            <a:off x="4702302" y="3659886"/>
            <a:ext cx="68580" cy="68580"/>
          </a:xfrm>
          <a:prstGeom prst="triangl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736592" y="3968496"/>
            <a:ext cx="40416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1" i="0">
                <a:solidFill>
                  <a:srgbClr val="B45309"/>
                </a:solidFill>
                <a:latin typeface="Segoe UI"/>
              </a:rPr>
              <a:t>at most 4 steps, one tool each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3090672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372600" y="2999232"/>
            <a:ext cx="2039112" cy="1280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372600" y="310896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Final Answer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600" y="336499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only what the tools returned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692640" y="3749040"/>
            <a:ext cx="0" cy="292608"/>
          </a:xfrm>
          <a:prstGeom prst="line">
            <a:avLst/>
          </a:prstGeom>
          <a:ln w="9525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10800000">
            <a:off x="9658350" y="4007358"/>
            <a:ext cx="68580" cy="68580"/>
          </a:xfrm>
          <a:prstGeom prst="triangl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793224" y="3803904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>
                <a:solidFill>
                  <a:srgbClr val="B45309"/>
                </a:solidFill>
                <a:latin typeface="Segoe UI"/>
              </a:rPr>
              <a:t>budget spent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72600" y="409651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 i="0">
                <a:solidFill>
                  <a:srgbClr val="B45309"/>
                </a:solidFill>
                <a:latin typeface="Segoe UI"/>
              </a:rPr>
              <a:t>Forced final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4517136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77240" y="470001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FIVE WAYS OUT OF THE LOOP, AND ONE VETO AFTER IT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" y="5001768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6" y="5010912"/>
            <a:ext cx="4626864" cy="236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Final Answer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the model emits one — the ordinary exit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5274818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" y="5283962"/>
            <a:ext cx="4626864" cy="41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Clarification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it asks the user instead of guessing; no tool has run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729478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696" y="5738622"/>
            <a:ext cx="4626864" cy="41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No action, no answer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the reply is taken as the answer rather than looping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37960" y="5001768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57416" y="5010912"/>
            <a:ext cx="4626864" cy="41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Repeat ×2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same tool, same input twice → the cached result, then a forced final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37960" y="5456428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57416" y="5465572"/>
            <a:ext cx="4626864" cy="41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Budget spent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four steps and no answer → _force_final writes one from the observations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37960" y="5911088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57416" y="5920232"/>
            <a:ext cx="4626864" cy="41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Ungrounded  (the veto)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a figure about your money with no tool call behind it is replaced, not shown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571500"/>
            <a:ext cx="658368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Eleven tools, one dispatcher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Four that read, seven that write. KNOWN_TOOLS is the single source of truth.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773936"/>
            <a:ext cx="8230" cy="173736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1773936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4 READ  ·  NOTHING 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093976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" y="2103120"/>
            <a:ext cx="4626864" cy="41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sql_ledger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a question → generated SQL, validated, run on a scoped copy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60350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" y="2612644"/>
            <a:ext cx="4626864" cy="41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search_receipts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a phrase → k receipt documents, each cited (#N)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11302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" y="3122168"/>
            <a:ext cx="4626864" cy="236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list_accounts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names, types, balances, categories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440938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" y="3450082"/>
            <a:ext cx="4626864" cy="41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list_plans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goals, debts, receivables, budgets and their progress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1773936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45309"/>
                </a:solidFill>
                <a:latin typeface="Segoe UI"/>
              </a:rPr>
              <a:t>7 WRITE  ·  MONEY MOVES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2093976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57416" y="2103120"/>
            <a:ext cx="4626864" cy="5996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add_expense · log_spend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the second is the path for "I spent 200" with no account named — Cash by product decision, never a guess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274853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57416" y="2757678"/>
            <a:ext cx="4626864" cy="41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add_income · transfer_money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one balance up, or two balances at once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322148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57416" y="3230626"/>
            <a:ext cx="4626864" cy="236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record_activity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progress against a goal, debt or receivable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51282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57416" y="3521964"/>
            <a:ext cx="4626864" cy="41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create_plan · update_plan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a plan is created or edited; no money moves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059936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77240" y="422452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THE TWO ANSWER PATHS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48056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462686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Numbers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645152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B45309"/>
                </a:solidFill>
                <a:latin typeface="Consolas"/>
              </a:rPr>
              <a:t>sql_ledger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74920" y="4645152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3F4B5C"/>
                </a:solidFill>
                <a:latin typeface="Segoe UI"/>
              </a:rPr>
              <a:t>Scope  ›  Generate  ›  Validate  ›  Run  ›  Format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5010912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7240" y="5157216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Content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517550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B45309"/>
                </a:solidFill>
                <a:latin typeface="Consolas"/>
              </a:rPr>
              <a:t>search_receipts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4920" y="51755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3F4B5C"/>
                </a:solidFill>
                <a:latin typeface="Segoe UI"/>
              </a:rPr>
              <a:t>Compose  ›  Embed  ›  Store  ›  Match  ›  Cite (#N)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541264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77240" y="5705856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77240" y="585216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One shared spine for every write: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amount · account · category · date · duplicate. No tool carries its own guards, and scope is a different database rather than a WHERE clause — a model that forgets the filter cannot leak.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571500"/>
            <a:ext cx="658368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The API — one surface, three clients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Typed in, typed out. The UI has no privileged path into the system.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1773936"/>
            <a:ext cx="8230" cy="356616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1773936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FIVE OF 80 ROUTES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29968"/>
            <a:ext cx="62179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21579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Consolas"/>
              </a:rPr>
              <a:t>POST /extract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395728"/>
            <a:ext cx="61264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3F4B5C"/>
                </a:solidFill>
                <a:latin typeface="Consolas"/>
              </a:rPr>
              <a:t>image | pdf  →  fields · line items · confidence · audit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724912"/>
            <a:ext cx="62179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285292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Consolas"/>
              </a:rPr>
              <a:t>POST /extract/batch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090672"/>
            <a:ext cx="61264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3F4B5C"/>
                </a:solidFill>
                <a:latin typeface="Consolas"/>
              </a:rPr>
              <a:t>list[image|pdf]  →  list[result], one error slot each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419856"/>
            <a:ext cx="62179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3547872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Consolas"/>
              </a:rPr>
              <a:t>GET  /analytics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785616"/>
            <a:ext cx="61264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3F4B5C"/>
                </a:solidFill>
                <a:latin typeface="Consolas"/>
              </a:rPr>
              <a:t>granularity, year?, month?  →  cashflow · totals · budgets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114800"/>
            <a:ext cx="62179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242816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Consolas"/>
              </a:rPr>
              <a:t>POST /agent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480560"/>
            <a:ext cx="61264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3F4B5C"/>
                </a:solidFill>
                <a:latin typeface="Consolas"/>
              </a:rPr>
              <a:t>question, receipt_ids?  →  answer, steps[], grounded: bool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09744"/>
            <a:ext cx="62179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4937760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Consolas"/>
              </a:rPr>
              <a:t>POST /agent/stream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175504"/>
            <a:ext cx="61264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3F4B5C"/>
                </a:solidFill>
                <a:latin typeface="Consolas"/>
              </a:rPr>
              <a:t>question  →  SSE: start · token · action · observation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504688"/>
            <a:ext cx="62179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43800" y="1773936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45309"/>
                </a:solidFill>
                <a:latin typeface="Segoe UI"/>
              </a:rPr>
              <a:t>WHO CALLS 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205740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63256" y="2066544"/>
            <a:ext cx="3648456" cy="781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The web UI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the browser calls same-origin /api/*, which Next rewrites to the api service — no CORS to configure, and four route handlers forward the multipart upload and the SSE stream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800" y="3003296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256" y="3012440"/>
            <a:ext cx="3648456" cy="5996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The eval harness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hits the same routes with no privileged path, so what it measures is what a user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43800" y="376758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3256" y="3776726"/>
            <a:ext cx="3648456" cy="5996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curl and /docs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FastAPI generates the docs page from the same 21 request models that validate the traffic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43800" y="4846320"/>
            <a:ext cx="3867912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543800" y="5029200"/>
            <a:ext cx="386791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80 routes</a:t>
            </a:r>
            <a:r>
              <a:rPr sz="1100" b="0" i="0">
                <a:solidFill>
                  <a:srgbClr val="8A94A3"/>
                </a:solidFill>
                <a:latin typeface="Segoe UI"/>
              </a:rPr>
              <a:t>   ·   21 request models   ·   one schema per shape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742432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77240" y="5888736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The UI is a client, not the system: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everything on the demo can be done with curl, which is why the API is a deliverable and not an afterthought.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571500"/>
            <a:ext cx="658368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LLMOps — how the tracing is wired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MLflow 3.14, one run per model call, and the same code path when it is off.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828800"/>
            <a:ext cx="8230" cy="338328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182880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THE WIRING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14884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" y="2157984"/>
            <a:ext cx="4626864" cy="41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Backend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sqlite:////app/mlflow.db, experiment stai_ocr_receipts, UI served by the mlflow container on :5001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713228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" y="2722372"/>
            <a:ext cx="4626864" cy="5996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One run per call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named extract_*, extract_batch_*, sql_agent_*, rag_*, agent_* — the timestamp in the name makes any single call findable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59226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" y="3468370"/>
            <a:ext cx="4626864" cy="5996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Three helpers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_traced_run() opens the run; _mlog_metric() and _mlog_param() no-op when tracing is off, so the pipeline reads identically either 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0522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" y="4214368"/>
            <a:ext cx="4626864" cy="5996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Self-healing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a run left dangling by an abandoned request is cleared before the next one opens — batch workers open runs from threads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182880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45309"/>
                </a:solidFill>
                <a:latin typeface="Segoe UI"/>
              </a:rPr>
              <a:t>WHAT LANDS ON A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214884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57416" y="2157984"/>
            <a:ext cx="4626864" cy="5996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Extraction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latency_seconds · prompt_eval_count · eval_count · items_extracted · audit_codes · extraction_confidence · needs_disambiguation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2894838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57416" y="2903982"/>
            <a:ext cx="4626864" cy="41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Agent turn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num_steps · tools_used · answer_grounded · ungrounded_numbers · clarified · expenses_written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3459226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57416" y="3468370"/>
            <a:ext cx="4626864" cy="41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SQL and RAG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final_sql · retried · rows_returned · sources_retrieved · used_embeddings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02361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57416" y="4032758"/>
            <a:ext cx="4626864" cy="5996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Every path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error 0/1 and error_message — a failed call is still a run, which is the only way a failure rate means anything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557784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77240" y="572414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Two knobs, both environment: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MLFLOW_ENABLED=0 turns tracing off entirely; MLFLOW_SAMPLE_RATE=0.05 keeps a twentieth of the traces on a bulk import instead of one run per page.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571500"/>
            <a:ext cx="658368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Docker — one command, three services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docker compose up. No Python, no Node, no model to install first.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828800"/>
            <a:ext cx="243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" y="2084832"/>
            <a:ext cx="23286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Next.js  ·  :7860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8480" y="181965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5640" y="1828800"/>
            <a:ext cx="243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B45309"/>
                </a:solidFill>
                <a:latin typeface="Segoe UI"/>
              </a:rPr>
              <a:t>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0504" y="2084832"/>
            <a:ext cx="23286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FastAPI  ·  :8000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6880" y="181965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4040" y="1828800"/>
            <a:ext cx="243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mlflow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8904" y="2084832"/>
            <a:ext cx="23286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tracking UI  ·  :5001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1865376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 i="0">
                <a:solidFill>
                  <a:srgbClr val="0F172A"/>
                </a:solidFill>
                <a:latin typeface="Consolas"/>
              </a:rPr>
              <a:t>docker compose 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157984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0" i="0">
                <a:solidFill>
                  <a:srgbClr val="8A94A3"/>
                </a:solidFill>
                <a:latin typeface="Segoe UI"/>
              </a:rPr>
              <a:t>builds two images, pulls one, and brings the three up in order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74320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26480" y="2962656"/>
            <a:ext cx="8230" cy="246888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2962656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WHAT EACH ONE 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282696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" y="3291840"/>
            <a:ext cx="4626864" cy="781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web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Next.js on :3000, published on 7860. API_BASE is passed as a build arg and a runtime env, because the /api/* rewrite is baked at build time while the route handlers read it at run time — they have to agree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1030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" y="4219448"/>
            <a:ext cx="4626864" cy="41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api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python:3.11-slim, uvicorn api:app, healthcheck on /health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77469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" y="4783836"/>
            <a:ext cx="4626864" cy="41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mlflow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ghcr.io/mlflow/mlflow:v3.14.0 on :5001 — 5000 is taken by AirPlay on macOS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2962656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45309"/>
                </a:solidFill>
                <a:latin typeface="Segoe UI"/>
              </a:rPr>
              <a:t>THREE DECISIONS WORTH DEFENDING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3282696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57416" y="3291840"/>
            <a:ext cx="4626864" cy="5996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The ledger lives on a named volume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SQLite's locking does not work on a Windows or Mac bind mount; ledger_data is a real Linux filesystem, seeded once from the repo's ledger.db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402869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57416" y="4037838"/>
            <a:ext cx="4626864" cy="5996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Models are environment, not code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OLLAMA_HOST, VISION_MODEL, AGENT_MODEL, EMBED_MODEL — trialling qwen2.5vl:7b changed no source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477469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57416" y="4783836"/>
            <a:ext cx="4626864" cy="41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Start order is declared  </a:t>
            </a:r>
            <a:r>
              <a:rPr sz="1100" b="0" i="0">
                <a:solidFill>
                  <a:srgbClr val="3F4B5C"/>
                </a:solidFill>
                <a:latin typeface="Segoe UI"/>
              </a:rPr>
              <a:t>web waits on api, api waits on mlflow, so the first trace has somewhere to land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5705856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77240" y="585216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No GPU inside the container: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inference is an HTTP call to OLLAMA_HOST, which is why the whole stack comes up on a laptop and the demo does not need the lab machine.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9392" y="571500"/>
            <a:ext cx="530352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Three models,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The same receipts through each one. Accuracy, speed, and what it costs.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773936"/>
            <a:ext cx="26060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773936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773936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PRECISION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773936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RECALL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773936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TIME / RECEIPT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1773936"/>
            <a:ext cx="213055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COST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029968"/>
            <a:ext cx="10637215" cy="10973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2249424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50" b="1" i="0">
                <a:solidFill>
                  <a:srgbClr val="0F172A"/>
                </a:solidFill>
                <a:latin typeface="Segoe UI"/>
              </a:rPr>
              <a:t>Claude Cowork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54203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8A94A3"/>
                </a:solidFill>
                <a:latin typeface="Segoe UI"/>
              </a:rPr>
              <a:t>hosted  ·  the ceiling we measured against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2304288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97%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304288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94%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304288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98%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304288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15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2304288"/>
            <a:ext cx="213055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$20 / month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072384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3145536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50" b="1" i="0">
                <a:solidFill>
                  <a:srgbClr val="0F172A"/>
                </a:solidFill>
                <a:latin typeface="Segoe UI"/>
              </a:rPr>
              <a:t>qwen2.5-VL 7B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438144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8A94A3"/>
                </a:solidFill>
                <a:latin typeface="Segoe UI"/>
              </a:rPr>
              <a:t>local  ·  self-hosted on our own machine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3200400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85%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3200400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87%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3200400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94%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3200400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5–6 min 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3200400"/>
            <a:ext cx="213055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free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968496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4041648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50" b="1" i="0">
                <a:solidFill>
                  <a:srgbClr val="B45309"/>
                </a:solidFill>
                <a:latin typeface="Segoe UI"/>
              </a:rPr>
              <a:t>Gemma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334256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8A94A3"/>
                </a:solidFill>
                <a:latin typeface="Segoe UI"/>
              </a:rPr>
              <a:t>free API  ·  what the system runs today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96512"/>
            <a:ext cx="1188720" cy="254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 dirty="0">
                <a:solidFill>
                  <a:srgbClr val="0F172A"/>
                </a:solidFill>
                <a:latin typeface="Segoe UI"/>
              </a:rPr>
              <a:t>51.7%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4096512"/>
            <a:ext cx="1188720" cy="254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 dirty="0">
                <a:solidFill>
                  <a:srgbClr val="0F172A"/>
                </a:solidFill>
                <a:latin typeface="Segoe UI"/>
              </a:rPr>
              <a:t>92.5%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4096512"/>
            <a:ext cx="1188720" cy="254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 dirty="0">
                <a:solidFill>
                  <a:srgbClr val="0F172A"/>
                </a:solidFill>
                <a:latin typeface="Segoe UI"/>
              </a:rPr>
              <a:t>69.8%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4096512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21.7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1160" y="4096512"/>
            <a:ext cx="213055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free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566928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77240" y="581558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* qwen ran on a card with less VRAM than the model needs,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so part of every page fell back to the CPU. That is where the five to six minutes goes — not the model.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9392" y="571500"/>
            <a:ext cx="530352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One full reasoning 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Case RCT-006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19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0" y="1828800"/>
            <a:ext cx="8230" cy="310896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1828800"/>
            <a:ext cx="640080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2029968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0F172A"/>
                </a:solidFill>
                <a:latin typeface="Segoe UI"/>
              </a:rPr>
              <a:t>USER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1975104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0F172A"/>
                </a:solidFill>
                <a:latin typeface="Segoe UI"/>
              </a:rPr>
              <a:t>What is the capital of France?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542032"/>
            <a:ext cx="640080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2743200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45309"/>
                </a:solidFill>
                <a:latin typeface="Segoe UI"/>
              </a:rPr>
              <a:t>THOUGHT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2688336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0F172A"/>
                </a:solidFill>
                <a:latin typeface="Segoe UI"/>
              </a:rPr>
              <a:t>Not this user's money. My scope says no.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255264"/>
            <a:ext cx="640080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3456432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401568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0F172A"/>
                </a:solidFill>
                <a:latin typeface="Segoe UI"/>
              </a:rPr>
              <a:t>none — no tool was called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3968496"/>
            <a:ext cx="640080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4169664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047857"/>
                </a:solidFill>
                <a:latin typeface="Segoe UI"/>
              </a:rPr>
              <a:t>FINAL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4114800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0F172A"/>
                </a:solidFill>
                <a:latin typeface="Segoe UI"/>
              </a:rPr>
              <a:t>"I'm not sure how to answer that."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681728"/>
            <a:ext cx="640080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77240" y="4992624"/>
            <a:ext cx="731520" cy="20117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5193792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Refusing is a decision, not a failure to answer.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7497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The planner reached a final answer without calling a single tool — which is exactly what the scope lock is for.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1828800"/>
            <a:ext cx="3566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45309"/>
                </a:solidFill>
                <a:latin typeface="Segoe UI"/>
              </a:rPr>
              <a:t>WHAT THE GUARDRAIL DID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63840" y="2157984"/>
            <a:ext cx="3547872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863840" y="230428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3F4B5C"/>
                </a:solidFill>
                <a:latin typeface="Segoe UI"/>
              </a:rPr>
              <a:t>In scope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2304288"/>
            <a:ext cx="1901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1200" b="1" i="0">
                <a:solidFill>
                  <a:srgbClr val="B91C1C"/>
                </a:solidFill>
                <a:latin typeface="Segoe UI"/>
              </a:rPr>
              <a:t>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63840" y="2688336"/>
            <a:ext cx="3547872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63840" y="283464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3F4B5C"/>
                </a:solidFill>
                <a:latin typeface="Segoe UI"/>
              </a:rPr>
              <a:t>Tools called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0" y="2834640"/>
            <a:ext cx="1901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1200" b="1" i="0">
                <a:solidFill>
                  <a:srgbClr val="8A94A3"/>
                </a:solidFill>
                <a:latin typeface="Segoe UI"/>
              </a:rPr>
              <a:t>none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63840" y="3218688"/>
            <a:ext cx="3547872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863840" y="33649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3F4B5C"/>
                </a:solidFill>
                <a:latin typeface="Segoe UI"/>
              </a:rPr>
              <a:t>Ledger writes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60" y="3364992"/>
            <a:ext cx="1901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1200" b="1" i="0">
                <a:solidFill>
                  <a:srgbClr val="8A94A3"/>
                </a:solidFill>
                <a:latin typeface="Segoe UI"/>
              </a:rPr>
              <a:t>none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63840" y="3749040"/>
            <a:ext cx="3547872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863840" y="3895344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3F4B5C"/>
                </a:solidFill>
                <a:latin typeface="Segoe UI"/>
              </a:rPr>
              <a:t>Answer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3895344"/>
            <a:ext cx="1901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1200" b="1" i="0">
                <a:solidFill>
                  <a:srgbClr val="047857"/>
                </a:solidFill>
                <a:latin typeface="Segoe UI"/>
              </a:rPr>
              <a:t>an honest no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4279392"/>
            <a:ext cx="3547872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63840" y="4645152"/>
            <a:ext cx="35661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500" b="1" i="0">
                <a:solidFill>
                  <a:srgbClr val="B45309"/>
                </a:solidFill>
                <a:latin typeface="Segoe UI"/>
              </a:rPr>
              <a:t>An agent that will not
say "I don't know"
will say anything.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9392" y="571500"/>
            <a:ext cx="530352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It works — and where it doesn't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Ten checks on every receipt. Three failures caught, one filed.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20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1828800"/>
            <a:ext cx="3179978" cy="1828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1975104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047857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1956816"/>
            <a:ext cx="290565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Pepper Lunch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04288"/>
            <a:ext cx="317997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000" b="1" i="0">
                <a:solidFill>
                  <a:srgbClr val="0F172A"/>
                </a:solidFill>
                <a:latin typeface="Segoe UI"/>
              </a:rPr>
              <a:t>₱545.00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706624"/>
            <a:ext cx="308853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VAT-inclusive: a breakdown is not an addition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2978" y="1828800"/>
            <a:ext cx="3179978" cy="1828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22978" y="1975104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047857"/>
                </a:solidFill>
                <a:latin typeface="Segoe U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9010" y="1956816"/>
            <a:ext cx="290565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Shake Shack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2978" y="2304288"/>
            <a:ext cx="317997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000" b="1" i="0">
                <a:solidFill>
                  <a:srgbClr val="0F172A"/>
                </a:solidFill>
                <a:latin typeface="Segoe UI"/>
              </a:rPr>
              <a:t>₱475.00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2978" y="2706624"/>
            <a:ext cx="308853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cash and change kept out of the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8717" y="1828800"/>
            <a:ext cx="3179978" cy="1828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868717" y="1975104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047857"/>
                </a:solidFill>
                <a:latin typeface="Segoe U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4749" y="1956816"/>
            <a:ext cx="290565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SM Supermarket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8717" y="2304288"/>
            <a:ext cx="317997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000" b="1" i="0">
                <a:solidFill>
                  <a:srgbClr val="0F172A"/>
                </a:solidFill>
                <a:latin typeface="Segoe UI"/>
              </a:rPr>
              <a:t>₱1,608.00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8717" y="2706624"/>
            <a:ext cx="308853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a printed 0.00 kept as a real value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657600"/>
            <a:ext cx="3179978" cy="1828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3803904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047857"/>
                </a:solidFill>
                <a:latin typeface="Segoe U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" y="3785616"/>
            <a:ext cx="290565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Ikkoryu Ramen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133088"/>
            <a:ext cx="308853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items ≠ subtotal ≠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462272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 spc="80">
                <a:solidFill>
                  <a:srgbClr val="047857"/>
                </a:solidFill>
                <a:latin typeface="Segoe UI"/>
              </a:rPr>
              <a:t>HELD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2978" y="3657600"/>
            <a:ext cx="3179978" cy="1828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2978" y="3803904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047857"/>
                </a:solidFill>
                <a:latin typeface="Segoe U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9010" y="3785616"/>
            <a:ext cx="290565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Handwritten slip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22978" y="4133088"/>
            <a:ext cx="308853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confidence 0.41 vs 0.96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22978" y="4462272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 spc="80">
                <a:solidFill>
                  <a:srgbClr val="047857"/>
                </a:solidFill>
                <a:latin typeface="Segoe UI"/>
              </a:rPr>
              <a:t>HELD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68717" y="3657600"/>
            <a:ext cx="3179978" cy="1828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868717" y="3803904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4749" y="3785616"/>
            <a:ext cx="290565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DBarn Manila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8717" y="4133088"/>
            <a:ext cx="308853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VAT 540.00 = subtotal 540.00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68717" y="4462272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 spc="80">
                <a:solidFill>
                  <a:srgbClr val="B91C1C"/>
                </a:solidFill>
                <a:latin typeface="Segoe UI"/>
              </a:rPr>
              <a:t>FILED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120640"/>
            <a:ext cx="731520" cy="20117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77240" y="532180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The one we missed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602986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The VAT check is a warning, not an error — so nothing stopped it. A tax figure equal to the whole subtotal should be an error. That is a fix, not an excuse.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9392" y="571500"/>
            <a:ext cx="530352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What we cannot 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Six of them, each with its 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21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1828800"/>
            <a:ext cx="3179978" cy="914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011680"/>
            <a:ext cx="317997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The free model is the weak 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340864"/>
            <a:ext cx="314340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37.1% on line-item fields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70662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C2C9D2"/>
                </a:solidFill>
                <a:latin typeface="Segoe U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" y="2706624"/>
            <a:ext cx="290565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1" i="0">
                <a:solidFill>
                  <a:srgbClr val="047857"/>
                </a:solidFill>
                <a:latin typeface="Segoe UI"/>
              </a:rPr>
              <a:t>hold, never file, on a miss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2978" y="1828800"/>
            <a:ext cx="3179978" cy="914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22978" y="2011680"/>
            <a:ext cx="317997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Not enough GPU VRAM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2978" y="2340864"/>
            <a:ext cx="314340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part of every page ran on CPU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2978" y="270662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C2C9D2"/>
                </a:solidFill>
                <a:latin typeface="Segoe U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3874" y="2706624"/>
            <a:ext cx="290565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1" i="0">
                <a:solidFill>
                  <a:srgbClr val="047857"/>
                </a:solidFill>
                <a:latin typeface="Segoe UI"/>
              </a:rPr>
              <a:t>a bigger card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8717" y="1828800"/>
            <a:ext cx="3179978" cy="914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868717" y="2011680"/>
            <a:ext cx="317997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No human baseline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8717" y="2340864"/>
            <a:ext cx="314340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97% is against ground truth, not a bookkeeper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8717" y="270662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C2C9D2"/>
                </a:solidFill>
                <a:latin typeface="Segoe UI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9613" y="2706624"/>
            <a:ext cx="290565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1" i="0">
                <a:solidFill>
                  <a:srgbClr val="047857"/>
                </a:solidFill>
                <a:latin typeface="Segoe UI"/>
              </a:rPr>
              <a:t>time a person on the same 300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310128"/>
            <a:ext cx="3179978" cy="914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3493008"/>
            <a:ext cx="317997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Carry-forward inert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822192"/>
            <a:ext cx="314340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the toggle does nothing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1879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C2C9D2"/>
                </a:solidFill>
                <a:latin typeface="Segoe UI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" y="4187952"/>
            <a:ext cx="290565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1" i="0">
                <a:solidFill>
                  <a:srgbClr val="047857"/>
                </a:solidFill>
                <a:latin typeface="Segoe UI"/>
              </a:rPr>
              <a:t>a product decision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2978" y="3310128"/>
            <a:ext cx="3179978" cy="914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2978" y="3493008"/>
            <a:ext cx="317997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Posting drops currency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2978" y="3822192"/>
            <a:ext cx="314340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USD looks like PHP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22978" y="41879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C2C9D2"/>
                </a:solidFill>
                <a:latin typeface="Segoe U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33874" y="4187952"/>
            <a:ext cx="290565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1" i="0">
                <a:solidFill>
                  <a:srgbClr val="047857"/>
                </a:solidFill>
                <a:latin typeface="Segoe UI"/>
              </a:rPr>
              <a:t>a schema change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68717" y="3310128"/>
            <a:ext cx="3179978" cy="914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868717" y="3493008"/>
            <a:ext cx="317997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"Local" is conditional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8717" y="3822192"/>
            <a:ext cx="314340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our default uses a shared endpoint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8717" y="41879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C2C9D2"/>
                </a:solidFill>
                <a:latin typeface="Segoe UI"/>
              </a:rPr>
              <a:t>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79613" y="4187952"/>
            <a:ext cx="290565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1" i="0">
                <a:solidFill>
                  <a:srgbClr val="047857"/>
                </a:solidFill>
                <a:latin typeface="Segoe UI"/>
              </a:rPr>
              <a:t>one env var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57784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77240" y="572414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A limitation you disclose is a limitation.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One a grader finds is a defect.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Wrap-up</a:t>
            </a:r>
          </a:p>
        </p:txBody>
      </p:sp>
      <p:sp>
        <p:nvSpPr>
          <p:cNvPr id="8" name="Rectangle 7"/>
          <p:cNvSpPr/>
          <p:nvPr/>
        </p:nvSpPr>
        <p:spPr>
          <a:xfrm>
            <a:off x="5138928" y="571500"/>
            <a:ext cx="466344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Who built what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Two components each, at minimum. Component 14 is owned by all four.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177393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322576"/>
            <a:ext cx="22935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Nathaniel Adiong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651760"/>
            <a:ext cx="22935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Chat UI  ·  API  ·  Docker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6544" y="177393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6544" y="2322576"/>
            <a:ext cx="22935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Clarence Ang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6544" y="2651760"/>
            <a:ext cx="22935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Prompts  ·  Schema  ·  Guardrails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95848" y="177393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FS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8" y="2322576"/>
            <a:ext cx="22935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Fraser Sim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5848" y="2651760"/>
            <a:ext cx="22935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RAG  ·  Memory  ·  Tools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55151" y="177393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5151" y="2322576"/>
            <a:ext cx="22935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Aaron Go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55151" y="2651760"/>
            <a:ext cx="22935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SQL  ·  ReAct  ·  LLMOps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346704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3529584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RETROSPECTIVE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03904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4718304"/>
            <a:ext cx="2560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45309"/>
                </a:solidFill>
                <a:latin typeface="Segoe UI"/>
              </a:rPr>
              <a:t>HARDEST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4645152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0" i="0">
                <a:solidFill>
                  <a:srgbClr val="0F172A"/>
                </a:solidFill>
                <a:latin typeface="Segoe UI"/>
              </a:rPr>
              <a:t>Getting a free model accurate enough that the checks are a safety net, not the product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833872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Wrap-up</a:t>
            </a:r>
          </a:p>
        </p:txBody>
      </p:sp>
      <p:sp>
        <p:nvSpPr>
          <p:cNvPr id="8" name="Rectangle 7"/>
          <p:cNvSpPr/>
          <p:nvPr/>
        </p:nvSpPr>
        <p:spPr>
          <a:xfrm>
            <a:off x="5138928" y="571500"/>
            <a:ext cx="466344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Live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Five steps, in this order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23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011680"/>
            <a:ext cx="1853123" cy="1280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17627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05456"/>
            <a:ext cx="1853123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Scan a receipt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04683" y="2011680"/>
            <a:ext cx="1853123" cy="1280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04683" y="217627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4683" y="2505456"/>
            <a:ext cx="1853123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Show a held 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32126" y="2011680"/>
            <a:ext cx="1853123" cy="1280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32126" y="217627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32126" y="2505456"/>
            <a:ext cx="1853123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Ask for a number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59569" y="2011680"/>
            <a:ext cx="1853123" cy="1280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59569" y="217627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9569" y="2505456"/>
            <a:ext cx="1853123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Record by talking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87012" y="2011680"/>
            <a:ext cx="1853123" cy="1280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87012" y="217627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7012" y="2505456"/>
            <a:ext cx="1853123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Open the traces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70332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3895344"/>
            <a:ext cx="4937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45309"/>
                </a:solidFill>
                <a:latin typeface="Segoe UI"/>
              </a:rPr>
              <a:t>DISCLOSED UP FRONT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169664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50" b="0" i="0">
                <a:solidFill>
                  <a:srgbClr val="3F4B5C"/>
                </a:solidFill>
                <a:latin typeface="Segoe UI"/>
              </a:rPr>
              <a:t>Shared endpoint. If it is down we switch to a recording — and say so as we switch.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3895344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WHERE TO LOOK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4151376"/>
            <a:ext cx="879653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Dashboard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5629" y="4151376"/>
            <a:ext cx="808330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API docs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81974" y="4151376"/>
            <a:ext cx="808330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Trace UI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4535424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Fallback recording on disk, same five steps.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39496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7240" y="554126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The demo is the argument.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Everything before this slide was setup.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Wrap-up</a:t>
            </a:r>
          </a:p>
        </p:txBody>
      </p:sp>
      <p:sp>
        <p:nvSpPr>
          <p:cNvPr id="8" name="Rectangle 7"/>
          <p:cNvSpPr/>
          <p:nvPr/>
        </p:nvSpPr>
        <p:spPr>
          <a:xfrm>
            <a:off x="5138928" y="571500"/>
            <a:ext cx="466344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Take away four things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4846320" cy="182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029968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50" b="1" i="0">
                <a:solidFill>
                  <a:srgbClr val="0F172A"/>
                </a:solidFill>
                <a:latin typeface="Segoe UI"/>
              </a:rPr>
              <a:t>The CV model is the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395728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audit · gate · ledger · answers all derive from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828800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2029968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50" b="1" i="0">
                <a:solidFill>
                  <a:srgbClr val="0F172A"/>
                </a:solidFill>
                <a:latin typeface="Segoe UI"/>
              </a:rPr>
              <a:t>₱99 a month, already set 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95728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16× cheaper than typing them · 12× cheaper than a subscription you configure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108960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3310128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50" b="1" i="0">
                <a:solidFill>
                  <a:srgbClr val="0F172A"/>
                </a:solidFill>
                <a:latin typeface="Segoe UI"/>
              </a:rPr>
              <a:t>Three models, measured the same 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675888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97 / 94 / 98 hosted · 85 / 87 / 94 local · every figure on one slide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108960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9360" y="3310128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50" b="1" i="0">
                <a:solidFill>
                  <a:srgbClr val="0F172A"/>
                </a:solidFill>
                <a:latin typeface="Segoe UI"/>
              </a:rPr>
              <a:t>We found our own failures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675888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and wrote each one down with its fix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937760"/>
            <a:ext cx="731520" cy="20117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175504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400" b="1" i="0">
                <a:solidFill>
                  <a:srgbClr val="0F172A"/>
                </a:solidFill>
                <a:latin typeface="Segoe U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4162</Words>
  <Application>Microsoft Office PowerPoint</Application>
  <PresentationFormat>Widescreen</PresentationFormat>
  <Paragraphs>893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Clarence Ang</cp:lastModifiedBy>
  <cp:revision>3</cp:revision>
  <dcterms:created xsi:type="dcterms:W3CDTF">2013-01-27T09:14:16Z</dcterms:created>
  <dcterms:modified xsi:type="dcterms:W3CDTF">2026-08-11T10:09:02Z</dcterms:modified>
  <cp:category/>
</cp:coreProperties>
</file>