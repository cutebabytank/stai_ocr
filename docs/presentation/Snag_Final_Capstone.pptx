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3" name="TextBox 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01</a:t>
            </a:r>
          </a:p>
        </p:txBody>
      </p:sp>
      <p:sp>
        <p:nvSpPr>
          <p:cNvPr id="4" name="TextBox 3"/>
          <p:cNvSpPr txBox="1"/>
          <p:nvPr/>
        </p:nvSpPr>
        <p:spPr>
          <a:xfrm>
            <a:off x="777240" y="1234440"/>
            <a:ext cx="7315200" cy="1005840"/>
          </a:xfrm>
          <a:prstGeom prst="rect">
            <a:avLst/>
          </a:prstGeom>
          <a:noFill/>
        </p:spPr>
        <p:txBody>
          <a:bodyPr wrap="square" lIns="0" rIns="0" tIns="0" bIns="0" anchor="t">
            <a:spAutoFit/>
          </a:bodyPr>
          <a:lstStyle/>
          <a:p>
            <a:pPr algn="l">
              <a:lnSpc>
                <a:spcPct val="100000"/>
              </a:lnSpc>
              <a:spcAft>
                <a:spcPts val="200"/>
              </a:spcAft>
            </a:pPr>
            <a:r>
              <a:rPr sz="6400" b="1" i="0">
                <a:solidFill>
                  <a:srgbClr val="0F172A"/>
                </a:solidFill>
                <a:latin typeface="Segoe UI"/>
              </a:rPr>
              <a:t>Snag</a:t>
            </a:r>
          </a:p>
        </p:txBody>
      </p:sp>
      <p:sp>
        <p:nvSpPr>
          <p:cNvPr id="5" name="Rectangle 4"/>
          <p:cNvSpPr/>
          <p:nvPr/>
        </p:nvSpPr>
        <p:spPr>
          <a:xfrm>
            <a:off x="777240" y="2395728"/>
            <a:ext cx="1005840" cy="2743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77240" y="2670048"/>
            <a:ext cx="10058400" cy="365760"/>
          </a:xfrm>
          <a:prstGeom prst="rect">
            <a:avLst/>
          </a:prstGeom>
          <a:noFill/>
        </p:spPr>
        <p:txBody>
          <a:bodyPr wrap="square" lIns="0" rIns="0" tIns="0" bIns="0" anchor="t">
            <a:spAutoFit/>
          </a:bodyPr>
          <a:lstStyle/>
          <a:p>
            <a:pPr algn="l">
              <a:lnSpc>
                <a:spcPct val="122000"/>
              </a:lnSpc>
              <a:spcAft>
                <a:spcPts val="200"/>
              </a:spcAft>
            </a:pPr>
            <a:r>
              <a:rPr sz="1700" b="0" i="0">
                <a:solidFill>
                  <a:srgbClr val="0F172A"/>
                </a:solidFill>
                <a:latin typeface="Segoe UI"/>
              </a:rPr>
              <a:t>A receipt-ledger agent: </a:t>
            </a:r>
            <a:r>
              <a:rPr sz="1700" b="0" i="0">
                <a:solidFill>
                  <a:srgbClr val="B45309"/>
                </a:solidFill>
                <a:latin typeface="Segoe UI"/>
              </a:rPr>
              <a:t>every peso traced back to the paper it came from</a:t>
            </a:r>
          </a:p>
        </p:txBody>
      </p:sp>
      <p:sp>
        <p:nvSpPr>
          <p:cNvPr id="7" name="TextBox 6"/>
          <p:cNvSpPr txBox="1"/>
          <p:nvPr/>
        </p:nvSpPr>
        <p:spPr>
          <a:xfrm>
            <a:off x="777240" y="3072384"/>
            <a:ext cx="10789920" cy="365760"/>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Gemma 4: e4b vision (OCR) + 12B text (planner)  ·  nomic-embed-text 137M  ·  served through Ollama</a:t>
            </a:r>
          </a:p>
        </p:txBody>
      </p:sp>
      <p:sp>
        <p:nvSpPr>
          <p:cNvPr id="8" name="TextBox 7"/>
          <p:cNvSpPr txBox="1"/>
          <p:nvPr/>
        </p:nvSpPr>
        <p:spPr>
          <a:xfrm>
            <a:off x="777240" y="3840480"/>
            <a:ext cx="2127443"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Photo</a:t>
            </a:r>
          </a:p>
        </p:txBody>
      </p:sp>
      <p:sp>
        <p:nvSpPr>
          <p:cNvPr id="9" name="TextBox 8"/>
          <p:cNvSpPr txBox="1"/>
          <p:nvPr/>
        </p:nvSpPr>
        <p:spPr>
          <a:xfrm>
            <a:off x="832104" y="4096512"/>
            <a:ext cx="2017715"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any receipt</a:t>
            </a:r>
          </a:p>
        </p:txBody>
      </p:sp>
      <p:sp>
        <p:nvSpPr>
          <p:cNvPr id="10" name="TextBox 9"/>
          <p:cNvSpPr txBox="1"/>
          <p:nvPr/>
        </p:nvSpPr>
        <p:spPr>
          <a:xfrm>
            <a:off x="2767523" y="383133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11" name="TextBox 10"/>
          <p:cNvSpPr txBox="1"/>
          <p:nvPr/>
        </p:nvSpPr>
        <p:spPr>
          <a:xfrm>
            <a:off x="2904683" y="3840480"/>
            <a:ext cx="2127443"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B45309"/>
                </a:solidFill>
                <a:latin typeface="Segoe UI"/>
              </a:rPr>
              <a:t>Read</a:t>
            </a:r>
          </a:p>
        </p:txBody>
      </p:sp>
      <p:sp>
        <p:nvSpPr>
          <p:cNvPr id="12" name="TextBox 11"/>
          <p:cNvSpPr txBox="1"/>
          <p:nvPr/>
        </p:nvSpPr>
        <p:spPr>
          <a:xfrm>
            <a:off x="2959547" y="4096512"/>
            <a:ext cx="2017715"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local vision model</a:t>
            </a:r>
          </a:p>
        </p:txBody>
      </p:sp>
      <p:sp>
        <p:nvSpPr>
          <p:cNvPr id="13" name="TextBox 12"/>
          <p:cNvSpPr txBox="1"/>
          <p:nvPr/>
        </p:nvSpPr>
        <p:spPr>
          <a:xfrm>
            <a:off x="4894966" y="383133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14" name="TextBox 13"/>
          <p:cNvSpPr txBox="1"/>
          <p:nvPr/>
        </p:nvSpPr>
        <p:spPr>
          <a:xfrm>
            <a:off x="5032126" y="3840480"/>
            <a:ext cx="2127443"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Check</a:t>
            </a:r>
          </a:p>
        </p:txBody>
      </p:sp>
      <p:sp>
        <p:nvSpPr>
          <p:cNvPr id="15" name="TextBox 14"/>
          <p:cNvSpPr txBox="1"/>
          <p:nvPr/>
        </p:nvSpPr>
        <p:spPr>
          <a:xfrm>
            <a:off x="5086990" y="4096512"/>
            <a:ext cx="2017715"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10 arithmetic tests</a:t>
            </a:r>
          </a:p>
        </p:txBody>
      </p:sp>
      <p:sp>
        <p:nvSpPr>
          <p:cNvPr id="16" name="TextBox 15"/>
          <p:cNvSpPr txBox="1"/>
          <p:nvPr/>
        </p:nvSpPr>
        <p:spPr>
          <a:xfrm>
            <a:off x="7022409" y="383133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17" name="TextBox 16"/>
          <p:cNvSpPr txBox="1"/>
          <p:nvPr/>
        </p:nvSpPr>
        <p:spPr>
          <a:xfrm>
            <a:off x="7159569" y="3840480"/>
            <a:ext cx="2127443"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File or hold</a:t>
            </a:r>
          </a:p>
        </p:txBody>
      </p:sp>
      <p:sp>
        <p:nvSpPr>
          <p:cNvPr id="18" name="TextBox 17"/>
          <p:cNvSpPr txBox="1"/>
          <p:nvPr/>
        </p:nvSpPr>
        <p:spPr>
          <a:xfrm>
            <a:off x="7214433" y="4096512"/>
            <a:ext cx="2017715"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ledger, or review</a:t>
            </a:r>
          </a:p>
        </p:txBody>
      </p:sp>
      <p:sp>
        <p:nvSpPr>
          <p:cNvPr id="19" name="TextBox 18"/>
          <p:cNvSpPr txBox="1"/>
          <p:nvPr/>
        </p:nvSpPr>
        <p:spPr>
          <a:xfrm>
            <a:off x="9149852" y="383133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20" name="TextBox 19"/>
          <p:cNvSpPr txBox="1"/>
          <p:nvPr/>
        </p:nvSpPr>
        <p:spPr>
          <a:xfrm>
            <a:off x="9287012" y="3840480"/>
            <a:ext cx="2127443"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Ask &amp; record</a:t>
            </a:r>
          </a:p>
        </p:txBody>
      </p:sp>
      <p:sp>
        <p:nvSpPr>
          <p:cNvPr id="21" name="TextBox 20"/>
          <p:cNvSpPr txBox="1"/>
          <p:nvPr/>
        </p:nvSpPr>
        <p:spPr>
          <a:xfrm>
            <a:off x="9341876" y="4096512"/>
            <a:ext cx="2017715"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in plain English</a:t>
            </a:r>
          </a:p>
        </p:txBody>
      </p:sp>
      <p:sp>
        <p:nvSpPr>
          <p:cNvPr id="22" name="Rectangle 21"/>
          <p:cNvSpPr/>
          <p:nvPr/>
        </p:nvSpPr>
        <p:spPr>
          <a:xfrm>
            <a:off x="777240" y="46634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777240" y="4919472"/>
            <a:ext cx="201168" cy="201168"/>
          </a:xfrm>
          <a:prstGeom prst="roundRect">
            <a:avLst>
              <a:gd name="adj" fmla="val 2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N</a:t>
            </a:r>
          </a:p>
        </p:txBody>
      </p:sp>
      <p:sp>
        <p:nvSpPr>
          <p:cNvPr id="24" name="TextBox 23"/>
          <p:cNvSpPr txBox="1"/>
          <p:nvPr/>
        </p:nvSpPr>
        <p:spPr>
          <a:xfrm>
            <a:off x="1051560"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Next.js</a:t>
            </a:r>
          </a:p>
        </p:txBody>
      </p:sp>
      <p:sp>
        <p:nvSpPr>
          <p:cNvPr id="25" name="Rounded Rectangle 24"/>
          <p:cNvSpPr/>
          <p:nvPr/>
        </p:nvSpPr>
        <p:spPr>
          <a:xfrm>
            <a:off x="1600017" y="4919472"/>
            <a:ext cx="201168" cy="201168"/>
          </a:xfrm>
          <a:prstGeom prst="roundRect">
            <a:avLst>
              <a:gd name="adj" fmla="val 28000"/>
            </a:avLst>
          </a:prstGeom>
          <a:solidFill>
            <a:srgbClr val="059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F</a:t>
            </a:r>
          </a:p>
        </p:txBody>
      </p:sp>
      <p:sp>
        <p:nvSpPr>
          <p:cNvPr id="26" name="TextBox 25"/>
          <p:cNvSpPr txBox="1"/>
          <p:nvPr/>
        </p:nvSpPr>
        <p:spPr>
          <a:xfrm>
            <a:off x="1874337"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FastAPI</a:t>
            </a:r>
          </a:p>
        </p:txBody>
      </p:sp>
      <p:sp>
        <p:nvSpPr>
          <p:cNvPr id="27" name="Rounded Rectangle 26"/>
          <p:cNvSpPr/>
          <p:nvPr/>
        </p:nvSpPr>
        <p:spPr>
          <a:xfrm>
            <a:off x="2422794" y="4919472"/>
            <a:ext cx="201168" cy="201168"/>
          </a:xfrm>
          <a:prstGeom prst="roundRect">
            <a:avLst>
              <a:gd name="adj" fmla="val 2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O</a:t>
            </a:r>
          </a:p>
        </p:txBody>
      </p:sp>
      <p:sp>
        <p:nvSpPr>
          <p:cNvPr id="28" name="TextBox 27"/>
          <p:cNvSpPr txBox="1"/>
          <p:nvPr/>
        </p:nvSpPr>
        <p:spPr>
          <a:xfrm>
            <a:off x="2697114"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Ollama</a:t>
            </a:r>
          </a:p>
        </p:txBody>
      </p:sp>
      <p:sp>
        <p:nvSpPr>
          <p:cNvPr id="29" name="Rounded Rectangle 28"/>
          <p:cNvSpPr/>
          <p:nvPr/>
        </p:nvSpPr>
        <p:spPr>
          <a:xfrm>
            <a:off x="3180283" y="4919472"/>
            <a:ext cx="201168" cy="201168"/>
          </a:xfrm>
          <a:prstGeom prst="roundRect">
            <a:avLst>
              <a:gd name="adj" fmla="val 28000"/>
            </a:avLst>
          </a:prstGeom>
          <a:solidFill>
            <a:srgbClr val="0036B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S</a:t>
            </a:r>
          </a:p>
        </p:txBody>
      </p:sp>
      <p:sp>
        <p:nvSpPr>
          <p:cNvPr id="30" name="TextBox 29"/>
          <p:cNvSpPr txBox="1"/>
          <p:nvPr/>
        </p:nvSpPr>
        <p:spPr>
          <a:xfrm>
            <a:off x="3454603"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SQLite</a:t>
            </a:r>
          </a:p>
        </p:txBody>
      </p:sp>
      <p:sp>
        <p:nvSpPr>
          <p:cNvPr id="31" name="Rounded Rectangle 30"/>
          <p:cNvSpPr/>
          <p:nvPr/>
        </p:nvSpPr>
        <p:spPr>
          <a:xfrm>
            <a:off x="3937772" y="4919472"/>
            <a:ext cx="201168" cy="201168"/>
          </a:xfrm>
          <a:prstGeom prst="roundRect">
            <a:avLst>
              <a:gd name="adj" fmla="val 28000"/>
            </a:avLst>
          </a:prstGeom>
          <a:solidFill>
            <a:srgbClr val="029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M</a:t>
            </a:r>
          </a:p>
        </p:txBody>
      </p:sp>
      <p:sp>
        <p:nvSpPr>
          <p:cNvPr id="32" name="TextBox 31"/>
          <p:cNvSpPr txBox="1"/>
          <p:nvPr/>
        </p:nvSpPr>
        <p:spPr>
          <a:xfrm>
            <a:off x="4212092"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MLflow</a:t>
            </a:r>
          </a:p>
        </p:txBody>
      </p:sp>
      <p:sp>
        <p:nvSpPr>
          <p:cNvPr id="33" name="Rounded Rectangle 32"/>
          <p:cNvSpPr/>
          <p:nvPr/>
        </p:nvSpPr>
        <p:spPr>
          <a:xfrm>
            <a:off x="4695261" y="4919472"/>
            <a:ext cx="201168" cy="201168"/>
          </a:xfrm>
          <a:prstGeom prst="roundRect">
            <a:avLst>
              <a:gd name="adj" fmla="val 28000"/>
            </a:avLst>
          </a:prstGeom>
          <a:solidFill>
            <a:srgbClr val="1D63E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D</a:t>
            </a:r>
          </a:p>
        </p:txBody>
      </p:sp>
      <p:sp>
        <p:nvSpPr>
          <p:cNvPr id="34" name="TextBox 33"/>
          <p:cNvSpPr txBox="1"/>
          <p:nvPr/>
        </p:nvSpPr>
        <p:spPr>
          <a:xfrm>
            <a:off x="4969581"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Docker</a:t>
            </a:r>
          </a:p>
        </p:txBody>
      </p:sp>
      <p:sp>
        <p:nvSpPr>
          <p:cNvPr id="35" name="Rounded Rectangle 34"/>
          <p:cNvSpPr/>
          <p:nvPr/>
        </p:nvSpPr>
        <p:spPr>
          <a:xfrm>
            <a:off x="5452750" y="4919472"/>
            <a:ext cx="201168" cy="201168"/>
          </a:xfrm>
          <a:prstGeom prst="roundRect">
            <a:avLst>
              <a:gd name="adj" fmla="val 28000"/>
            </a:avLst>
          </a:prstGeom>
          <a:solidFill>
            <a:srgbClr val="E92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00" b="1">
                <a:solidFill>
                  <a:srgbClr val="FFFFFF"/>
                </a:solidFill>
                <a:latin typeface="Segoe UI"/>
              </a:rPr>
              <a:t>P</a:t>
            </a:r>
          </a:p>
        </p:txBody>
      </p:sp>
      <p:sp>
        <p:nvSpPr>
          <p:cNvPr id="36" name="TextBox 35"/>
          <p:cNvSpPr txBox="1"/>
          <p:nvPr/>
        </p:nvSpPr>
        <p:spPr>
          <a:xfrm>
            <a:off x="5727070" y="4937760"/>
            <a:ext cx="1280160" cy="219456"/>
          </a:xfrm>
          <a:prstGeom prst="rect">
            <a:avLst/>
          </a:prstGeom>
          <a:noFill/>
        </p:spPr>
        <p:txBody>
          <a:bodyPr wrap="square" lIns="0" rIns="0" tIns="0" bIns="0" anchor="t">
            <a:spAutoFit/>
          </a:bodyPr>
          <a:lstStyle/>
          <a:p>
            <a:pPr algn="l">
              <a:lnSpc>
                <a:spcPct val="122000"/>
              </a:lnSpc>
              <a:spcAft>
                <a:spcPts val="200"/>
              </a:spcAft>
            </a:pPr>
            <a:r>
              <a:rPr sz="1000" b="0" i="0">
                <a:solidFill>
                  <a:srgbClr val="3F4B5C"/>
                </a:solidFill>
                <a:latin typeface="Segoe UI"/>
              </a:rPr>
              <a:t>Pydantic</a:t>
            </a:r>
          </a:p>
        </p:txBody>
      </p:sp>
      <p:sp>
        <p:nvSpPr>
          <p:cNvPr id="37" name="TextBox 36"/>
          <p:cNvSpPr txBox="1"/>
          <p:nvPr/>
        </p:nvSpPr>
        <p:spPr>
          <a:xfrm>
            <a:off x="777240" y="5431536"/>
            <a:ext cx="10972800" cy="274320"/>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Nathaniel Adiong  ·  Clarence Ang  ·  Fraser Sim  ·  Aaron Go</a:t>
            </a:r>
          </a:p>
        </p:txBody>
      </p:sp>
      <p:sp>
        <p:nvSpPr>
          <p:cNvPr id="38" name="TextBox 37"/>
          <p:cNvSpPr txBox="1"/>
          <p:nvPr/>
        </p:nvSpPr>
        <p:spPr>
          <a:xfrm>
            <a:off x="777240" y="5724144"/>
            <a:ext cx="10972800" cy="274320"/>
          </a:xfrm>
          <a:prstGeom prst="rect">
            <a:avLst/>
          </a:prstGeom>
          <a:noFill/>
        </p:spPr>
        <p:txBody>
          <a:bodyPr wrap="square" lIns="0" rIns="0" tIns="0" bIns="0" anchor="t">
            <a:spAutoFit/>
          </a:bodyPr>
          <a:lstStyle/>
          <a:p>
            <a:pPr algn="l">
              <a:lnSpc>
                <a:spcPct val="122000"/>
              </a:lnSpc>
              <a:spcAft>
                <a:spcPts val="200"/>
              </a:spcAft>
            </a:pPr>
            <a:r>
              <a:rPr sz="1000" b="0" i="0">
                <a:solidFill>
                  <a:srgbClr val="8A94A3"/>
                </a:solidFill>
                <a:latin typeface="Segoe UI"/>
              </a:rPr>
              <a:t>Introduction to Agentic AI (STAI100)  ·  Stratpoint × DLSU  ·  Week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Use case</a:t>
            </a:r>
          </a:p>
        </p:txBody>
      </p:sp>
      <p:sp>
        <p:nvSpPr>
          <p:cNvPr id="3" name="Rectangle 2"/>
          <p:cNvSpPr/>
          <p:nvPr/>
        </p:nvSpPr>
        <p:spPr>
          <a:xfrm>
            <a:off x="777240"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5" name="TextBox 4"/>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Today</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300 paper receipts a month, one pair of hands</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02</a:t>
            </a:r>
          </a:p>
        </p:txBody>
      </p:sp>
      <p:sp>
        <p:nvSpPr>
          <p:cNvPr id="14" name="TextBox 13"/>
          <p:cNvSpPr txBox="1"/>
          <p:nvPr/>
        </p:nvSpPr>
        <p:spPr>
          <a:xfrm>
            <a:off x="777240" y="2011680"/>
            <a:ext cx="2659304" cy="475488"/>
          </a:xfrm>
          <a:prstGeom prst="rect">
            <a:avLst/>
          </a:prstGeom>
          <a:noFill/>
        </p:spPr>
        <p:txBody>
          <a:bodyPr wrap="square" lIns="0" rIns="0" tIns="0" bIns="0" anchor="t">
            <a:spAutoFit/>
          </a:bodyPr>
          <a:lstStyle/>
          <a:p>
            <a:pPr algn="ctr">
              <a:lnSpc>
                <a:spcPct val="100000"/>
              </a:lnSpc>
              <a:spcAft>
                <a:spcPts val="200"/>
              </a:spcAft>
            </a:pPr>
            <a:r>
              <a:rPr sz="3000" b="1" i="0">
                <a:solidFill>
                  <a:srgbClr val="0F172A"/>
                </a:solidFill>
                <a:latin typeface="Segoe UI"/>
              </a:rPr>
              <a:t>300</a:t>
            </a:r>
          </a:p>
        </p:txBody>
      </p:sp>
      <p:sp>
        <p:nvSpPr>
          <p:cNvPr id="15" name="TextBox 14"/>
          <p:cNvSpPr txBox="1"/>
          <p:nvPr/>
        </p:nvSpPr>
        <p:spPr>
          <a:xfrm>
            <a:off x="777240" y="2464308"/>
            <a:ext cx="2659304" cy="237744"/>
          </a:xfrm>
          <a:prstGeom prst="rect">
            <a:avLst/>
          </a:prstGeom>
          <a:noFill/>
        </p:spPr>
        <p:txBody>
          <a:bodyPr wrap="square" lIns="0" rIns="0" tIns="0" bIns="0" anchor="t">
            <a:spAutoFit/>
          </a:bodyPr>
          <a:lstStyle/>
          <a:p>
            <a:pPr algn="ctr">
              <a:lnSpc>
                <a:spcPct val="122000"/>
              </a:lnSpc>
              <a:spcAft>
                <a:spcPts val="200"/>
              </a:spcAft>
            </a:pPr>
            <a:r>
              <a:rPr sz="1050" b="0" i="0">
                <a:solidFill>
                  <a:srgbClr val="3F4B5C"/>
                </a:solidFill>
                <a:latin typeface="Segoe UI"/>
              </a:rPr>
              <a:t>receipts a month</a:t>
            </a:r>
          </a:p>
        </p:txBody>
      </p:sp>
      <p:sp>
        <p:nvSpPr>
          <p:cNvPr id="16" name="TextBox 15"/>
          <p:cNvSpPr txBox="1"/>
          <p:nvPr/>
        </p:nvSpPr>
        <p:spPr>
          <a:xfrm>
            <a:off x="3299384" y="213969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17" name="TextBox 16"/>
          <p:cNvSpPr txBox="1"/>
          <p:nvPr/>
        </p:nvSpPr>
        <p:spPr>
          <a:xfrm>
            <a:off x="3436544" y="2011680"/>
            <a:ext cx="2659304" cy="475488"/>
          </a:xfrm>
          <a:prstGeom prst="rect">
            <a:avLst/>
          </a:prstGeom>
          <a:noFill/>
        </p:spPr>
        <p:txBody>
          <a:bodyPr wrap="square" lIns="0" rIns="0" tIns="0" bIns="0" anchor="t">
            <a:spAutoFit/>
          </a:bodyPr>
          <a:lstStyle/>
          <a:p>
            <a:pPr algn="ctr">
              <a:lnSpc>
                <a:spcPct val="100000"/>
              </a:lnSpc>
              <a:spcAft>
                <a:spcPts val="200"/>
              </a:spcAft>
            </a:pPr>
            <a:r>
              <a:rPr sz="3000" b="1" i="0">
                <a:solidFill>
                  <a:srgbClr val="0F172A"/>
                </a:solidFill>
                <a:latin typeface="Segoe UI"/>
              </a:rPr>
              <a:t>2 min</a:t>
            </a:r>
          </a:p>
        </p:txBody>
      </p:sp>
      <p:sp>
        <p:nvSpPr>
          <p:cNvPr id="18" name="TextBox 17"/>
          <p:cNvSpPr txBox="1"/>
          <p:nvPr/>
        </p:nvSpPr>
        <p:spPr>
          <a:xfrm>
            <a:off x="3436544" y="2464308"/>
            <a:ext cx="2659304" cy="237744"/>
          </a:xfrm>
          <a:prstGeom prst="rect">
            <a:avLst/>
          </a:prstGeom>
          <a:noFill/>
        </p:spPr>
        <p:txBody>
          <a:bodyPr wrap="square" lIns="0" rIns="0" tIns="0" bIns="0" anchor="t">
            <a:spAutoFit/>
          </a:bodyPr>
          <a:lstStyle/>
          <a:p>
            <a:pPr algn="ctr">
              <a:lnSpc>
                <a:spcPct val="122000"/>
              </a:lnSpc>
              <a:spcAft>
                <a:spcPts val="200"/>
              </a:spcAft>
            </a:pPr>
            <a:r>
              <a:rPr sz="1050" b="0" i="0">
                <a:solidFill>
                  <a:srgbClr val="3F4B5C"/>
                </a:solidFill>
                <a:latin typeface="Segoe UI"/>
              </a:rPr>
              <a:t>to type each</a:t>
            </a:r>
          </a:p>
        </p:txBody>
      </p:sp>
      <p:sp>
        <p:nvSpPr>
          <p:cNvPr id="19" name="TextBox 18"/>
          <p:cNvSpPr txBox="1"/>
          <p:nvPr/>
        </p:nvSpPr>
        <p:spPr>
          <a:xfrm>
            <a:off x="5958688" y="213969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20" name="TextBox 19"/>
          <p:cNvSpPr txBox="1"/>
          <p:nvPr/>
        </p:nvSpPr>
        <p:spPr>
          <a:xfrm>
            <a:off x="6095848" y="2011680"/>
            <a:ext cx="2659304" cy="475488"/>
          </a:xfrm>
          <a:prstGeom prst="rect">
            <a:avLst/>
          </a:prstGeom>
          <a:noFill/>
        </p:spPr>
        <p:txBody>
          <a:bodyPr wrap="square" lIns="0" rIns="0" tIns="0" bIns="0" anchor="t">
            <a:spAutoFit/>
          </a:bodyPr>
          <a:lstStyle/>
          <a:p>
            <a:pPr algn="ctr">
              <a:lnSpc>
                <a:spcPct val="100000"/>
              </a:lnSpc>
              <a:spcAft>
                <a:spcPts val="200"/>
              </a:spcAft>
            </a:pPr>
            <a:r>
              <a:rPr sz="3000" b="1" i="0">
                <a:solidFill>
                  <a:srgbClr val="0F172A"/>
                </a:solidFill>
                <a:latin typeface="Segoe UI"/>
              </a:rPr>
              <a:t>10 hours</a:t>
            </a:r>
          </a:p>
        </p:txBody>
      </p:sp>
      <p:sp>
        <p:nvSpPr>
          <p:cNvPr id="21" name="TextBox 20"/>
          <p:cNvSpPr txBox="1"/>
          <p:nvPr/>
        </p:nvSpPr>
        <p:spPr>
          <a:xfrm>
            <a:off x="6095848" y="2464308"/>
            <a:ext cx="2659304" cy="237744"/>
          </a:xfrm>
          <a:prstGeom prst="rect">
            <a:avLst/>
          </a:prstGeom>
          <a:noFill/>
        </p:spPr>
        <p:txBody>
          <a:bodyPr wrap="square" lIns="0" rIns="0" tIns="0" bIns="0" anchor="t">
            <a:spAutoFit/>
          </a:bodyPr>
          <a:lstStyle/>
          <a:p>
            <a:pPr algn="ctr">
              <a:lnSpc>
                <a:spcPct val="122000"/>
              </a:lnSpc>
              <a:spcAft>
                <a:spcPts val="200"/>
              </a:spcAft>
            </a:pPr>
            <a:r>
              <a:rPr sz="1050" b="0" i="0">
                <a:solidFill>
                  <a:srgbClr val="3F4B5C"/>
                </a:solidFill>
                <a:latin typeface="Segoe UI"/>
              </a:rPr>
              <a:t>every month</a:t>
            </a:r>
          </a:p>
        </p:txBody>
      </p:sp>
      <p:sp>
        <p:nvSpPr>
          <p:cNvPr id="22" name="TextBox 21"/>
          <p:cNvSpPr txBox="1"/>
          <p:nvPr/>
        </p:nvSpPr>
        <p:spPr>
          <a:xfrm>
            <a:off x="8617991" y="213969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23" name="TextBox 22"/>
          <p:cNvSpPr txBox="1"/>
          <p:nvPr/>
        </p:nvSpPr>
        <p:spPr>
          <a:xfrm>
            <a:off x="8755151" y="2011680"/>
            <a:ext cx="2659304" cy="475488"/>
          </a:xfrm>
          <a:prstGeom prst="rect">
            <a:avLst/>
          </a:prstGeom>
          <a:noFill/>
        </p:spPr>
        <p:txBody>
          <a:bodyPr wrap="square" lIns="0" rIns="0" tIns="0" bIns="0" anchor="t">
            <a:spAutoFit/>
          </a:bodyPr>
          <a:lstStyle/>
          <a:p>
            <a:pPr algn="ctr">
              <a:lnSpc>
                <a:spcPct val="100000"/>
              </a:lnSpc>
              <a:spcAft>
                <a:spcPts val="200"/>
              </a:spcAft>
            </a:pPr>
            <a:r>
              <a:rPr sz="3000" b="1" i="0">
                <a:solidFill>
                  <a:srgbClr val="B45309"/>
                </a:solidFill>
                <a:latin typeface="Segoe UI"/>
              </a:rPr>
              <a:t>₱1,562</a:t>
            </a:r>
          </a:p>
        </p:txBody>
      </p:sp>
      <p:sp>
        <p:nvSpPr>
          <p:cNvPr id="24" name="TextBox 23"/>
          <p:cNvSpPr txBox="1"/>
          <p:nvPr/>
        </p:nvSpPr>
        <p:spPr>
          <a:xfrm>
            <a:off x="8755151" y="2464308"/>
            <a:ext cx="2659304" cy="237744"/>
          </a:xfrm>
          <a:prstGeom prst="rect">
            <a:avLst/>
          </a:prstGeom>
          <a:noFill/>
        </p:spPr>
        <p:txBody>
          <a:bodyPr wrap="square" lIns="0" rIns="0" tIns="0" bIns="0" anchor="t">
            <a:spAutoFit/>
          </a:bodyPr>
          <a:lstStyle/>
          <a:p>
            <a:pPr algn="ctr">
              <a:lnSpc>
                <a:spcPct val="122000"/>
              </a:lnSpc>
              <a:spcAft>
                <a:spcPts val="200"/>
              </a:spcAft>
            </a:pPr>
            <a:r>
              <a:rPr sz="1050" b="0" i="0">
                <a:solidFill>
                  <a:srgbClr val="3F4B5C"/>
                </a:solidFill>
                <a:latin typeface="Segoe UI"/>
              </a:rPr>
              <a:t>of labour a month</a:t>
            </a:r>
          </a:p>
        </p:txBody>
      </p:sp>
      <p:sp>
        <p:nvSpPr>
          <p:cNvPr id="25" name="Rectangle 24"/>
          <p:cNvSpPr/>
          <p:nvPr/>
        </p:nvSpPr>
        <p:spPr>
          <a:xfrm>
            <a:off x="777240" y="320040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3401568"/>
            <a:ext cx="54864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91C1C"/>
                </a:solidFill>
                <a:latin typeface="Segoe UI"/>
              </a:rPr>
              <a:t>AND NOBODY CHECKS THE MATH</a:t>
            </a:r>
          </a:p>
        </p:txBody>
      </p:sp>
      <p:sp>
        <p:nvSpPr>
          <p:cNvPr id="27" name="TextBox 26"/>
          <p:cNvSpPr txBox="1"/>
          <p:nvPr/>
        </p:nvSpPr>
        <p:spPr>
          <a:xfrm>
            <a:off x="777240" y="379476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28" name="TextBox 27"/>
          <p:cNvSpPr txBox="1"/>
          <p:nvPr/>
        </p:nvSpPr>
        <p:spPr>
          <a:xfrm>
            <a:off x="1033272" y="3767328"/>
            <a:ext cx="3088538"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0F172A"/>
                </a:solidFill>
                <a:latin typeface="Segoe UI"/>
              </a:rPr>
              <a:t>A line misread</a:t>
            </a:r>
          </a:p>
        </p:txBody>
      </p:sp>
      <p:sp>
        <p:nvSpPr>
          <p:cNvPr id="29" name="TextBox 28"/>
          <p:cNvSpPr txBox="1"/>
          <p:nvPr/>
        </p:nvSpPr>
        <p:spPr>
          <a:xfrm>
            <a:off x="1033272" y="4059936"/>
            <a:ext cx="3088538" cy="27432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the total still looks fine</a:t>
            </a:r>
          </a:p>
        </p:txBody>
      </p:sp>
      <p:sp>
        <p:nvSpPr>
          <p:cNvPr id="30" name="TextBox 29"/>
          <p:cNvSpPr txBox="1"/>
          <p:nvPr/>
        </p:nvSpPr>
        <p:spPr>
          <a:xfrm>
            <a:off x="4322978" y="379476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31" name="TextBox 30"/>
          <p:cNvSpPr txBox="1"/>
          <p:nvPr/>
        </p:nvSpPr>
        <p:spPr>
          <a:xfrm>
            <a:off x="4579010" y="3767328"/>
            <a:ext cx="3088538"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0F172A"/>
                </a:solidFill>
                <a:latin typeface="Segoe UI"/>
              </a:rPr>
              <a:t>VAT added twice</a:t>
            </a:r>
          </a:p>
        </p:txBody>
      </p:sp>
      <p:sp>
        <p:nvSpPr>
          <p:cNvPr id="32" name="TextBox 31"/>
          <p:cNvSpPr txBox="1"/>
          <p:nvPr/>
        </p:nvSpPr>
        <p:spPr>
          <a:xfrm>
            <a:off x="4579010" y="4059936"/>
            <a:ext cx="3088538" cy="27432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on a VAT-inclusive receipt</a:t>
            </a:r>
          </a:p>
        </p:txBody>
      </p:sp>
      <p:sp>
        <p:nvSpPr>
          <p:cNvPr id="33" name="TextBox 32"/>
          <p:cNvSpPr txBox="1"/>
          <p:nvPr/>
        </p:nvSpPr>
        <p:spPr>
          <a:xfrm>
            <a:off x="7868717" y="379476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34" name="TextBox 33"/>
          <p:cNvSpPr txBox="1"/>
          <p:nvPr/>
        </p:nvSpPr>
        <p:spPr>
          <a:xfrm>
            <a:off x="8124749" y="3767328"/>
            <a:ext cx="3088538"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0F172A"/>
                </a:solidFill>
                <a:latin typeface="Segoe UI"/>
              </a:rPr>
              <a:t>Entered twice</a:t>
            </a:r>
          </a:p>
        </p:txBody>
      </p:sp>
      <p:sp>
        <p:nvSpPr>
          <p:cNvPr id="35" name="TextBox 34"/>
          <p:cNvSpPr txBox="1"/>
          <p:nvPr/>
        </p:nvSpPr>
        <p:spPr>
          <a:xfrm>
            <a:off x="8124749" y="4059936"/>
            <a:ext cx="3088538" cy="27432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one purchase, two rows</a:t>
            </a:r>
          </a:p>
        </p:txBody>
      </p:sp>
      <p:sp>
        <p:nvSpPr>
          <p:cNvPr id="36" name="Rectangle 35"/>
          <p:cNvSpPr/>
          <p:nvPr/>
        </p:nvSpPr>
        <p:spPr>
          <a:xfrm>
            <a:off x="777240" y="489204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77240" y="5093208"/>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Found at filing time. Months later. If at all.</a:t>
            </a:r>
          </a:p>
        </p:txBody>
      </p:sp>
      <p:sp>
        <p:nvSpPr>
          <p:cNvPr id="38" name="TextBox 37"/>
          <p:cNvSpPr txBox="1"/>
          <p:nvPr/>
        </p:nvSpPr>
        <p:spPr>
          <a:xfrm>
            <a:off x="777240" y="5404561"/>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Every figure in this deck exists because that sentence is expensive.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Use case</a:t>
            </a:r>
          </a:p>
        </p:txBody>
      </p:sp>
      <p:sp>
        <p:nvSpPr>
          <p:cNvPr id="3" name="Rectangle 2"/>
          <p:cNvSpPr/>
          <p:nvPr/>
        </p:nvSpPr>
        <p:spPr>
          <a:xfrm>
            <a:off x="777240"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5" name="TextBox 4"/>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Scope</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One thing done well beats five done adequately</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03</a:t>
            </a:r>
          </a:p>
        </p:txBody>
      </p:sp>
      <p:sp>
        <p:nvSpPr>
          <p:cNvPr id="14" name="Rectangle 13"/>
          <p:cNvSpPr/>
          <p:nvPr/>
        </p:nvSpPr>
        <p:spPr>
          <a:xfrm>
            <a:off x="6126480" y="1828800"/>
            <a:ext cx="8230" cy="324612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828800"/>
            <a:ext cx="27432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16" name="TextBox 15"/>
          <p:cNvSpPr txBox="1"/>
          <p:nvPr/>
        </p:nvSpPr>
        <p:spPr>
          <a:xfrm>
            <a:off x="1051560" y="1883664"/>
            <a:ext cx="2743200" cy="201168"/>
          </a:xfrm>
          <a:prstGeom prst="rect">
            <a:avLst/>
          </a:prstGeom>
          <a:noFill/>
        </p:spPr>
        <p:txBody>
          <a:bodyPr wrap="square" lIns="0" rIns="0" tIns="0" bIns="0" anchor="t">
            <a:spAutoFit/>
          </a:bodyPr>
          <a:lstStyle/>
          <a:p>
            <a:pPr algn="l">
              <a:lnSpc>
                <a:spcPct val="122000"/>
              </a:lnSpc>
              <a:spcAft>
                <a:spcPts val="200"/>
              </a:spcAft>
            </a:pPr>
            <a:r>
              <a:rPr sz="1000" b="1" i="0" spc="90">
                <a:solidFill>
                  <a:srgbClr val="047857"/>
                </a:solidFill>
                <a:latin typeface="Segoe UI"/>
              </a:rPr>
              <a:t>IN</a:t>
            </a:r>
          </a:p>
        </p:txBody>
      </p:sp>
      <p:sp>
        <p:nvSpPr>
          <p:cNvPr id="17" name="Rectangle 16"/>
          <p:cNvSpPr/>
          <p:nvPr/>
        </p:nvSpPr>
        <p:spPr>
          <a:xfrm>
            <a:off x="777240" y="228600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7240" y="2432304"/>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Photographed PH retail receipt</a:t>
            </a:r>
          </a:p>
        </p:txBody>
      </p:sp>
      <p:sp>
        <p:nvSpPr>
          <p:cNvPr id="19" name="Rectangle 18"/>
          <p:cNvSpPr/>
          <p:nvPr/>
        </p:nvSpPr>
        <p:spPr>
          <a:xfrm>
            <a:off x="777240" y="2816352"/>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7240" y="2962656"/>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Its own printed arithmetic</a:t>
            </a:r>
          </a:p>
        </p:txBody>
      </p:sp>
      <p:sp>
        <p:nvSpPr>
          <p:cNvPr id="21" name="Rectangle 20"/>
          <p:cNvSpPr/>
          <p:nvPr/>
        </p:nvSpPr>
        <p:spPr>
          <a:xfrm>
            <a:off x="777240" y="3346704"/>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7240" y="3493008"/>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Hold the bad, file the good</a:t>
            </a:r>
          </a:p>
        </p:txBody>
      </p:sp>
      <p:sp>
        <p:nvSpPr>
          <p:cNvPr id="23" name="Rectangle 22"/>
          <p:cNvSpPr/>
          <p:nvPr/>
        </p:nvSpPr>
        <p:spPr>
          <a:xfrm>
            <a:off x="777240" y="3877056"/>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4023360"/>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A ledger you can ask, month after month</a:t>
            </a:r>
          </a:p>
        </p:txBody>
      </p:sp>
      <p:sp>
        <p:nvSpPr>
          <p:cNvPr id="25" name="Rectangle 24"/>
          <p:cNvSpPr/>
          <p:nvPr/>
        </p:nvSpPr>
        <p:spPr>
          <a:xfrm>
            <a:off x="777240" y="4407408"/>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4553712"/>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Bank / card statement CSV</a:t>
            </a:r>
          </a:p>
        </p:txBody>
      </p:sp>
      <p:sp>
        <p:nvSpPr>
          <p:cNvPr id="27" name="Rectangle 26"/>
          <p:cNvSpPr/>
          <p:nvPr/>
        </p:nvSpPr>
        <p:spPr>
          <a:xfrm>
            <a:off x="777240" y="493776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37960" y="1828800"/>
            <a:ext cx="27432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91C1C"/>
                </a:solidFill>
                <a:latin typeface="Segoe UI"/>
              </a:rPr>
              <a:t>✗</a:t>
            </a:r>
          </a:p>
        </p:txBody>
      </p:sp>
      <p:sp>
        <p:nvSpPr>
          <p:cNvPr id="29" name="TextBox 28"/>
          <p:cNvSpPr txBox="1"/>
          <p:nvPr/>
        </p:nvSpPr>
        <p:spPr>
          <a:xfrm>
            <a:off x="6812280" y="1883664"/>
            <a:ext cx="2743200" cy="201168"/>
          </a:xfrm>
          <a:prstGeom prst="rect">
            <a:avLst/>
          </a:prstGeom>
          <a:noFill/>
        </p:spPr>
        <p:txBody>
          <a:bodyPr wrap="square" lIns="0" rIns="0" tIns="0" bIns="0" anchor="t">
            <a:spAutoFit/>
          </a:bodyPr>
          <a:lstStyle/>
          <a:p>
            <a:pPr algn="l">
              <a:lnSpc>
                <a:spcPct val="122000"/>
              </a:lnSpc>
              <a:spcAft>
                <a:spcPts val="200"/>
              </a:spcAft>
            </a:pPr>
            <a:r>
              <a:rPr sz="1000" b="1" i="0" spc="90">
                <a:solidFill>
                  <a:srgbClr val="B91C1C"/>
                </a:solidFill>
                <a:latin typeface="Segoe UI"/>
              </a:rPr>
              <a:t>OUT</a:t>
            </a:r>
          </a:p>
        </p:txBody>
      </p:sp>
      <p:sp>
        <p:nvSpPr>
          <p:cNvPr id="30" name="Rectangle 29"/>
          <p:cNvSpPr/>
          <p:nvPr/>
        </p:nvSpPr>
        <p:spPr>
          <a:xfrm>
            <a:off x="6537960" y="228600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37960" y="2432304"/>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Invoices, payslips, contracts</a:t>
            </a:r>
          </a:p>
        </p:txBody>
      </p:sp>
      <p:sp>
        <p:nvSpPr>
          <p:cNvPr id="32" name="Rectangle 31"/>
          <p:cNvSpPr/>
          <p:nvPr/>
        </p:nvSpPr>
        <p:spPr>
          <a:xfrm>
            <a:off x="6537960" y="2816352"/>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37960" y="2962656"/>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Auto-correcting what the model read</a:t>
            </a:r>
          </a:p>
        </p:txBody>
      </p:sp>
      <p:sp>
        <p:nvSpPr>
          <p:cNvPr id="34" name="Rectangle 33"/>
          <p:cNvSpPr/>
          <p:nvPr/>
        </p:nvSpPr>
        <p:spPr>
          <a:xfrm>
            <a:off x="6537960" y="3346704"/>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37960" y="3493008"/>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Multi-user accounts, cloud sync</a:t>
            </a:r>
          </a:p>
        </p:txBody>
      </p:sp>
      <p:sp>
        <p:nvSpPr>
          <p:cNvPr id="36" name="Rectangle 35"/>
          <p:cNvSpPr/>
          <p:nvPr/>
        </p:nvSpPr>
        <p:spPr>
          <a:xfrm>
            <a:off x="6537960" y="3877056"/>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37960" y="4023360"/>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PDF statements, refunds</a:t>
            </a:r>
          </a:p>
        </p:txBody>
      </p:sp>
      <p:sp>
        <p:nvSpPr>
          <p:cNvPr id="38" name="Rectangle 37"/>
          <p:cNvSpPr/>
          <p:nvPr/>
        </p:nvSpPr>
        <p:spPr>
          <a:xfrm>
            <a:off x="6537960" y="4407408"/>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537960" y="4553712"/>
            <a:ext cx="4846320" cy="274320"/>
          </a:xfrm>
          <a:prstGeom prst="rect">
            <a:avLst/>
          </a:prstGeom>
          <a:noFill/>
        </p:spPr>
        <p:txBody>
          <a:bodyPr wrap="square" lIns="0" rIns="0" tIns="0" bIns="0" anchor="t">
            <a:spAutoFit/>
          </a:bodyPr>
          <a:lstStyle/>
          <a:p>
            <a:pPr algn="l">
              <a:lnSpc>
                <a:spcPct val="122000"/>
              </a:lnSpc>
              <a:spcAft>
                <a:spcPts val="200"/>
              </a:spcAft>
            </a:pPr>
            <a:r>
              <a:rPr sz="1250" b="0" i="0">
                <a:solidFill>
                  <a:srgbClr val="0F172A"/>
                </a:solidFill>
                <a:latin typeface="Segoe UI"/>
              </a:rPr>
              <a:t>Handwriting</a:t>
            </a:r>
          </a:p>
        </p:txBody>
      </p:sp>
      <p:sp>
        <p:nvSpPr>
          <p:cNvPr id="40" name="Rectangle 39"/>
          <p:cNvSpPr/>
          <p:nvPr/>
        </p:nvSpPr>
        <p:spPr>
          <a:xfrm>
            <a:off x="6537960" y="493776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777240" y="525780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77240" y="5458968"/>
            <a:ext cx="10637215" cy="365760"/>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A chat window cannot re-photograph the paper, keep a ledger, or stay on your machine.</a:t>
            </a:r>
          </a:p>
        </p:txBody>
      </p:sp>
      <p:sp>
        <p:nvSpPr>
          <p:cNvPr id="43" name="TextBox 42"/>
          <p:cNvSpPr txBox="1"/>
          <p:nvPr/>
        </p:nvSpPr>
        <p:spPr>
          <a:xfrm>
            <a:off x="777240" y="5740146"/>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That is the sanity check the brief asks for, and the reason this is an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Use case</a:t>
            </a:r>
          </a:p>
        </p:txBody>
      </p:sp>
      <p:sp>
        <p:nvSpPr>
          <p:cNvPr id="3" name="Rectangle 2"/>
          <p:cNvSpPr/>
          <p:nvPr/>
        </p:nvSpPr>
        <p:spPr>
          <a:xfrm>
            <a:off x="777240"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5" name="TextBox 4"/>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The arithmetic</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Every input carries its unit</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04</a:t>
            </a:r>
          </a:p>
        </p:txBody>
      </p:sp>
      <p:sp>
        <p:nvSpPr>
          <p:cNvPr id="14" name="TextBox 13"/>
          <p:cNvSpPr txBox="1"/>
          <p:nvPr/>
        </p:nvSpPr>
        <p:spPr>
          <a:xfrm>
            <a:off x="777240" y="1828800"/>
            <a:ext cx="3657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TODAY</a:t>
            </a:r>
          </a:p>
        </p:txBody>
      </p:sp>
      <p:sp>
        <p:nvSpPr>
          <p:cNvPr id="15" name="TextBox 14"/>
          <p:cNvSpPr txBox="1"/>
          <p:nvPr/>
        </p:nvSpPr>
        <p:spPr>
          <a:xfrm>
            <a:off x="795528" y="2103120"/>
            <a:ext cx="1239012"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300</a:t>
            </a:r>
          </a:p>
        </p:txBody>
      </p:sp>
      <p:sp>
        <p:nvSpPr>
          <p:cNvPr id="16" name="TextBox 15"/>
          <p:cNvSpPr txBox="1"/>
          <p:nvPr/>
        </p:nvSpPr>
        <p:spPr>
          <a:xfrm>
            <a:off x="795528" y="2414016"/>
            <a:ext cx="1239012"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receipts / mo</a:t>
            </a:r>
          </a:p>
        </p:txBody>
      </p:sp>
      <p:sp>
        <p:nvSpPr>
          <p:cNvPr id="17" name="TextBox 16"/>
          <p:cNvSpPr txBox="1"/>
          <p:nvPr/>
        </p:nvSpPr>
        <p:spPr>
          <a:xfrm>
            <a:off x="2089404" y="2103120"/>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18" name="TextBox 17"/>
          <p:cNvSpPr txBox="1"/>
          <p:nvPr/>
        </p:nvSpPr>
        <p:spPr>
          <a:xfrm>
            <a:off x="2455164" y="2103120"/>
            <a:ext cx="1239012"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2.0</a:t>
            </a:r>
          </a:p>
        </p:txBody>
      </p:sp>
      <p:sp>
        <p:nvSpPr>
          <p:cNvPr id="19" name="TextBox 18"/>
          <p:cNvSpPr txBox="1"/>
          <p:nvPr/>
        </p:nvSpPr>
        <p:spPr>
          <a:xfrm>
            <a:off x="2455164" y="2414016"/>
            <a:ext cx="1239012"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min / receipt</a:t>
            </a:r>
          </a:p>
        </p:txBody>
      </p:sp>
      <p:sp>
        <p:nvSpPr>
          <p:cNvPr id="20" name="TextBox 19"/>
          <p:cNvSpPr txBox="1"/>
          <p:nvPr/>
        </p:nvSpPr>
        <p:spPr>
          <a:xfrm>
            <a:off x="3749040" y="2103120"/>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21" name="TextBox 20"/>
          <p:cNvSpPr txBox="1"/>
          <p:nvPr/>
        </p:nvSpPr>
        <p:spPr>
          <a:xfrm>
            <a:off x="4114800" y="2103120"/>
            <a:ext cx="1101852"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600</a:t>
            </a:r>
          </a:p>
        </p:txBody>
      </p:sp>
      <p:sp>
        <p:nvSpPr>
          <p:cNvPr id="22" name="TextBox 21"/>
          <p:cNvSpPr txBox="1"/>
          <p:nvPr/>
        </p:nvSpPr>
        <p:spPr>
          <a:xfrm>
            <a:off x="4114800" y="2414016"/>
            <a:ext cx="1101852"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min / mo</a:t>
            </a:r>
          </a:p>
        </p:txBody>
      </p:sp>
      <p:sp>
        <p:nvSpPr>
          <p:cNvPr id="23" name="TextBox 22"/>
          <p:cNvSpPr txBox="1"/>
          <p:nvPr/>
        </p:nvSpPr>
        <p:spPr>
          <a:xfrm>
            <a:off x="5271516" y="2103120"/>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24" name="TextBox 23"/>
          <p:cNvSpPr txBox="1"/>
          <p:nvPr/>
        </p:nvSpPr>
        <p:spPr>
          <a:xfrm>
            <a:off x="5637276" y="2103120"/>
            <a:ext cx="1069848"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10.0</a:t>
            </a:r>
          </a:p>
        </p:txBody>
      </p:sp>
      <p:sp>
        <p:nvSpPr>
          <p:cNvPr id="25" name="TextBox 24"/>
          <p:cNvSpPr txBox="1"/>
          <p:nvPr/>
        </p:nvSpPr>
        <p:spPr>
          <a:xfrm>
            <a:off x="5637276" y="2414016"/>
            <a:ext cx="1069848"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hours</a:t>
            </a:r>
          </a:p>
        </p:txBody>
      </p:sp>
      <p:sp>
        <p:nvSpPr>
          <p:cNvPr id="26" name="TextBox 25"/>
          <p:cNvSpPr txBox="1"/>
          <p:nvPr/>
        </p:nvSpPr>
        <p:spPr>
          <a:xfrm>
            <a:off x="6761988" y="2103120"/>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27" name="TextBox 26"/>
          <p:cNvSpPr txBox="1"/>
          <p:nvPr/>
        </p:nvSpPr>
        <p:spPr>
          <a:xfrm>
            <a:off x="7127748" y="2103120"/>
            <a:ext cx="1303020"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₱156.25</a:t>
            </a:r>
          </a:p>
        </p:txBody>
      </p:sp>
      <p:sp>
        <p:nvSpPr>
          <p:cNvPr id="28" name="TextBox 27"/>
          <p:cNvSpPr txBox="1"/>
          <p:nvPr/>
        </p:nvSpPr>
        <p:spPr>
          <a:xfrm>
            <a:off x="7127748" y="2414016"/>
            <a:ext cx="13030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per hour</a:t>
            </a:r>
          </a:p>
        </p:txBody>
      </p:sp>
      <p:sp>
        <p:nvSpPr>
          <p:cNvPr id="29" name="TextBox 28"/>
          <p:cNvSpPr txBox="1"/>
          <p:nvPr/>
        </p:nvSpPr>
        <p:spPr>
          <a:xfrm>
            <a:off x="8485632" y="2103120"/>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30" name="TextBox 29"/>
          <p:cNvSpPr txBox="1"/>
          <p:nvPr/>
        </p:nvSpPr>
        <p:spPr>
          <a:xfrm>
            <a:off x="8851392" y="2103120"/>
            <a:ext cx="1280160"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₱1,562</a:t>
            </a:r>
          </a:p>
        </p:txBody>
      </p:sp>
      <p:sp>
        <p:nvSpPr>
          <p:cNvPr id="31" name="TextBox 30"/>
          <p:cNvSpPr txBox="1"/>
          <p:nvPr/>
        </p:nvSpPr>
        <p:spPr>
          <a:xfrm>
            <a:off x="8851392" y="2414016"/>
            <a:ext cx="128016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per month</a:t>
            </a:r>
          </a:p>
        </p:txBody>
      </p:sp>
      <p:sp>
        <p:nvSpPr>
          <p:cNvPr id="32" name="Rectangle 31"/>
          <p:cNvSpPr/>
          <p:nvPr/>
        </p:nvSpPr>
        <p:spPr>
          <a:xfrm>
            <a:off x="777240" y="2761488"/>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 y="2980944"/>
            <a:ext cx="3657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WITH SNAG</a:t>
            </a:r>
          </a:p>
        </p:txBody>
      </p:sp>
      <p:sp>
        <p:nvSpPr>
          <p:cNvPr id="34" name="TextBox 33"/>
          <p:cNvSpPr txBox="1"/>
          <p:nvPr/>
        </p:nvSpPr>
        <p:spPr>
          <a:xfrm>
            <a:off x="795528" y="3255264"/>
            <a:ext cx="1239012"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300</a:t>
            </a:r>
          </a:p>
        </p:txBody>
      </p:sp>
      <p:sp>
        <p:nvSpPr>
          <p:cNvPr id="35" name="TextBox 34"/>
          <p:cNvSpPr txBox="1"/>
          <p:nvPr/>
        </p:nvSpPr>
        <p:spPr>
          <a:xfrm>
            <a:off x="795528" y="3566160"/>
            <a:ext cx="1239012"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receipts / mo</a:t>
            </a:r>
          </a:p>
        </p:txBody>
      </p:sp>
      <p:sp>
        <p:nvSpPr>
          <p:cNvPr id="36" name="TextBox 35"/>
          <p:cNvSpPr txBox="1"/>
          <p:nvPr/>
        </p:nvSpPr>
        <p:spPr>
          <a:xfrm>
            <a:off x="2089404" y="3255264"/>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37" name="TextBox 36"/>
          <p:cNvSpPr txBox="1"/>
          <p:nvPr/>
        </p:nvSpPr>
        <p:spPr>
          <a:xfrm>
            <a:off x="2455164" y="3255264"/>
            <a:ext cx="1394460"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15.4%</a:t>
            </a:r>
          </a:p>
        </p:txBody>
      </p:sp>
      <p:sp>
        <p:nvSpPr>
          <p:cNvPr id="38" name="TextBox 37"/>
          <p:cNvSpPr txBox="1"/>
          <p:nvPr/>
        </p:nvSpPr>
        <p:spPr>
          <a:xfrm>
            <a:off x="2455164" y="3566160"/>
            <a:ext cx="139446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held for review</a:t>
            </a:r>
          </a:p>
        </p:txBody>
      </p:sp>
      <p:sp>
        <p:nvSpPr>
          <p:cNvPr id="39" name="TextBox 38"/>
          <p:cNvSpPr txBox="1"/>
          <p:nvPr/>
        </p:nvSpPr>
        <p:spPr>
          <a:xfrm>
            <a:off x="3904488" y="3255264"/>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40" name="TextBox 39"/>
          <p:cNvSpPr txBox="1"/>
          <p:nvPr/>
        </p:nvSpPr>
        <p:spPr>
          <a:xfrm>
            <a:off x="4270248" y="3255264"/>
            <a:ext cx="1156716"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0.5</a:t>
            </a:r>
          </a:p>
        </p:txBody>
      </p:sp>
      <p:sp>
        <p:nvSpPr>
          <p:cNvPr id="41" name="TextBox 40"/>
          <p:cNvSpPr txBox="1"/>
          <p:nvPr/>
        </p:nvSpPr>
        <p:spPr>
          <a:xfrm>
            <a:off x="4270248" y="3566160"/>
            <a:ext cx="1156716"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min / held</a:t>
            </a:r>
          </a:p>
        </p:txBody>
      </p:sp>
      <p:sp>
        <p:nvSpPr>
          <p:cNvPr id="42" name="TextBox 41"/>
          <p:cNvSpPr txBox="1"/>
          <p:nvPr/>
        </p:nvSpPr>
        <p:spPr>
          <a:xfrm>
            <a:off x="5481828" y="3255264"/>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43" name="TextBox 42"/>
          <p:cNvSpPr txBox="1"/>
          <p:nvPr/>
        </p:nvSpPr>
        <p:spPr>
          <a:xfrm>
            <a:off x="5847588" y="3255264"/>
            <a:ext cx="1051560"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23</a:t>
            </a:r>
          </a:p>
        </p:txBody>
      </p:sp>
      <p:sp>
        <p:nvSpPr>
          <p:cNvPr id="44" name="TextBox 43"/>
          <p:cNvSpPr txBox="1"/>
          <p:nvPr/>
        </p:nvSpPr>
        <p:spPr>
          <a:xfrm>
            <a:off x="5847588" y="3566160"/>
            <a:ext cx="105156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min / mo</a:t>
            </a:r>
          </a:p>
        </p:txBody>
      </p:sp>
      <p:sp>
        <p:nvSpPr>
          <p:cNvPr id="45" name="TextBox 44"/>
          <p:cNvSpPr txBox="1"/>
          <p:nvPr/>
        </p:nvSpPr>
        <p:spPr>
          <a:xfrm>
            <a:off x="6954012" y="3255264"/>
            <a:ext cx="310896" cy="310896"/>
          </a:xfrm>
          <a:prstGeom prst="rect">
            <a:avLst/>
          </a:prstGeom>
          <a:noFill/>
        </p:spPr>
        <p:txBody>
          <a:bodyPr wrap="square" lIns="0" rIns="0" tIns="0" bIns="0" anchor="t">
            <a:spAutoFit/>
          </a:bodyPr>
          <a:lstStyle/>
          <a:p>
            <a:pPr algn="ctr">
              <a:lnSpc>
                <a:spcPct val="122000"/>
              </a:lnSpc>
              <a:spcAft>
                <a:spcPts val="200"/>
              </a:spcAft>
            </a:pPr>
            <a:r>
              <a:rPr sz="1300" b="0" i="0">
                <a:solidFill>
                  <a:srgbClr val="8A94A3"/>
                </a:solidFill>
                <a:latin typeface="Segoe UI"/>
              </a:rPr>
              <a:t>=</a:t>
            </a:r>
          </a:p>
        </p:txBody>
      </p:sp>
      <p:sp>
        <p:nvSpPr>
          <p:cNvPr id="46" name="TextBox 45"/>
          <p:cNvSpPr txBox="1"/>
          <p:nvPr/>
        </p:nvSpPr>
        <p:spPr>
          <a:xfrm>
            <a:off x="7319772" y="3255264"/>
            <a:ext cx="1129284" cy="310896"/>
          </a:xfrm>
          <a:prstGeom prst="rect">
            <a:avLst/>
          </a:prstGeom>
          <a:noFill/>
        </p:spPr>
        <p:txBody>
          <a:bodyPr wrap="square" lIns="0" rIns="0" tIns="0" bIns="0" anchor="t">
            <a:spAutoFit/>
          </a:bodyPr>
          <a:lstStyle/>
          <a:p>
            <a:pPr algn="ctr">
              <a:lnSpc>
                <a:spcPct val="122000"/>
              </a:lnSpc>
              <a:spcAft>
                <a:spcPts val="200"/>
              </a:spcAft>
            </a:pPr>
            <a:r>
              <a:rPr sz="1700" b="1" i="0">
                <a:solidFill>
                  <a:srgbClr val="0F172A"/>
                </a:solidFill>
                <a:latin typeface="Segoe UI"/>
              </a:rPr>
              <a:t>₱64</a:t>
            </a:r>
          </a:p>
        </p:txBody>
      </p:sp>
      <p:sp>
        <p:nvSpPr>
          <p:cNvPr id="47" name="TextBox 46"/>
          <p:cNvSpPr txBox="1"/>
          <p:nvPr/>
        </p:nvSpPr>
        <p:spPr>
          <a:xfrm>
            <a:off x="7319772" y="3566160"/>
            <a:ext cx="1129284"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8A94A3"/>
                </a:solidFill>
                <a:latin typeface="Segoe UI"/>
              </a:rPr>
              <a:t>per month</a:t>
            </a:r>
          </a:p>
        </p:txBody>
      </p:sp>
      <p:sp>
        <p:nvSpPr>
          <p:cNvPr id="48" name="Rectangle 47"/>
          <p:cNvSpPr/>
          <p:nvPr/>
        </p:nvSpPr>
        <p:spPr>
          <a:xfrm>
            <a:off x="777240" y="391363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77240" y="4187952"/>
            <a:ext cx="2659304" cy="475488"/>
          </a:xfrm>
          <a:prstGeom prst="rect">
            <a:avLst/>
          </a:prstGeom>
          <a:noFill/>
        </p:spPr>
        <p:txBody>
          <a:bodyPr wrap="square" lIns="0" rIns="0" tIns="0" bIns="0" anchor="t">
            <a:spAutoFit/>
          </a:bodyPr>
          <a:lstStyle/>
          <a:p>
            <a:pPr algn="l">
              <a:lnSpc>
                <a:spcPct val="100000"/>
              </a:lnSpc>
              <a:spcAft>
                <a:spcPts val="200"/>
              </a:spcAft>
            </a:pPr>
            <a:r>
              <a:rPr sz="2900" b="1" i="0">
                <a:solidFill>
                  <a:srgbClr val="0F172A"/>
                </a:solidFill>
                <a:latin typeface="Segoe UI"/>
              </a:rPr>
              <a:t>9.6 h</a:t>
            </a:r>
          </a:p>
        </p:txBody>
      </p:sp>
      <p:sp>
        <p:nvSpPr>
          <p:cNvPr id="50" name="TextBox 49"/>
          <p:cNvSpPr txBox="1"/>
          <p:nvPr/>
        </p:nvSpPr>
        <p:spPr>
          <a:xfrm>
            <a:off x="777240" y="4627321"/>
            <a:ext cx="265930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saved / month</a:t>
            </a:r>
          </a:p>
        </p:txBody>
      </p:sp>
      <p:sp>
        <p:nvSpPr>
          <p:cNvPr id="51" name="TextBox 50"/>
          <p:cNvSpPr txBox="1"/>
          <p:nvPr/>
        </p:nvSpPr>
        <p:spPr>
          <a:xfrm>
            <a:off x="3436544" y="4187952"/>
            <a:ext cx="2659304" cy="475488"/>
          </a:xfrm>
          <a:prstGeom prst="rect">
            <a:avLst/>
          </a:prstGeom>
          <a:noFill/>
        </p:spPr>
        <p:txBody>
          <a:bodyPr wrap="square" lIns="0" rIns="0" tIns="0" bIns="0" anchor="t">
            <a:spAutoFit/>
          </a:bodyPr>
          <a:lstStyle/>
          <a:p>
            <a:pPr algn="l">
              <a:lnSpc>
                <a:spcPct val="100000"/>
              </a:lnSpc>
              <a:spcAft>
                <a:spcPts val="200"/>
              </a:spcAft>
            </a:pPr>
            <a:r>
              <a:rPr sz="2900" b="1" i="0">
                <a:solidFill>
                  <a:srgbClr val="0F172A"/>
                </a:solidFill>
                <a:latin typeface="Segoe UI"/>
              </a:rPr>
              <a:t>₱1,498</a:t>
            </a:r>
          </a:p>
        </p:txBody>
      </p:sp>
      <p:sp>
        <p:nvSpPr>
          <p:cNvPr id="52" name="TextBox 51"/>
          <p:cNvSpPr txBox="1"/>
          <p:nvPr/>
        </p:nvSpPr>
        <p:spPr>
          <a:xfrm>
            <a:off x="3436544" y="4627321"/>
            <a:ext cx="265930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saved / month</a:t>
            </a:r>
          </a:p>
        </p:txBody>
      </p:sp>
      <p:sp>
        <p:nvSpPr>
          <p:cNvPr id="53" name="TextBox 52"/>
          <p:cNvSpPr txBox="1"/>
          <p:nvPr/>
        </p:nvSpPr>
        <p:spPr>
          <a:xfrm>
            <a:off x="6095848" y="4187952"/>
            <a:ext cx="2659304" cy="475488"/>
          </a:xfrm>
          <a:prstGeom prst="rect">
            <a:avLst/>
          </a:prstGeom>
          <a:noFill/>
        </p:spPr>
        <p:txBody>
          <a:bodyPr wrap="square" lIns="0" rIns="0" tIns="0" bIns="0" anchor="t">
            <a:spAutoFit/>
          </a:bodyPr>
          <a:lstStyle/>
          <a:p>
            <a:pPr algn="l">
              <a:lnSpc>
                <a:spcPct val="100000"/>
              </a:lnSpc>
              <a:spcAft>
                <a:spcPts val="200"/>
              </a:spcAft>
            </a:pPr>
            <a:r>
              <a:rPr sz="2900" b="1" i="0">
                <a:solidFill>
                  <a:srgbClr val="B45309"/>
                </a:solidFill>
                <a:latin typeface="Segoe UI"/>
              </a:rPr>
              <a:t>₱17,982</a:t>
            </a:r>
          </a:p>
        </p:txBody>
      </p:sp>
      <p:sp>
        <p:nvSpPr>
          <p:cNvPr id="54" name="TextBox 53"/>
          <p:cNvSpPr txBox="1"/>
          <p:nvPr/>
        </p:nvSpPr>
        <p:spPr>
          <a:xfrm>
            <a:off x="6095848" y="4627321"/>
            <a:ext cx="265930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saved / year</a:t>
            </a:r>
          </a:p>
        </p:txBody>
      </p:sp>
      <p:sp>
        <p:nvSpPr>
          <p:cNvPr id="55" name="TextBox 54"/>
          <p:cNvSpPr txBox="1"/>
          <p:nvPr/>
        </p:nvSpPr>
        <p:spPr>
          <a:xfrm>
            <a:off x="8755151" y="4187952"/>
            <a:ext cx="2659304" cy="475488"/>
          </a:xfrm>
          <a:prstGeom prst="rect">
            <a:avLst/>
          </a:prstGeom>
          <a:noFill/>
        </p:spPr>
        <p:txBody>
          <a:bodyPr wrap="square" lIns="0" rIns="0" tIns="0" bIns="0" anchor="t">
            <a:spAutoFit/>
          </a:bodyPr>
          <a:lstStyle/>
          <a:p>
            <a:pPr algn="l">
              <a:lnSpc>
                <a:spcPct val="100000"/>
              </a:lnSpc>
              <a:spcAft>
                <a:spcPts val="200"/>
              </a:spcAft>
            </a:pPr>
            <a:r>
              <a:rPr sz="2900" b="1" i="0">
                <a:solidFill>
                  <a:srgbClr val="B45309"/>
                </a:solidFill>
                <a:latin typeface="Segoe UI"/>
              </a:rPr>
              <a:t>26×</a:t>
            </a:r>
          </a:p>
        </p:txBody>
      </p:sp>
      <p:sp>
        <p:nvSpPr>
          <p:cNvPr id="56" name="TextBox 55"/>
          <p:cNvSpPr txBox="1"/>
          <p:nvPr/>
        </p:nvSpPr>
        <p:spPr>
          <a:xfrm>
            <a:off x="8755151" y="4627321"/>
            <a:ext cx="265930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less human time</a:t>
            </a:r>
          </a:p>
        </p:txBody>
      </p:sp>
      <p:sp>
        <p:nvSpPr>
          <p:cNvPr id="57" name="Rectangle 56"/>
          <p:cNvSpPr/>
          <p:nvPr/>
        </p:nvSpPr>
        <p:spPr>
          <a:xfrm>
            <a:off x="777240" y="55778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77240" y="572414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Measured vs assumed:  </a:t>
            </a:r>
            <a:r>
              <a:rPr sz="1050" b="0" i="0">
                <a:solidFill>
                  <a:srgbClr val="8A94A3"/>
                </a:solidFill>
                <a:latin typeface="Segoe UI"/>
              </a:rPr>
              <a:t>15.4% and 14.9 s/page come from our own traces. The other six inputs are declared assumptions, and every one carries its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Use case</a:t>
            </a:r>
          </a:p>
        </p:txBody>
      </p:sp>
      <p:sp>
        <p:nvSpPr>
          <p:cNvPr id="3" name="Rectangle 2"/>
          <p:cNvSpPr/>
          <p:nvPr/>
        </p:nvSpPr>
        <p:spPr>
          <a:xfrm>
            <a:off x="777240"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5" name="TextBox 4"/>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What it costs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Per month, for the same 300 receipts</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05</a:t>
            </a:r>
          </a:p>
        </p:txBody>
      </p:sp>
      <p:sp>
        <p:nvSpPr>
          <p:cNvPr id="14" name="Rectangle 13"/>
          <p:cNvSpPr/>
          <p:nvPr/>
        </p:nvSpPr>
        <p:spPr>
          <a:xfrm>
            <a:off x="777240" y="1773936"/>
            <a:ext cx="3179978"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956816"/>
            <a:ext cx="3179978" cy="475488"/>
          </a:xfrm>
          <a:prstGeom prst="rect">
            <a:avLst/>
          </a:prstGeom>
          <a:noFill/>
        </p:spPr>
        <p:txBody>
          <a:bodyPr wrap="square" lIns="0" rIns="0" tIns="0" bIns="0" anchor="t">
            <a:spAutoFit/>
          </a:bodyPr>
          <a:lstStyle/>
          <a:p>
            <a:pPr algn="l">
              <a:lnSpc>
                <a:spcPct val="100000"/>
              </a:lnSpc>
              <a:spcAft>
                <a:spcPts val="200"/>
              </a:spcAft>
            </a:pPr>
            <a:r>
              <a:rPr sz="3800" b="1" i="0">
                <a:solidFill>
                  <a:srgbClr val="0F172A"/>
                </a:solidFill>
                <a:latin typeface="Segoe UI"/>
              </a:rPr>
              <a:t>₱1,562</a:t>
            </a:r>
          </a:p>
        </p:txBody>
      </p:sp>
      <p:sp>
        <p:nvSpPr>
          <p:cNvPr id="16" name="TextBox 15"/>
          <p:cNvSpPr txBox="1"/>
          <p:nvPr/>
        </p:nvSpPr>
        <p:spPr>
          <a:xfrm>
            <a:off x="777240" y="2515514"/>
            <a:ext cx="3179978" cy="237744"/>
          </a:xfrm>
          <a:prstGeom prst="rect">
            <a:avLst/>
          </a:prstGeom>
          <a:noFill/>
        </p:spPr>
        <p:txBody>
          <a:bodyPr wrap="square" lIns="0" rIns="0" tIns="0" bIns="0" anchor="t">
            <a:spAutoFit/>
          </a:bodyPr>
          <a:lstStyle/>
          <a:p>
            <a:pPr algn="l">
              <a:lnSpc>
                <a:spcPct val="122000"/>
              </a:lnSpc>
              <a:spcAft>
                <a:spcPts val="200"/>
              </a:spcAft>
            </a:pPr>
            <a:r>
              <a:rPr sz="1300" b="0" i="0">
                <a:solidFill>
                  <a:srgbClr val="3F4B5C"/>
                </a:solidFill>
                <a:latin typeface="Segoe UI"/>
              </a:rPr>
              <a:t>one pair of hands</a:t>
            </a:r>
          </a:p>
        </p:txBody>
      </p:sp>
      <p:sp>
        <p:nvSpPr>
          <p:cNvPr id="17" name="TextBox 16"/>
          <p:cNvSpPr txBox="1"/>
          <p:nvPr/>
        </p:nvSpPr>
        <p:spPr>
          <a:xfrm>
            <a:off x="777240" y="2734970"/>
            <a:ext cx="3179978" cy="237744"/>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10 hours of typing, every month</a:t>
            </a:r>
          </a:p>
        </p:txBody>
      </p:sp>
      <p:sp>
        <p:nvSpPr>
          <p:cNvPr id="18" name="Rectangle 17"/>
          <p:cNvSpPr/>
          <p:nvPr/>
        </p:nvSpPr>
        <p:spPr>
          <a:xfrm>
            <a:off x="4322978" y="1773936"/>
            <a:ext cx="3179978"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22978" y="1956816"/>
            <a:ext cx="3179978" cy="475488"/>
          </a:xfrm>
          <a:prstGeom prst="rect">
            <a:avLst/>
          </a:prstGeom>
          <a:noFill/>
        </p:spPr>
        <p:txBody>
          <a:bodyPr wrap="square" lIns="0" rIns="0" tIns="0" bIns="0" anchor="t">
            <a:spAutoFit/>
          </a:bodyPr>
          <a:lstStyle/>
          <a:p>
            <a:pPr algn="l">
              <a:lnSpc>
                <a:spcPct val="100000"/>
              </a:lnSpc>
              <a:spcAft>
                <a:spcPts val="200"/>
              </a:spcAft>
            </a:pPr>
            <a:r>
              <a:rPr sz="3800" b="1" i="0">
                <a:solidFill>
                  <a:srgbClr val="0F172A"/>
                </a:solidFill>
                <a:latin typeface="Segoe UI"/>
              </a:rPr>
              <a:t>₱1,160</a:t>
            </a:r>
          </a:p>
        </p:txBody>
      </p:sp>
      <p:sp>
        <p:nvSpPr>
          <p:cNvPr id="20" name="TextBox 19"/>
          <p:cNvSpPr txBox="1"/>
          <p:nvPr/>
        </p:nvSpPr>
        <p:spPr>
          <a:xfrm>
            <a:off x="4322978" y="2515514"/>
            <a:ext cx="3179978" cy="237744"/>
          </a:xfrm>
          <a:prstGeom prst="rect">
            <a:avLst/>
          </a:prstGeom>
          <a:noFill/>
        </p:spPr>
        <p:txBody>
          <a:bodyPr wrap="square" lIns="0" rIns="0" tIns="0" bIns="0" anchor="t">
            <a:spAutoFit/>
          </a:bodyPr>
          <a:lstStyle/>
          <a:p>
            <a:pPr algn="l">
              <a:lnSpc>
                <a:spcPct val="122000"/>
              </a:lnSpc>
              <a:spcAft>
                <a:spcPts val="200"/>
              </a:spcAft>
            </a:pPr>
            <a:r>
              <a:rPr sz="1300" b="0" i="0">
                <a:solidFill>
                  <a:srgbClr val="3F4B5C"/>
                </a:solidFill>
                <a:latin typeface="Segoe UI"/>
              </a:rPr>
              <a:t>a Claude subscription</a:t>
            </a:r>
          </a:p>
        </p:txBody>
      </p:sp>
      <p:sp>
        <p:nvSpPr>
          <p:cNvPr id="21" name="TextBox 20"/>
          <p:cNvSpPr txBox="1"/>
          <p:nvPr/>
        </p:nvSpPr>
        <p:spPr>
          <a:xfrm>
            <a:off x="4322978" y="2734970"/>
            <a:ext cx="3179978" cy="237744"/>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$20 a month, and you wire it up yourself</a:t>
            </a:r>
          </a:p>
        </p:txBody>
      </p:sp>
      <p:sp>
        <p:nvSpPr>
          <p:cNvPr id="22" name="Rectangle 21"/>
          <p:cNvSpPr/>
          <p:nvPr/>
        </p:nvSpPr>
        <p:spPr>
          <a:xfrm>
            <a:off x="7868717" y="1773936"/>
            <a:ext cx="3179978"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8717" y="1956816"/>
            <a:ext cx="3179978" cy="475488"/>
          </a:xfrm>
          <a:prstGeom prst="rect">
            <a:avLst/>
          </a:prstGeom>
          <a:noFill/>
        </p:spPr>
        <p:txBody>
          <a:bodyPr wrap="square" lIns="0" rIns="0" tIns="0" bIns="0" anchor="t">
            <a:spAutoFit/>
          </a:bodyPr>
          <a:lstStyle/>
          <a:p>
            <a:pPr algn="l">
              <a:lnSpc>
                <a:spcPct val="100000"/>
              </a:lnSpc>
              <a:spcAft>
                <a:spcPts val="200"/>
              </a:spcAft>
            </a:pPr>
            <a:r>
              <a:rPr sz="3800" b="1" i="0">
                <a:solidFill>
                  <a:srgbClr val="B45309"/>
                </a:solidFill>
                <a:latin typeface="Segoe UI"/>
              </a:rPr>
              <a:t>₱99</a:t>
            </a:r>
          </a:p>
        </p:txBody>
      </p:sp>
      <p:sp>
        <p:nvSpPr>
          <p:cNvPr id="24" name="TextBox 23"/>
          <p:cNvSpPr txBox="1"/>
          <p:nvPr/>
        </p:nvSpPr>
        <p:spPr>
          <a:xfrm>
            <a:off x="7868717" y="2515514"/>
            <a:ext cx="3179978" cy="237744"/>
          </a:xfrm>
          <a:prstGeom prst="rect">
            <a:avLst/>
          </a:prstGeom>
          <a:noFill/>
        </p:spPr>
        <p:txBody>
          <a:bodyPr wrap="square" lIns="0" rIns="0" tIns="0" bIns="0" anchor="t">
            <a:spAutoFit/>
          </a:bodyPr>
          <a:lstStyle/>
          <a:p>
            <a:pPr algn="l">
              <a:lnSpc>
                <a:spcPct val="122000"/>
              </a:lnSpc>
              <a:spcAft>
                <a:spcPts val="200"/>
              </a:spcAft>
            </a:pPr>
            <a:r>
              <a:rPr sz="1300" b="0" i="0">
                <a:solidFill>
                  <a:srgbClr val="3F4B5C"/>
                </a:solidFill>
                <a:latin typeface="Segoe UI"/>
              </a:rPr>
              <a:t>Snag</a:t>
            </a:r>
          </a:p>
        </p:txBody>
      </p:sp>
      <p:sp>
        <p:nvSpPr>
          <p:cNvPr id="25" name="TextBox 24"/>
          <p:cNvSpPr txBox="1"/>
          <p:nvPr/>
        </p:nvSpPr>
        <p:spPr>
          <a:xfrm>
            <a:off x="7868717" y="2734970"/>
            <a:ext cx="3179978" cy="237744"/>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set up, running, nothing to configure</a:t>
            </a:r>
          </a:p>
        </p:txBody>
      </p:sp>
      <p:sp>
        <p:nvSpPr>
          <p:cNvPr id="26" name="Rounded Rectangle 25"/>
          <p:cNvSpPr/>
          <p:nvPr/>
        </p:nvSpPr>
        <p:spPr>
          <a:xfrm>
            <a:off x="777240" y="3291840"/>
            <a:ext cx="2234794"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16× cheaper than typing them</a:t>
            </a:r>
          </a:p>
        </p:txBody>
      </p:sp>
      <p:sp>
        <p:nvSpPr>
          <p:cNvPr id="27" name="Rounded Rectangle 26"/>
          <p:cNvSpPr/>
          <p:nvPr/>
        </p:nvSpPr>
        <p:spPr>
          <a:xfrm>
            <a:off x="3140050" y="3291840"/>
            <a:ext cx="2448763"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12× cheaper than a subscription</a:t>
            </a:r>
          </a:p>
        </p:txBody>
      </p:sp>
      <p:sp>
        <p:nvSpPr>
          <p:cNvPr id="28" name="Rounded Rectangle 27"/>
          <p:cNvSpPr/>
          <p:nvPr/>
        </p:nvSpPr>
        <p:spPr>
          <a:xfrm>
            <a:off x="5716829" y="3291840"/>
            <a:ext cx="1521562"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0 minutes of setup</a:t>
            </a:r>
          </a:p>
        </p:txBody>
      </p:sp>
      <p:sp>
        <p:nvSpPr>
          <p:cNvPr id="29" name="Rectangle 28"/>
          <p:cNvSpPr/>
          <p:nvPr/>
        </p:nvSpPr>
        <p:spPr>
          <a:xfrm>
            <a:off x="777240" y="402336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77240" y="4224528"/>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Cheaper, and already running.</a:t>
            </a:r>
          </a:p>
        </p:txBody>
      </p:sp>
      <p:sp>
        <p:nvSpPr>
          <p:cNvPr id="31" name="TextBox 30"/>
          <p:cNvSpPr txBox="1"/>
          <p:nvPr/>
        </p:nvSpPr>
        <p:spPr>
          <a:xfrm>
            <a:off x="777240" y="4535881"/>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convenient option is the one people keep using. A subscription you have to configure is a subscription that sits unused by week two; a box that already works is one the bookkeeper opens on Monday.</a:t>
            </a:r>
          </a:p>
        </p:txBody>
      </p:sp>
      <p:sp>
        <p:nvSpPr>
          <p:cNvPr id="32" name="Rectangle 31"/>
          <p:cNvSpPr/>
          <p:nvPr/>
        </p:nvSpPr>
        <p:spPr>
          <a:xfrm>
            <a:off x="777240" y="539496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 y="554126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Unit of measurement:  </a:t>
            </a:r>
            <a:r>
              <a:rPr sz="1050" b="0" i="0">
                <a:solidFill>
                  <a:srgbClr val="8A94A3"/>
                </a:solidFill>
                <a:latin typeface="Segoe UI"/>
              </a:rPr>
              <a:t>all three are pesos per month for 300 receipts. The subscription line converts $20 at ₱58 = $1. Confirm the rate before you quote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RRL</a:t>
            </a:r>
          </a:p>
        </p:txBody>
      </p:sp>
      <p:sp>
        <p:nvSpPr>
          <p:cNvPr id="4" name="Rectangle 3"/>
          <p:cNvSpPr/>
          <p:nvPr/>
        </p:nvSpPr>
        <p:spPr>
          <a:xfrm>
            <a:off x="1636776" y="571500"/>
            <a:ext cx="21031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Review of related literature</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One unlabelled receipt decided it before accuracy ever came up.</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06</a:t>
            </a:r>
          </a:p>
        </p:txBody>
      </p:sp>
      <p:sp>
        <p:nvSpPr>
          <p:cNvPr id="14" name="Rounded Rectangle 13"/>
          <p:cNvSpPr/>
          <p:nvPr/>
        </p:nvSpPr>
        <p:spPr>
          <a:xfrm>
            <a:off x="6720840" y="3131820"/>
            <a:ext cx="3931920" cy="1074420"/>
          </a:xfrm>
          <a:prstGeom prst="roundRect">
            <a:avLst>
              <a:gd name="adj" fmla="val 2000"/>
            </a:avLst>
          </a:prstGeom>
          <a:solidFill>
            <a:srgbClr val="FD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2788920" y="2057400"/>
            <a:ext cx="786384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88920" y="3131820"/>
            <a:ext cx="786384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88920" y="4206240"/>
            <a:ext cx="786384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2788920" y="2057400"/>
            <a:ext cx="8230" cy="214884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720840" y="2057400"/>
            <a:ext cx="8230" cy="214884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10652760" y="2057400"/>
            <a:ext cx="8230" cy="214884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788920" y="1783080"/>
            <a:ext cx="3931920" cy="201168"/>
          </a:xfrm>
          <a:prstGeom prst="rect">
            <a:avLst/>
          </a:prstGeom>
          <a:noFill/>
        </p:spPr>
        <p:txBody>
          <a:bodyPr wrap="square" lIns="0" rIns="0" tIns="0" bIns="0" anchor="t">
            <a:spAutoFit/>
          </a:bodyPr>
          <a:lstStyle/>
          <a:p>
            <a:pPr algn="ctr">
              <a:lnSpc>
                <a:spcPct val="122000"/>
              </a:lnSpc>
              <a:spcAft>
                <a:spcPts val="200"/>
              </a:spcAft>
            </a:pPr>
            <a:r>
              <a:rPr sz="850" b="1" i="0" spc="90">
                <a:solidFill>
                  <a:srgbClr val="8A94A3"/>
                </a:solidFill>
                <a:latin typeface="Segoe UI"/>
              </a:rPr>
              <a:t>LEAVES THE MACHINE</a:t>
            </a:r>
          </a:p>
        </p:txBody>
      </p:sp>
      <p:sp>
        <p:nvSpPr>
          <p:cNvPr id="22" name="TextBox 21"/>
          <p:cNvSpPr txBox="1"/>
          <p:nvPr/>
        </p:nvSpPr>
        <p:spPr>
          <a:xfrm>
            <a:off x="6720840" y="1783080"/>
            <a:ext cx="3931920" cy="201168"/>
          </a:xfrm>
          <a:prstGeom prst="rect">
            <a:avLst/>
          </a:prstGeom>
          <a:noFill/>
        </p:spPr>
        <p:txBody>
          <a:bodyPr wrap="square" lIns="0" rIns="0" tIns="0" bIns="0" anchor="t">
            <a:spAutoFit/>
          </a:bodyPr>
          <a:lstStyle/>
          <a:p>
            <a:pPr algn="ctr">
              <a:lnSpc>
                <a:spcPct val="122000"/>
              </a:lnSpc>
              <a:spcAft>
                <a:spcPts val="200"/>
              </a:spcAft>
            </a:pPr>
            <a:r>
              <a:rPr sz="850" b="1" i="0" spc="90">
                <a:solidFill>
                  <a:srgbClr val="0F172A"/>
                </a:solidFill>
                <a:latin typeface="Segoe UI"/>
              </a:rPr>
              <a:t>STAYS LOCAL</a:t>
            </a:r>
          </a:p>
        </p:txBody>
      </p:sp>
      <p:sp>
        <p:nvSpPr>
          <p:cNvPr id="23" name="TextBox 22"/>
          <p:cNvSpPr txBox="1"/>
          <p:nvPr/>
        </p:nvSpPr>
        <p:spPr>
          <a:xfrm>
            <a:off x="777240" y="2459736"/>
            <a:ext cx="1783080" cy="201168"/>
          </a:xfrm>
          <a:prstGeom prst="rect">
            <a:avLst/>
          </a:prstGeom>
          <a:noFill/>
        </p:spPr>
        <p:txBody>
          <a:bodyPr wrap="square" lIns="0" rIns="0" tIns="0" bIns="0" anchor="t">
            <a:spAutoFit/>
          </a:bodyPr>
          <a:lstStyle/>
          <a:p>
            <a:pPr algn="r">
              <a:lnSpc>
                <a:spcPct val="122000"/>
              </a:lnSpc>
              <a:spcAft>
                <a:spcPts val="200"/>
              </a:spcAft>
            </a:pPr>
            <a:r>
              <a:rPr sz="850" b="1" i="0" spc="90">
                <a:solidFill>
                  <a:srgbClr val="8A94A3"/>
                </a:solidFill>
                <a:latin typeface="Segoe UI"/>
              </a:rPr>
              <a:t>NEEDS
LABELLED DATA</a:t>
            </a:r>
          </a:p>
        </p:txBody>
      </p:sp>
      <p:sp>
        <p:nvSpPr>
          <p:cNvPr id="24" name="TextBox 23"/>
          <p:cNvSpPr txBox="1"/>
          <p:nvPr/>
        </p:nvSpPr>
        <p:spPr>
          <a:xfrm>
            <a:off x="777240" y="3589020"/>
            <a:ext cx="1783080" cy="201168"/>
          </a:xfrm>
          <a:prstGeom prst="rect">
            <a:avLst/>
          </a:prstGeom>
          <a:noFill/>
        </p:spPr>
        <p:txBody>
          <a:bodyPr wrap="square" lIns="0" rIns="0" tIns="0" bIns="0" anchor="t">
            <a:spAutoFit/>
          </a:bodyPr>
          <a:lstStyle/>
          <a:p>
            <a:pPr algn="r">
              <a:lnSpc>
                <a:spcPct val="122000"/>
              </a:lnSpc>
              <a:spcAft>
                <a:spcPts val="200"/>
              </a:spcAft>
            </a:pPr>
            <a:r>
              <a:rPr sz="850" b="1" i="0" spc="90">
                <a:solidFill>
                  <a:srgbClr val="0F172A"/>
                </a:solidFill>
                <a:latin typeface="Segoe UI"/>
              </a:rPr>
              <a:t>ZERO-SHOT</a:t>
            </a:r>
          </a:p>
        </p:txBody>
      </p:sp>
      <p:sp>
        <p:nvSpPr>
          <p:cNvPr id="25" name="TextBox 24"/>
          <p:cNvSpPr txBox="1"/>
          <p:nvPr/>
        </p:nvSpPr>
        <p:spPr>
          <a:xfrm>
            <a:off x="3063240" y="233172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26" name="TextBox 25"/>
          <p:cNvSpPr txBox="1"/>
          <p:nvPr/>
        </p:nvSpPr>
        <p:spPr>
          <a:xfrm>
            <a:off x="3337560" y="2304288"/>
            <a:ext cx="324612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3F4B5C"/>
                </a:solidFill>
                <a:latin typeface="Segoe UI"/>
              </a:rPr>
              <a:t>Cloud Document AI</a:t>
            </a:r>
          </a:p>
        </p:txBody>
      </p:sp>
      <p:sp>
        <p:nvSpPr>
          <p:cNvPr id="27" name="TextBox 26"/>
          <p:cNvSpPr txBox="1"/>
          <p:nvPr/>
        </p:nvSpPr>
        <p:spPr>
          <a:xfrm>
            <a:off x="3337560" y="2606040"/>
            <a:ext cx="3246120" cy="274320"/>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Textract · Google · Azure</a:t>
            </a:r>
          </a:p>
        </p:txBody>
      </p:sp>
      <p:sp>
        <p:nvSpPr>
          <p:cNvPr id="28" name="TextBox 27"/>
          <p:cNvSpPr txBox="1"/>
          <p:nvPr/>
        </p:nvSpPr>
        <p:spPr>
          <a:xfrm>
            <a:off x="6995160" y="233172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29" name="TextBox 28"/>
          <p:cNvSpPr txBox="1"/>
          <p:nvPr/>
        </p:nvSpPr>
        <p:spPr>
          <a:xfrm>
            <a:off x="7269480" y="2304288"/>
            <a:ext cx="324612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3F4B5C"/>
                </a:solidFill>
                <a:latin typeface="Segoe UI"/>
              </a:rPr>
              <a:t>Layout transformers</a:t>
            </a:r>
          </a:p>
        </p:txBody>
      </p:sp>
      <p:sp>
        <p:nvSpPr>
          <p:cNvPr id="30" name="TextBox 29"/>
          <p:cNvSpPr txBox="1"/>
          <p:nvPr/>
        </p:nvSpPr>
        <p:spPr>
          <a:xfrm>
            <a:off x="7269480" y="2606040"/>
            <a:ext cx="3246120" cy="274320"/>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LayoutLMv3 · Donut</a:t>
            </a:r>
          </a:p>
        </p:txBody>
      </p:sp>
      <p:sp>
        <p:nvSpPr>
          <p:cNvPr id="31" name="TextBox 30"/>
          <p:cNvSpPr txBox="1"/>
          <p:nvPr/>
        </p:nvSpPr>
        <p:spPr>
          <a:xfrm>
            <a:off x="3063240" y="340614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32" name="TextBox 31"/>
          <p:cNvSpPr txBox="1"/>
          <p:nvPr/>
        </p:nvSpPr>
        <p:spPr>
          <a:xfrm>
            <a:off x="3337560" y="3378708"/>
            <a:ext cx="324612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3F4B5C"/>
                </a:solidFill>
                <a:latin typeface="Segoe UI"/>
              </a:rPr>
              <a:t>Classical OCR</a:t>
            </a:r>
          </a:p>
        </p:txBody>
      </p:sp>
      <p:sp>
        <p:nvSpPr>
          <p:cNvPr id="33" name="TextBox 32"/>
          <p:cNvSpPr txBox="1"/>
          <p:nvPr/>
        </p:nvSpPr>
        <p:spPr>
          <a:xfrm>
            <a:off x="3337560" y="3680460"/>
            <a:ext cx="3246120" cy="274320"/>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Tesseract · PaddleOCR</a:t>
            </a:r>
          </a:p>
        </p:txBody>
      </p:sp>
      <p:sp>
        <p:nvSpPr>
          <p:cNvPr id="34" name="TextBox 33"/>
          <p:cNvSpPr txBox="1"/>
          <p:nvPr/>
        </p:nvSpPr>
        <p:spPr>
          <a:xfrm>
            <a:off x="6995160" y="3406140"/>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35" name="TextBox 34"/>
          <p:cNvSpPr txBox="1"/>
          <p:nvPr/>
        </p:nvSpPr>
        <p:spPr>
          <a:xfrm>
            <a:off x="7269480" y="3378708"/>
            <a:ext cx="324612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Open vision-language models</a:t>
            </a:r>
          </a:p>
        </p:txBody>
      </p:sp>
      <p:sp>
        <p:nvSpPr>
          <p:cNvPr id="36" name="TextBox 35"/>
          <p:cNvSpPr txBox="1"/>
          <p:nvPr/>
        </p:nvSpPr>
        <p:spPr>
          <a:xfrm>
            <a:off x="7269480" y="3680460"/>
            <a:ext cx="3246120" cy="274320"/>
          </a:xfrm>
          <a:prstGeom prst="rect">
            <a:avLst/>
          </a:prstGeom>
          <a:noFill/>
        </p:spPr>
        <p:txBody>
          <a:bodyPr wrap="square" lIns="0" rIns="0" tIns="0" bIns="0" anchor="t">
            <a:spAutoFit/>
          </a:bodyPr>
          <a:lstStyle/>
          <a:p>
            <a:pPr algn="l">
              <a:lnSpc>
                <a:spcPct val="122000"/>
              </a:lnSpc>
              <a:spcAft>
                <a:spcPts val="200"/>
              </a:spcAft>
            </a:pPr>
            <a:r>
              <a:rPr sz="1050" b="0" i="0">
                <a:solidFill>
                  <a:srgbClr val="B45309"/>
                </a:solidFill>
                <a:latin typeface="Segoe UI"/>
              </a:rPr>
              <a:t>Qwen2.5-VL · Llama 3.2-V · Gemma 4</a:t>
            </a:r>
          </a:p>
        </p:txBody>
      </p:sp>
      <p:sp>
        <p:nvSpPr>
          <p:cNvPr id="37" name="Rectangle 36"/>
          <p:cNvSpPr/>
          <p:nvPr/>
        </p:nvSpPr>
        <p:spPr>
          <a:xfrm>
            <a:off x="777240" y="448056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7240" y="4663440"/>
            <a:ext cx="3657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WHAT WE RUN</a:t>
            </a:r>
          </a:p>
        </p:txBody>
      </p:sp>
      <p:sp>
        <p:nvSpPr>
          <p:cNvPr id="39" name="TextBox 38"/>
          <p:cNvSpPr txBox="1"/>
          <p:nvPr/>
        </p:nvSpPr>
        <p:spPr>
          <a:xfrm>
            <a:off x="777240" y="4937760"/>
            <a:ext cx="3545738"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B45309"/>
                </a:solidFill>
                <a:latin typeface="Segoe UI"/>
              </a:rPr>
              <a:t>Vision</a:t>
            </a:r>
          </a:p>
        </p:txBody>
      </p:sp>
      <p:sp>
        <p:nvSpPr>
          <p:cNvPr id="40" name="TextBox 39"/>
          <p:cNvSpPr txBox="1"/>
          <p:nvPr/>
        </p:nvSpPr>
        <p:spPr>
          <a:xfrm>
            <a:off x="832104" y="5193792"/>
            <a:ext cx="3436010"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gemma4:e4b  ·  ~4B</a:t>
            </a:r>
          </a:p>
        </p:txBody>
      </p:sp>
      <p:sp>
        <p:nvSpPr>
          <p:cNvPr id="41" name="TextBox 40"/>
          <p:cNvSpPr txBox="1"/>
          <p:nvPr/>
        </p:nvSpPr>
        <p:spPr>
          <a:xfrm>
            <a:off x="4185818" y="492861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42" name="TextBox 41"/>
          <p:cNvSpPr txBox="1"/>
          <p:nvPr/>
        </p:nvSpPr>
        <p:spPr>
          <a:xfrm>
            <a:off x="4322978" y="4937760"/>
            <a:ext cx="3545738"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Planner</a:t>
            </a:r>
          </a:p>
        </p:txBody>
      </p:sp>
      <p:sp>
        <p:nvSpPr>
          <p:cNvPr id="43" name="TextBox 42"/>
          <p:cNvSpPr txBox="1"/>
          <p:nvPr/>
        </p:nvSpPr>
        <p:spPr>
          <a:xfrm>
            <a:off x="4377842" y="5193792"/>
            <a:ext cx="3436010"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gemma4:12b</a:t>
            </a:r>
          </a:p>
        </p:txBody>
      </p:sp>
      <p:sp>
        <p:nvSpPr>
          <p:cNvPr id="44" name="TextBox 43"/>
          <p:cNvSpPr txBox="1"/>
          <p:nvPr/>
        </p:nvSpPr>
        <p:spPr>
          <a:xfrm>
            <a:off x="7731557" y="492861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45" name="TextBox 44"/>
          <p:cNvSpPr txBox="1"/>
          <p:nvPr/>
        </p:nvSpPr>
        <p:spPr>
          <a:xfrm>
            <a:off x="7868717" y="4937760"/>
            <a:ext cx="3545738" cy="274320"/>
          </a:xfrm>
          <a:prstGeom prst="rect">
            <a:avLst/>
          </a:prstGeom>
          <a:noFill/>
        </p:spPr>
        <p:txBody>
          <a:bodyPr wrap="square" lIns="0" rIns="0" tIns="0" bIns="0" anchor="t">
            <a:spAutoFit/>
          </a:bodyPr>
          <a:lstStyle/>
          <a:p>
            <a:pPr algn="ctr">
              <a:lnSpc>
                <a:spcPct val="122000"/>
              </a:lnSpc>
              <a:spcAft>
                <a:spcPts val="200"/>
              </a:spcAft>
            </a:pPr>
            <a:r>
              <a:rPr sz="1350" b="1" i="0">
                <a:solidFill>
                  <a:srgbClr val="0F172A"/>
                </a:solidFill>
                <a:latin typeface="Segoe UI"/>
              </a:rPr>
              <a:t>Embedding</a:t>
            </a:r>
          </a:p>
        </p:txBody>
      </p:sp>
      <p:sp>
        <p:nvSpPr>
          <p:cNvPr id="46" name="TextBox 45"/>
          <p:cNvSpPr txBox="1"/>
          <p:nvPr/>
        </p:nvSpPr>
        <p:spPr>
          <a:xfrm>
            <a:off x="7923581" y="5193792"/>
            <a:ext cx="3436010"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nomic-embed-text  ·  137M</a:t>
            </a:r>
          </a:p>
        </p:txBody>
      </p:sp>
      <p:sp>
        <p:nvSpPr>
          <p:cNvPr id="47" name="Rectangle 46"/>
          <p:cNvSpPr/>
          <p:nvPr/>
        </p:nvSpPr>
        <p:spPr>
          <a:xfrm>
            <a:off x="777240" y="570585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77240" y="5852160"/>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The trade-off we recorded rather than resolved:  </a:t>
            </a:r>
            <a:r>
              <a:rPr sz="1050" b="0" i="0">
                <a:solidFill>
                  <a:srgbClr val="8A94A3"/>
                </a:solidFill>
                <a:latin typeface="Segoe UI"/>
              </a:rPr>
              <a:t>e4b is fast but misses the VAT block; 12b reads it and garbles the OR number. The audit catches both.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Architecture</a:t>
            </a:r>
          </a:p>
        </p:txBody>
      </p:sp>
      <p:sp>
        <p:nvSpPr>
          <p:cNvPr id="5" name="Rectangle 4"/>
          <p:cNvSpPr/>
          <p:nvPr/>
        </p:nvSpPr>
        <p:spPr>
          <a:xfrm>
            <a:off x="2176272" y="571500"/>
            <a:ext cx="786384"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System architecture</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Five blocks, one door, one local model server. Every slide after this lights one block and leaves the rest alone.</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07</a:t>
            </a:r>
          </a:p>
        </p:txBody>
      </p:sp>
      <p:sp>
        <p:nvSpPr>
          <p:cNvPr id="14" name="TextBox 13"/>
          <p:cNvSpPr txBox="1"/>
          <p:nvPr/>
        </p:nvSpPr>
        <p:spPr>
          <a:xfrm>
            <a:off x="777240" y="1938528"/>
            <a:ext cx="201168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THE CLIENT</a:t>
            </a:r>
          </a:p>
        </p:txBody>
      </p:sp>
      <p:sp>
        <p:nvSpPr>
          <p:cNvPr id="15" name="Rectangle 14"/>
          <p:cNvSpPr/>
          <p:nvPr/>
        </p:nvSpPr>
        <p:spPr>
          <a:xfrm>
            <a:off x="2967960" y="1847088"/>
            <a:ext cx="8446496"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67960" y="1938528"/>
            <a:ext cx="8446496" cy="274320"/>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API</a:t>
            </a:r>
            <a:r>
              <a:rPr sz="1100" b="0" i="0">
                <a:solidFill>
                  <a:srgbClr val="8A94A3"/>
                </a:solidFill>
                <a:latin typeface="Segoe UI"/>
              </a:rPr>
              <a:t>   80 typed routes. Browser, demo and eval harness all enter here. Nothing has a privileged path in.</a:t>
            </a:r>
          </a:p>
        </p:txBody>
      </p:sp>
      <p:sp>
        <p:nvSpPr>
          <p:cNvPr id="17" name="Rounded Rectangle 16"/>
          <p:cNvSpPr/>
          <p:nvPr/>
        </p:nvSpPr>
        <p:spPr>
          <a:xfrm>
            <a:off x="777240" y="2395728"/>
            <a:ext cx="1874520" cy="950976"/>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400" b="1">
                <a:solidFill>
                  <a:srgbClr val="0F172A"/>
                </a:solidFill>
                <a:latin typeface="Segoe UI"/>
              </a:rPr>
              <a:t>Capture</a:t>
            </a:r>
          </a:p>
          <a:p>
            <a:pPr algn="ctr">
              <a:lnSpc>
                <a:spcPct val="100000"/>
              </a:lnSpc>
            </a:pPr>
            <a:r>
              <a:rPr sz="900">
                <a:solidFill>
                  <a:srgbClr val="8A94A3"/>
                </a:solidFill>
                <a:latin typeface="Segoe UI"/>
              </a:rPr>
              <a:t>upload · camera · chat</a:t>
            </a:r>
          </a:p>
        </p:txBody>
      </p:sp>
      <p:sp>
        <p:nvSpPr>
          <p:cNvPr id="18" name="TextBox 17"/>
          <p:cNvSpPr txBox="1"/>
          <p:nvPr/>
        </p:nvSpPr>
        <p:spPr>
          <a:xfrm>
            <a:off x="2672700" y="2761488"/>
            <a:ext cx="274320" cy="237744"/>
          </a:xfrm>
          <a:prstGeom prst="rect">
            <a:avLst/>
          </a:prstGeom>
          <a:noFill/>
        </p:spPr>
        <p:txBody>
          <a:bodyPr wrap="square" lIns="0" rIns="0" tIns="0" bIns="0" anchor="t">
            <a:spAutoFit/>
          </a:bodyPr>
          <a:lstStyle/>
          <a:p>
            <a:pPr algn="ctr">
              <a:lnSpc>
                <a:spcPct val="122000"/>
              </a:lnSpc>
              <a:spcAft>
                <a:spcPts val="200"/>
              </a:spcAft>
            </a:pPr>
            <a:r>
              <a:rPr sz="1500" b="0" i="0">
                <a:solidFill>
                  <a:srgbClr val="C2C9D2"/>
                </a:solidFill>
                <a:latin typeface="Segoe UI"/>
              </a:rPr>
              <a:t>›</a:t>
            </a:r>
          </a:p>
        </p:txBody>
      </p:sp>
      <p:sp>
        <p:nvSpPr>
          <p:cNvPr id="19" name="Rounded Rectangle 18"/>
          <p:cNvSpPr/>
          <p:nvPr/>
        </p:nvSpPr>
        <p:spPr>
          <a:xfrm>
            <a:off x="2967960" y="2395728"/>
            <a:ext cx="1874520" cy="950976"/>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400" b="1">
                <a:solidFill>
                  <a:srgbClr val="0F172A"/>
                </a:solidFill>
                <a:latin typeface="Segoe UI"/>
              </a:rPr>
              <a:t>Extract</a:t>
            </a:r>
          </a:p>
          <a:p>
            <a:pPr algn="ctr">
              <a:lnSpc>
                <a:spcPct val="100000"/>
              </a:lnSpc>
            </a:pPr>
            <a:r>
              <a:rPr sz="900">
                <a:solidFill>
                  <a:srgbClr val="8A94A3"/>
                </a:solidFill>
                <a:latin typeface="Segoe UI"/>
              </a:rPr>
              <a:t>read, repair, decide</a:t>
            </a:r>
          </a:p>
        </p:txBody>
      </p:sp>
      <p:sp>
        <p:nvSpPr>
          <p:cNvPr id="20" name="TextBox 19"/>
          <p:cNvSpPr txBox="1"/>
          <p:nvPr/>
        </p:nvSpPr>
        <p:spPr>
          <a:xfrm>
            <a:off x="4863419" y="2761488"/>
            <a:ext cx="274320" cy="237744"/>
          </a:xfrm>
          <a:prstGeom prst="rect">
            <a:avLst/>
          </a:prstGeom>
          <a:noFill/>
        </p:spPr>
        <p:txBody>
          <a:bodyPr wrap="square" lIns="0" rIns="0" tIns="0" bIns="0" anchor="t">
            <a:spAutoFit/>
          </a:bodyPr>
          <a:lstStyle/>
          <a:p>
            <a:pPr algn="ctr">
              <a:lnSpc>
                <a:spcPct val="122000"/>
              </a:lnSpc>
              <a:spcAft>
                <a:spcPts val="200"/>
              </a:spcAft>
            </a:pPr>
            <a:r>
              <a:rPr sz="1500" b="0" i="0">
                <a:solidFill>
                  <a:srgbClr val="C2C9D2"/>
                </a:solidFill>
                <a:latin typeface="Segoe UI"/>
              </a:rPr>
              <a:t>›</a:t>
            </a:r>
          </a:p>
        </p:txBody>
      </p:sp>
      <p:sp>
        <p:nvSpPr>
          <p:cNvPr id="21" name="Magnetic Disk 20"/>
          <p:cNvSpPr/>
          <p:nvPr/>
        </p:nvSpPr>
        <p:spPr>
          <a:xfrm>
            <a:off x="5158679" y="2395728"/>
            <a:ext cx="1874520" cy="950976"/>
          </a:xfrm>
          <a:prstGeom prst="flowChartMagneticDisk">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400" b="1">
                <a:solidFill>
                  <a:srgbClr val="0F172A"/>
                </a:solidFill>
                <a:latin typeface="Segoe UI"/>
              </a:rPr>
              <a:t>Ledger</a:t>
            </a:r>
          </a:p>
          <a:p>
            <a:pPr algn="ctr">
              <a:lnSpc>
                <a:spcPct val="100000"/>
              </a:lnSpc>
            </a:pPr>
            <a:r>
              <a:rPr sz="900">
                <a:solidFill>
                  <a:srgbClr val="8A94A3"/>
                </a:solidFill>
                <a:latin typeface="Segoe UI"/>
              </a:rPr>
              <a:t>one SQLite file</a:t>
            </a:r>
          </a:p>
        </p:txBody>
      </p:sp>
      <p:sp>
        <p:nvSpPr>
          <p:cNvPr id="22" name="TextBox 21"/>
          <p:cNvSpPr txBox="1"/>
          <p:nvPr/>
        </p:nvSpPr>
        <p:spPr>
          <a:xfrm>
            <a:off x="7054139" y="2761488"/>
            <a:ext cx="274320" cy="237744"/>
          </a:xfrm>
          <a:prstGeom prst="rect">
            <a:avLst/>
          </a:prstGeom>
          <a:noFill/>
        </p:spPr>
        <p:txBody>
          <a:bodyPr wrap="square" lIns="0" rIns="0" tIns="0" bIns="0" anchor="t">
            <a:spAutoFit/>
          </a:bodyPr>
          <a:lstStyle/>
          <a:p>
            <a:pPr algn="ctr">
              <a:lnSpc>
                <a:spcPct val="122000"/>
              </a:lnSpc>
              <a:spcAft>
                <a:spcPts val="200"/>
              </a:spcAft>
            </a:pPr>
            <a:r>
              <a:rPr sz="1500" b="0" i="0">
                <a:solidFill>
                  <a:srgbClr val="C2C9D2"/>
                </a:solidFill>
                <a:latin typeface="Segoe UI"/>
              </a:rPr>
              <a:t>›</a:t>
            </a:r>
          </a:p>
        </p:txBody>
      </p:sp>
      <p:sp>
        <p:nvSpPr>
          <p:cNvPr id="23" name="Rounded Rectangle 22"/>
          <p:cNvSpPr/>
          <p:nvPr/>
        </p:nvSpPr>
        <p:spPr>
          <a:xfrm>
            <a:off x="7349399" y="2395728"/>
            <a:ext cx="1874520" cy="950976"/>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400" b="1">
                <a:solidFill>
                  <a:srgbClr val="0F172A"/>
                </a:solidFill>
                <a:latin typeface="Segoe UI"/>
              </a:rPr>
              <a:t>Agent</a:t>
            </a:r>
          </a:p>
          <a:p>
            <a:pPr algn="ctr">
              <a:lnSpc>
                <a:spcPct val="100000"/>
              </a:lnSpc>
            </a:pPr>
            <a:r>
              <a:rPr sz="900">
                <a:solidFill>
                  <a:srgbClr val="8A94A3"/>
                </a:solidFill>
                <a:latin typeface="Segoe UI"/>
              </a:rPr>
              <a:t>plan, then act</a:t>
            </a:r>
          </a:p>
        </p:txBody>
      </p:sp>
      <p:sp>
        <p:nvSpPr>
          <p:cNvPr id="24" name="TextBox 23"/>
          <p:cNvSpPr txBox="1"/>
          <p:nvPr/>
        </p:nvSpPr>
        <p:spPr>
          <a:xfrm>
            <a:off x="9244858" y="2761488"/>
            <a:ext cx="274320" cy="237744"/>
          </a:xfrm>
          <a:prstGeom prst="rect">
            <a:avLst/>
          </a:prstGeom>
          <a:noFill/>
        </p:spPr>
        <p:txBody>
          <a:bodyPr wrap="square" lIns="0" rIns="0" tIns="0" bIns="0" anchor="t">
            <a:spAutoFit/>
          </a:bodyPr>
          <a:lstStyle/>
          <a:p>
            <a:pPr algn="ctr">
              <a:lnSpc>
                <a:spcPct val="122000"/>
              </a:lnSpc>
              <a:spcAft>
                <a:spcPts val="200"/>
              </a:spcAft>
            </a:pPr>
            <a:r>
              <a:rPr sz="1500" b="0" i="0">
                <a:solidFill>
                  <a:srgbClr val="C2C9D2"/>
                </a:solidFill>
                <a:latin typeface="Segoe UI"/>
              </a:rPr>
              <a:t>›</a:t>
            </a:r>
          </a:p>
        </p:txBody>
      </p:sp>
      <p:sp>
        <p:nvSpPr>
          <p:cNvPr id="25" name="Rounded Rectangle 24"/>
          <p:cNvSpPr/>
          <p:nvPr/>
        </p:nvSpPr>
        <p:spPr>
          <a:xfrm>
            <a:off x="9540118" y="2395728"/>
            <a:ext cx="1874520" cy="950976"/>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400" b="1">
                <a:solidFill>
                  <a:srgbClr val="0F172A"/>
                </a:solidFill>
                <a:latin typeface="Segoe UI"/>
              </a:rPr>
              <a:t>Answer</a:t>
            </a:r>
          </a:p>
          <a:p>
            <a:pPr algn="ctr">
              <a:lnSpc>
                <a:spcPct val="100000"/>
              </a:lnSpc>
            </a:pPr>
            <a:r>
              <a:rPr sz="900">
                <a:solidFill>
                  <a:srgbClr val="8A94A3"/>
                </a:solidFill>
                <a:latin typeface="Segoe UI"/>
              </a:rPr>
              <a:t>typed, cited, traced</a:t>
            </a:r>
          </a:p>
        </p:txBody>
      </p:sp>
      <p:cxnSp>
        <p:nvCxnSpPr>
          <p:cNvPr id="26" name="Connector 25"/>
          <p:cNvCxnSpPr/>
          <p:nvPr/>
        </p:nvCxnSpPr>
        <p:spPr>
          <a:xfrm>
            <a:off x="3905220" y="3401568"/>
            <a:ext cx="0" cy="27432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10800000">
            <a:off x="3870930" y="3641598"/>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96660" y="3419856"/>
            <a:ext cx="822960" cy="182880"/>
          </a:xfrm>
          <a:prstGeom prst="rect">
            <a:avLst/>
          </a:prstGeom>
          <a:noFill/>
        </p:spPr>
        <p:txBody>
          <a:bodyPr wrap="square" lIns="0" rIns="0" tIns="0" bIns="0" anchor="t">
            <a:spAutoFit/>
          </a:bodyPr>
          <a:lstStyle/>
          <a:p>
            <a:pPr algn="l">
              <a:lnSpc>
                <a:spcPct val="122000"/>
              </a:lnSpc>
              <a:spcAft>
                <a:spcPts val="200"/>
              </a:spcAft>
            </a:pPr>
            <a:r>
              <a:rPr sz="800" b="0" i="0">
                <a:solidFill>
                  <a:srgbClr val="B45309"/>
                </a:solidFill>
                <a:latin typeface="Segoe UI"/>
              </a:rPr>
              <a:t>infer</a:t>
            </a:r>
          </a:p>
        </p:txBody>
      </p:sp>
      <p:cxnSp>
        <p:nvCxnSpPr>
          <p:cNvPr id="29" name="Connector 28"/>
          <p:cNvCxnSpPr/>
          <p:nvPr/>
        </p:nvCxnSpPr>
        <p:spPr>
          <a:xfrm>
            <a:off x="8286659" y="3401568"/>
            <a:ext cx="0" cy="27432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10800000">
            <a:off x="8252369" y="3641598"/>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78099" y="3419856"/>
            <a:ext cx="822960" cy="182880"/>
          </a:xfrm>
          <a:prstGeom prst="rect">
            <a:avLst/>
          </a:prstGeom>
          <a:noFill/>
        </p:spPr>
        <p:txBody>
          <a:bodyPr wrap="square" lIns="0" rIns="0" tIns="0" bIns="0" anchor="t">
            <a:spAutoFit/>
          </a:bodyPr>
          <a:lstStyle/>
          <a:p>
            <a:pPr algn="l">
              <a:lnSpc>
                <a:spcPct val="122000"/>
              </a:lnSpc>
              <a:spcAft>
                <a:spcPts val="200"/>
              </a:spcAft>
            </a:pPr>
            <a:r>
              <a:rPr sz="800" b="0" i="0">
                <a:solidFill>
                  <a:srgbClr val="B45309"/>
                </a:solidFill>
                <a:latin typeface="Segoe UI"/>
              </a:rPr>
              <a:t>infer</a:t>
            </a:r>
          </a:p>
        </p:txBody>
      </p:sp>
      <p:sp>
        <p:nvSpPr>
          <p:cNvPr id="32" name="Rounded Rectangle 31"/>
          <p:cNvSpPr/>
          <p:nvPr/>
        </p:nvSpPr>
        <p:spPr>
          <a:xfrm>
            <a:off x="2967960" y="3712464"/>
            <a:ext cx="6255959" cy="841248"/>
          </a:xfrm>
          <a:prstGeom prst="roundRect">
            <a:avLst>
              <a:gd name="adj" fmla="val 3000"/>
            </a:avLst>
          </a:prstGeom>
          <a:solidFill>
            <a:srgbClr val="FD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150840" y="3785616"/>
            <a:ext cx="4572000" cy="201168"/>
          </a:xfrm>
          <a:prstGeom prst="rect">
            <a:avLst/>
          </a:prstGeom>
          <a:noFill/>
        </p:spPr>
        <p:txBody>
          <a:bodyPr wrap="square" lIns="0" rIns="0" tIns="0" bIns="0" anchor="t">
            <a:spAutoFit/>
          </a:bodyPr>
          <a:lstStyle/>
          <a:p>
            <a:pPr algn="l">
              <a:lnSpc>
                <a:spcPct val="122000"/>
              </a:lnSpc>
              <a:spcAft>
                <a:spcPts val="200"/>
              </a:spcAft>
            </a:pPr>
            <a:r>
              <a:rPr sz="800" b="1" i="0" spc="90">
                <a:solidFill>
                  <a:srgbClr val="B45309"/>
                </a:solidFill>
                <a:latin typeface="Segoe UI"/>
              </a:rPr>
              <a:t>LOCAL INFERENCE · NOTHING LEAVES THE MACHINE</a:t>
            </a:r>
          </a:p>
        </p:txBody>
      </p:sp>
      <p:sp>
        <p:nvSpPr>
          <p:cNvPr id="34" name="Rounded Rectangle 33"/>
          <p:cNvSpPr/>
          <p:nvPr/>
        </p:nvSpPr>
        <p:spPr>
          <a:xfrm>
            <a:off x="3150840" y="4023360"/>
            <a:ext cx="1847088" cy="43891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050" b="1">
                <a:solidFill>
                  <a:srgbClr val="0F172A"/>
                </a:solidFill>
                <a:latin typeface="Segoe UI"/>
              </a:rPr>
              <a:t>Vision</a:t>
            </a:r>
          </a:p>
          <a:p>
            <a:pPr algn="ctr">
              <a:lnSpc>
                <a:spcPct val="100000"/>
              </a:lnSpc>
            </a:pPr>
            <a:r>
              <a:rPr sz="800">
                <a:solidFill>
                  <a:srgbClr val="B45309"/>
                </a:solidFill>
                <a:latin typeface="Segoe UI"/>
              </a:rPr>
              <a:t>gemma4:e4b</a:t>
            </a:r>
          </a:p>
        </p:txBody>
      </p:sp>
      <p:sp>
        <p:nvSpPr>
          <p:cNvPr id="35" name="Rounded Rectangle 34"/>
          <p:cNvSpPr/>
          <p:nvPr/>
        </p:nvSpPr>
        <p:spPr>
          <a:xfrm>
            <a:off x="5107656" y="4023360"/>
            <a:ext cx="1847088" cy="43891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050" b="1">
                <a:solidFill>
                  <a:srgbClr val="0F172A"/>
                </a:solidFill>
                <a:latin typeface="Segoe UI"/>
              </a:rPr>
              <a:t>Planner</a:t>
            </a:r>
          </a:p>
          <a:p>
            <a:pPr algn="ctr">
              <a:lnSpc>
                <a:spcPct val="100000"/>
              </a:lnSpc>
            </a:pPr>
            <a:r>
              <a:rPr sz="800">
                <a:solidFill>
                  <a:srgbClr val="B45309"/>
                </a:solidFill>
                <a:latin typeface="Segoe UI"/>
              </a:rPr>
              <a:t>gemma4:12b</a:t>
            </a:r>
          </a:p>
        </p:txBody>
      </p:sp>
      <p:sp>
        <p:nvSpPr>
          <p:cNvPr id="36" name="Rounded Rectangle 35"/>
          <p:cNvSpPr/>
          <p:nvPr/>
        </p:nvSpPr>
        <p:spPr>
          <a:xfrm>
            <a:off x="7064472" y="4023360"/>
            <a:ext cx="1847088" cy="43891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050" b="1">
                <a:solidFill>
                  <a:srgbClr val="0F172A"/>
                </a:solidFill>
                <a:latin typeface="Segoe UI"/>
              </a:rPr>
              <a:t>Embed</a:t>
            </a:r>
          </a:p>
          <a:p>
            <a:pPr algn="ctr">
              <a:lnSpc>
                <a:spcPct val="100000"/>
              </a:lnSpc>
            </a:pPr>
            <a:r>
              <a:rPr sz="800">
                <a:solidFill>
                  <a:srgbClr val="B45309"/>
                </a:solidFill>
                <a:latin typeface="Segoe UI"/>
              </a:rPr>
              <a:t>nomic-embed-text</a:t>
            </a:r>
          </a:p>
        </p:txBody>
      </p:sp>
      <p:sp>
        <p:nvSpPr>
          <p:cNvPr id="37" name="Rectangle 36"/>
          <p:cNvSpPr/>
          <p:nvPr/>
        </p:nvSpPr>
        <p:spPr>
          <a:xfrm>
            <a:off x="777240" y="479145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7240" y="4882896"/>
            <a:ext cx="10637215" cy="274320"/>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Traces</a:t>
            </a:r>
            <a:r>
              <a:rPr sz="1100" b="0" i="0">
                <a:solidFill>
                  <a:srgbClr val="8A94A3"/>
                </a:solidFill>
                <a:latin typeface="Segoe UI"/>
              </a:rPr>
              <a:t>   every model call opens one MLflow run: latency, tokens, audit codes, grounding. A failed call is still a run.</a:t>
            </a:r>
          </a:p>
        </p:txBody>
      </p:sp>
      <p:sp>
        <p:nvSpPr>
          <p:cNvPr id="39" name="Rectangle 38"/>
          <p:cNvSpPr/>
          <p:nvPr/>
        </p:nvSpPr>
        <p:spPr>
          <a:xfrm>
            <a:off x="777240" y="543153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77240" y="5577840"/>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Five blocks, not fourteen boxes:  </a:t>
            </a:r>
            <a:r>
              <a:rPr sz="1050" b="0" i="0">
                <a:solidFill>
                  <a:srgbClr val="8A94A3"/>
                </a:solidFill>
                <a:latin typeface="Segoe UI"/>
              </a:rPr>
              <a:t>the files behind them are in the appendix. One command brings the stack up (web · API · traces), and inference is an HTTP call out to OLLAMA_HOST, so no GPU is needed inside it. Slide 16 has the compose 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Architecture</a:t>
            </a:r>
          </a:p>
        </p:txBody>
      </p:sp>
      <p:sp>
        <p:nvSpPr>
          <p:cNvPr id="5" name="Rectangle 4"/>
          <p:cNvSpPr/>
          <p:nvPr/>
        </p:nvSpPr>
        <p:spPr>
          <a:xfrm>
            <a:off x="2176272" y="571500"/>
            <a:ext cx="786384"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Dataflow: the same five blocks, four hand-offs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Each arrow changes representation on purpose. The shape is named on the arrow it rides; the reason sits under it.</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08</a:t>
            </a:r>
          </a:p>
        </p:txBody>
      </p:sp>
      <p:sp>
        <p:nvSpPr>
          <p:cNvPr id="14" name="Rounded Rectangle 13"/>
          <p:cNvSpPr/>
          <p:nvPr/>
        </p:nvSpPr>
        <p:spPr>
          <a:xfrm>
            <a:off x="777240" y="1883664"/>
            <a:ext cx="1874520" cy="621792"/>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300" b="1">
                <a:solidFill>
                  <a:srgbClr val="0F172A"/>
                </a:solidFill>
                <a:latin typeface="Segoe UI"/>
              </a:rPr>
              <a:t>Capture</a:t>
            </a:r>
          </a:p>
        </p:txBody>
      </p:sp>
      <p:cxnSp>
        <p:nvCxnSpPr>
          <p:cNvPr id="15" name="Connector 14"/>
          <p:cNvCxnSpPr/>
          <p:nvPr/>
        </p:nvCxnSpPr>
        <p:spPr>
          <a:xfrm>
            <a:off x="2679192" y="2194560"/>
            <a:ext cx="261336" cy="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16" name="Isosceles Triangle 15"/>
          <p:cNvSpPr/>
          <p:nvPr/>
        </p:nvSpPr>
        <p:spPr>
          <a:xfrm rot="5400000">
            <a:off x="2906238" y="2160270"/>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967960" y="1883664"/>
            <a:ext cx="1874520" cy="621792"/>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300" b="1">
                <a:solidFill>
                  <a:srgbClr val="0F172A"/>
                </a:solidFill>
                <a:latin typeface="Segoe UI"/>
              </a:rPr>
              <a:t>Extract</a:t>
            </a:r>
          </a:p>
        </p:txBody>
      </p:sp>
      <p:cxnSp>
        <p:nvCxnSpPr>
          <p:cNvPr id="18" name="Connector 17"/>
          <p:cNvCxnSpPr/>
          <p:nvPr/>
        </p:nvCxnSpPr>
        <p:spPr>
          <a:xfrm>
            <a:off x="4869912" y="2194560"/>
            <a:ext cx="261335" cy="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5096957" y="2160270"/>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gnetic Disk 19"/>
          <p:cNvSpPr/>
          <p:nvPr/>
        </p:nvSpPr>
        <p:spPr>
          <a:xfrm>
            <a:off x="5158679" y="1883664"/>
            <a:ext cx="1874520" cy="621792"/>
          </a:xfrm>
          <a:prstGeom prst="flowChartMagneticDisk">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300" b="1">
                <a:solidFill>
                  <a:srgbClr val="0F172A"/>
                </a:solidFill>
                <a:latin typeface="Segoe UI"/>
              </a:rPr>
              <a:t>Ledger</a:t>
            </a:r>
          </a:p>
        </p:txBody>
      </p:sp>
      <p:cxnSp>
        <p:nvCxnSpPr>
          <p:cNvPr id="21" name="Connector 20"/>
          <p:cNvCxnSpPr/>
          <p:nvPr/>
        </p:nvCxnSpPr>
        <p:spPr>
          <a:xfrm>
            <a:off x="7060631" y="2194560"/>
            <a:ext cx="261336" cy="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7287677" y="2160270"/>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49399" y="1883664"/>
            <a:ext cx="1874520" cy="621792"/>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300" b="1">
                <a:solidFill>
                  <a:srgbClr val="0F172A"/>
                </a:solidFill>
                <a:latin typeface="Segoe UI"/>
              </a:rPr>
              <a:t>Agent</a:t>
            </a:r>
          </a:p>
        </p:txBody>
      </p:sp>
      <p:cxnSp>
        <p:nvCxnSpPr>
          <p:cNvPr id="24" name="Connector 23"/>
          <p:cNvCxnSpPr/>
          <p:nvPr/>
        </p:nvCxnSpPr>
        <p:spPr>
          <a:xfrm>
            <a:off x="9251351" y="2194560"/>
            <a:ext cx="261335" cy="0"/>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25" name="Isosceles Triangle 24"/>
          <p:cNvSpPr/>
          <p:nvPr/>
        </p:nvSpPr>
        <p:spPr>
          <a:xfrm rot="5400000">
            <a:off x="9478396" y="2160270"/>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40118" y="1883664"/>
            <a:ext cx="1874520" cy="621792"/>
          </a:xfrm>
          <a:prstGeom prst="roundRect">
            <a:avLst>
              <a:gd name="adj" fmla="val 4000"/>
            </a:avLst>
          </a:prstGeom>
          <a:solidFill>
            <a:srgbClr val="FFFFFF"/>
          </a:solidFill>
          <a:ln w="9525">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100000"/>
              </a:lnSpc>
            </a:pPr>
            <a:r>
              <a:rPr sz="1300" b="1">
                <a:solidFill>
                  <a:srgbClr val="0F172A"/>
                </a:solidFill>
                <a:latin typeface="Segoe UI"/>
              </a:rPr>
              <a:t>Answer</a:t>
            </a:r>
          </a:p>
        </p:txBody>
      </p:sp>
      <p:sp>
        <p:nvSpPr>
          <p:cNvPr id="27" name="Rectangle 26"/>
          <p:cNvSpPr/>
          <p:nvPr/>
        </p:nvSpPr>
        <p:spPr>
          <a:xfrm>
            <a:off x="2809860" y="2542032"/>
            <a:ext cx="8230" cy="164592"/>
          </a:xfrm>
          <a:prstGeom prst="rect">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1804020" y="2743200"/>
            <a:ext cx="2011680"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04020" y="2834640"/>
            <a:ext cx="2011680" cy="256032"/>
          </a:xfrm>
          <a:prstGeom prst="rect">
            <a:avLst/>
          </a:prstGeom>
          <a:noFill/>
        </p:spPr>
        <p:txBody>
          <a:bodyPr wrap="square" lIns="0" rIns="0" tIns="0" bIns="0" anchor="t">
            <a:spAutoFit/>
          </a:bodyPr>
          <a:lstStyle/>
          <a:p>
            <a:pPr algn="l">
              <a:lnSpc>
                <a:spcPct val="122000"/>
              </a:lnSpc>
              <a:spcAft>
                <a:spcPts val="200"/>
              </a:spcAft>
            </a:pPr>
            <a:r>
              <a:rPr sz="1350" b="1" i="0">
                <a:solidFill>
                  <a:srgbClr val="B45309"/>
                </a:solidFill>
                <a:latin typeface="Segoe UI"/>
              </a:rPr>
              <a:t>Bytes</a:t>
            </a:r>
          </a:p>
        </p:txBody>
      </p:sp>
      <p:sp>
        <p:nvSpPr>
          <p:cNvPr id="30" name="TextBox 29"/>
          <p:cNvSpPr txBox="1"/>
          <p:nvPr/>
        </p:nvSpPr>
        <p:spPr>
          <a:xfrm>
            <a:off x="1804020" y="3090672"/>
            <a:ext cx="2103120" cy="219456"/>
          </a:xfrm>
          <a:prstGeom prst="rect">
            <a:avLst/>
          </a:prstGeom>
          <a:noFill/>
        </p:spPr>
        <p:txBody>
          <a:bodyPr wrap="square" lIns="0" rIns="0" tIns="0" bIns="0" anchor="t">
            <a:spAutoFit/>
          </a:bodyPr>
          <a:lstStyle/>
          <a:p>
            <a:pPr algn="l">
              <a:lnSpc>
                <a:spcPct val="122000"/>
              </a:lnSpc>
              <a:spcAft>
                <a:spcPts val="200"/>
              </a:spcAft>
            </a:pPr>
            <a:r>
              <a:rPr sz="850" b="0" i="0">
                <a:solidFill>
                  <a:srgbClr val="8A94A3"/>
                </a:solidFill>
                <a:latin typeface="Consolas"/>
              </a:rPr>
              <a:t>validate_input()</a:t>
            </a:r>
          </a:p>
        </p:txBody>
      </p:sp>
      <p:sp>
        <p:nvSpPr>
          <p:cNvPr id="31" name="TextBox 30"/>
          <p:cNvSpPr txBox="1"/>
          <p:nvPr/>
        </p:nvSpPr>
        <p:spPr>
          <a:xfrm>
            <a:off x="1804020" y="3310128"/>
            <a:ext cx="2011680" cy="530352"/>
          </a:xfrm>
          <a:prstGeom prst="rect">
            <a:avLst/>
          </a:prstGeom>
          <a:noFill/>
        </p:spPr>
        <p:txBody>
          <a:bodyPr wrap="square" lIns="0" rIns="0" tIns="0" bIns="0" anchor="t">
            <a:spAutoFit/>
          </a:bodyPr>
          <a:lstStyle/>
          <a:p>
            <a:pPr algn="l">
              <a:lnSpc>
                <a:spcPct val="128000"/>
              </a:lnSpc>
              <a:spcAft>
                <a:spcPts val="200"/>
              </a:spcAft>
            </a:pPr>
            <a:r>
              <a:rPr sz="950" b="0" i="0">
                <a:solidFill>
                  <a:srgbClr val="3F4B5C"/>
                </a:solidFill>
                <a:latin typeface="Segoe UI"/>
              </a:rPr>
              <a:t>EXIF-rotated, long edge capped at 1,600 px, so single and batch see the same pixels</a:t>
            </a:r>
          </a:p>
        </p:txBody>
      </p:sp>
      <p:sp>
        <p:nvSpPr>
          <p:cNvPr id="32" name="Rectangle 31"/>
          <p:cNvSpPr/>
          <p:nvPr/>
        </p:nvSpPr>
        <p:spPr>
          <a:xfrm>
            <a:off x="5000579" y="2542032"/>
            <a:ext cx="8230" cy="164592"/>
          </a:xfrm>
          <a:prstGeom prst="rect">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3994739" y="2743200"/>
            <a:ext cx="2011680"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994739" y="2834640"/>
            <a:ext cx="2011680" cy="256032"/>
          </a:xfrm>
          <a:prstGeom prst="rect">
            <a:avLst/>
          </a:prstGeom>
          <a:noFill/>
        </p:spPr>
        <p:txBody>
          <a:bodyPr wrap="square" lIns="0" rIns="0" tIns="0" bIns="0" anchor="t">
            <a:spAutoFit/>
          </a:bodyPr>
          <a:lstStyle/>
          <a:p>
            <a:pPr algn="l">
              <a:lnSpc>
                <a:spcPct val="122000"/>
              </a:lnSpc>
              <a:spcAft>
                <a:spcPts val="200"/>
              </a:spcAft>
            </a:pPr>
            <a:r>
              <a:rPr sz="1350" b="1" i="0">
                <a:solidFill>
                  <a:srgbClr val="B45309"/>
                </a:solidFill>
                <a:latin typeface="Segoe UI"/>
              </a:rPr>
              <a:t>Objects</a:t>
            </a:r>
          </a:p>
        </p:txBody>
      </p:sp>
      <p:sp>
        <p:nvSpPr>
          <p:cNvPr id="35" name="TextBox 34"/>
          <p:cNvSpPr txBox="1"/>
          <p:nvPr/>
        </p:nvSpPr>
        <p:spPr>
          <a:xfrm>
            <a:off x="3994739" y="3090672"/>
            <a:ext cx="2103120" cy="219456"/>
          </a:xfrm>
          <a:prstGeom prst="rect">
            <a:avLst/>
          </a:prstGeom>
          <a:noFill/>
        </p:spPr>
        <p:txBody>
          <a:bodyPr wrap="square" lIns="0" rIns="0" tIns="0" bIns="0" anchor="t">
            <a:spAutoFit/>
          </a:bodyPr>
          <a:lstStyle/>
          <a:p>
            <a:pPr algn="l">
              <a:lnSpc>
                <a:spcPct val="122000"/>
              </a:lnSpc>
              <a:spcAft>
                <a:spcPts val="200"/>
              </a:spcAft>
            </a:pPr>
            <a:r>
              <a:rPr sz="850" b="0" i="0">
                <a:solidFill>
                  <a:srgbClr val="8A94A3"/>
                </a:solidFill>
                <a:latin typeface="Consolas"/>
              </a:rPr>
              <a:t>ReceiptData · 23 fields</a:t>
            </a:r>
          </a:p>
        </p:txBody>
      </p:sp>
      <p:sp>
        <p:nvSpPr>
          <p:cNvPr id="36" name="TextBox 35"/>
          <p:cNvSpPr txBox="1"/>
          <p:nvPr/>
        </p:nvSpPr>
        <p:spPr>
          <a:xfrm>
            <a:off x="3994739" y="3310128"/>
            <a:ext cx="2011680" cy="530352"/>
          </a:xfrm>
          <a:prstGeom prst="rect">
            <a:avLst/>
          </a:prstGeom>
          <a:noFill/>
        </p:spPr>
        <p:txBody>
          <a:bodyPr wrap="square" lIns="0" rIns="0" tIns="0" bIns="0" anchor="t">
            <a:spAutoFit/>
          </a:bodyPr>
          <a:lstStyle/>
          <a:p>
            <a:pPr algn="l">
              <a:lnSpc>
                <a:spcPct val="128000"/>
              </a:lnSpc>
              <a:spcAft>
                <a:spcPts val="200"/>
              </a:spcAft>
            </a:pPr>
            <a:r>
              <a:rPr sz="950" b="0" i="0">
                <a:solidFill>
                  <a:srgbClr val="3F4B5C"/>
                </a:solidFill>
                <a:latin typeface="Segoe UI"/>
              </a:rPr>
              <a:t>Typed and optional. A value that was not printed is None, never "" and never 0</a:t>
            </a:r>
          </a:p>
        </p:txBody>
      </p:sp>
      <p:sp>
        <p:nvSpPr>
          <p:cNvPr id="37" name="Rectangle 36"/>
          <p:cNvSpPr/>
          <p:nvPr/>
        </p:nvSpPr>
        <p:spPr>
          <a:xfrm>
            <a:off x="7191299" y="2542032"/>
            <a:ext cx="8230" cy="164592"/>
          </a:xfrm>
          <a:prstGeom prst="rect">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6185459" y="2743200"/>
            <a:ext cx="2011680"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85459" y="2834640"/>
            <a:ext cx="2011680" cy="256032"/>
          </a:xfrm>
          <a:prstGeom prst="rect">
            <a:avLst/>
          </a:prstGeom>
          <a:noFill/>
        </p:spPr>
        <p:txBody>
          <a:bodyPr wrap="square" lIns="0" rIns="0" tIns="0" bIns="0" anchor="t">
            <a:spAutoFit/>
          </a:bodyPr>
          <a:lstStyle/>
          <a:p>
            <a:pPr algn="l">
              <a:lnSpc>
                <a:spcPct val="122000"/>
              </a:lnSpc>
              <a:spcAft>
                <a:spcPts val="200"/>
              </a:spcAft>
            </a:pPr>
            <a:r>
              <a:rPr sz="1350" b="1" i="0">
                <a:solidFill>
                  <a:srgbClr val="B45309"/>
                </a:solidFill>
                <a:latin typeface="Segoe UI"/>
              </a:rPr>
              <a:t>Rows</a:t>
            </a:r>
          </a:p>
        </p:txBody>
      </p:sp>
      <p:sp>
        <p:nvSpPr>
          <p:cNvPr id="40" name="TextBox 39"/>
          <p:cNvSpPr txBox="1"/>
          <p:nvPr/>
        </p:nvSpPr>
        <p:spPr>
          <a:xfrm>
            <a:off x="6185459" y="3090672"/>
            <a:ext cx="2103120" cy="219456"/>
          </a:xfrm>
          <a:prstGeom prst="rect">
            <a:avLst/>
          </a:prstGeom>
          <a:noFill/>
        </p:spPr>
        <p:txBody>
          <a:bodyPr wrap="square" lIns="0" rIns="0" tIns="0" bIns="0" anchor="t">
            <a:spAutoFit/>
          </a:bodyPr>
          <a:lstStyle/>
          <a:p>
            <a:pPr algn="l">
              <a:lnSpc>
                <a:spcPct val="122000"/>
              </a:lnSpc>
              <a:spcAft>
                <a:spcPts val="200"/>
              </a:spcAft>
            </a:pPr>
            <a:r>
              <a:rPr sz="850" b="0" i="0">
                <a:solidFill>
                  <a:srgbClr val="8A94A3"/>
                </a:solidFill>
                <a:latin typeface="Consolas"/>
              </a:rPr>
              <a:t>receipts + line_items</a:t>
            </a:r>
          </a:p>
        </p:txBody>
      </p:sp>
      <p:sp>
        <p:nvSpPr>
          <p:cNvPr id="41" name="TextBox 40"/>
          <p:cNvSpPr txBox="1"/>
          <p:nvPr/>
        </p:nvSpPr>
        <p:spPr>
          <a:xfrm>
            <a:off x="6185459" y="3310128"/>
            <a:ext cx="2011680" cy="530352"/>
          </a:xfrm>
          <a:prstGeom prst="rect">
            <a:avLst/>
          </a:prstGeom>
          <a:noFill/>
        </p:spPr>
        <p:txBody>
          <a:bodyPr wrap="square" lIns="0" rIns="0" tIns="0" bIns="0" anchor="t">
            <a:spAutoFit/>
          </a:bodyPr>
          <a:lstStyle/>
          <a:p>
            <a:pPr algn="l">
              <a:lnSpc>
                <a:spcPct val="128000"/>
              </a:lnSpc>
              <a:spcAft>
                <a:spcPts val="200"/>
              </a:spcAft>
            </a:pPr>
            <a:r>
              <a:rPr sz="950" b="0" i="0">
                <a:solidFill>
                  <a:srgbClr val="3F4B5C"/>
                </a:solidFill>
                <a:latin typeface="Segoe UI"/>
              </a:rPr>
              <a:t>17 tables. SQL is what still answers the question three months later</a:t>
            </a:r>
          </a:p>
        </p:txBody>
      </p:sp>
      <p:sp>
        <p:nvSpPr>
          <p:cNvPr id="42" name="Rectangle 41"/>
          <p:cNvSpPr/>
          <p:nvPr/>
        </p:nvSpPr>
        <p:spPr>
          <a:xfrm>
            <a:off x="9382018" y="2542032"/>
            <a:ext cx="8230" cy="164592"/>
          </a:xfrm>
          <a:prstGeom prst="rect">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8376178" y="2743200"/>
            <a:ext cx="2011680"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8376178" y="2834640"/>
            <a:ext cx="2011680" cy="256032"/>
          </a:xfrm>
          <a:prstGeom prst="rect">
            <a:avLst/>
          </a:prstGeom>
          <a:noFill/>
        </p:spPr>
        <p:txBody>
          <a:bodyPr wrap="square" lIns="0" rIns="0" tIns="0" bIns="0" anchor="t">
            <a:spAutoFit/>
          </a:bodyPr>
          <a:lstStyle/>
          <a:p>
            <a:pPr algn="l">
              <a:lnSpc>
                <a:spcPct val="122000"/>
              </a:lnSpc>
              <a:spcAft>
                <a:spcPts val="200"/>
              </a:spcAft>
            </a:pPr>
            <a:r>
              <a:rPr sz="1350" b="1" i="0">
                <a:solidFill>
                  <a:srgbClr val="B45309"/>
                </a:solidFill>
                <a:latin typeface="Segoe UI"/>
              </a:rPr>
              <a:t>JSON</a:t>
            </a:r>
          </a:p>
        </p:txBody>
      </p:sp>
      <p:sp>
        <p:nvSpPr>
          <p:cNvPr id="45" name="TextBox 44"/>
          <p:cNvSpPr txBox="1"/>
          <p:nvPr/>
        </p:nvSpPr>
        <p:spPr>
          <a:xfrm>
            <a:off x="8376178" y="3090672"/>
            <a:ext cx="2103120" cy="219456"/>
          </a:xfrm>
          <a:prstGeom prst="rect">
            <a:avLst/>
          </a:prstGeom>
          <a:noFill/>
        </p:spPr>
        <p:txBody>
          <a:bodyPr wrap="square" lIns="0" rIns="0" tIns="0" bIns="0" anchor="t">
            <a:spAutoFit/>
          </a:bodyPr>
          <a:lstStyle/>
          <a:p>
            <a:pPr algn="l">
              <a:lnSpc>
                <a:spcPct val="122000"/>
              </a:lnSpc>
              <a:spcAft>
                <a:spcPts val="200"/>
              </a:spcAft>
            </a:pPr>
            <a:r>
              <a:rPr sz="850" b="0" i="0">
                <a:solidFill>
                  <a:srgbClr val="8A94A3"/>
                </a:solidFill>
                <a:latin typeface="Consolas"/>
              </a:rPr>
              <a:t>FastAPI response_model</a:t>
            </a:r>
          </a:p>
        </p:txBody>
      </p:sp>
      <p:sp>
        <p:nvSpPr>
          <p:cNvPr id="46" name="TextBox 45"/>
          <p:cNvSpPr txBox="1"/>
          <p:nvPr/>
        </p:nvSpPr>
        <p:spPr>
          <a:xfrm>
            <a:off x="8376178" y="3310128"/>
            <a:ext cx="2011680" cy="530352"/>
          </a:xfrm>
          <a:prstGeom prst="rect">
            <a:avLst/>
          </a:prstGeom>
          <a:noFill/>
        </p:spPr>
        <p:txBody>
          <a:bodyPr wrap="square" lIns="0" rIns="0" tIns="0" bIns="0" anchor="t">
            <a:spAutoFit/>
          </a:bodyPr>
          <a:lstStyle/>
          <a:p>
            <a:pPr algn="l">
              <a:lnSpc>
                <a:spcPct val="128000"/>
              </a:lnSpc>
              <a:spcAft>
                <a:spcPts val="200"/>
              </a:spcAft>
            </a:pPr>
            <a:r>
              <a:rPr sz="950" b="0" i="0">
                <a:solidFill>
                  <a:srgbClr val="3F4B5C"/>
                </a:solidFill>
                <a:latin typeface="Segoe UI"/>
              </a:rPr>
              <a:t>Browser, demo and eval harness all read the one shape</a:t>
            </a:r>
          </a:p>
        </p:txBody>
      </p:sp>
      <p:sp>
        <p:nvSpPr>
          <p:cNvPr id="47" name="Rectangle 46"/>
          <p:cNvSpPr/>
          <p:nvPr/>
        </p:nvSpPr>
        <p:spPr>
          <a:xfrm>
            <a:off x="777240" y="4041648"/>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77240" y="4187952"/>
            <a:ext cx="64008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TWO SHAPES THAT NEVER TRAVEL THE MAIN LINE</a:t>
            </a:r>
          </a:p>
        </p:txBody>
      </p:sp>
      <p:sp>
        <p:nvSpPr>
          <p:cNvPr id="49" name="TextBox 48"/>
          <p:cNvSpPr txBox="1"/>
          <p:nvPr/>
        </p:nvSpPr>
        <p:spPr>
          <a:xfrm>
            <a:off x="777240" y="4462272"/>
            <a:ext cx="960120" cy="256032"/>
          </a:xfrm>
          <a:prstGeom prst="rect">
            <a:avLst/>
          </a:prstGeom>
          <a:noFill/>
        </p:spPr>
        <p:txBody>
          <a:bodyPr wrap="square" lIns="0" rIns="0" tIns="0" bIns="0" anchor="t">
            <a:spAutoFit/>
          </a:bodyPr>
          <a:lstStyle/>
          <a:p>
            <a:pPr algn="l">
              <a:lnSpc>
                <a:spcPct val="122000"/>
              </a:lnSpc>
              <a:spcAft>
                <a:spcPts val="200"/>
              </a:spcAft>
            </a:pPr>
            <a:r>
              <a:rPr sz="1200" b="1" i="0">
                <a:solidFill>
                  <a:srgbClr val="B45309"/>
                </a:solidFill>
                <a:latin typeface="Segoe UI"/>
              </a:rPr>
              <a:t>JSON</a:t>
            </a:r>
          </a:p>
        </p:txBody>
      </p:sp>
      <p:sp>
        <p:nvSpPr>
          <p:cNvPr id="50" name="TextBox 49"/>
          <p:cNvSpPr txBox="1"/>
          <p:nvPr/>
        </p:nvSpPr>
        <p:spPr>
          <a:xfrm>
            <a:off x="1737360" y="4498848"/>
            <a:ext cx="2971800" cy="219456"/>
          </a:xfrm>
          <a:prstGeom prst="rect">
            <a:avLst/>
          </a:prstGeom>
          <a:noFill/>
        </p:spPr>
        <p:txBody>
          <a:bodyPr wrap="square" lIns="0" rIns="0" tIns="0" bIns="0" anchor="t">
            <a:spAutoFit/>
          </a:bodyPr>
          <a:lstStyle/>
          <a:p>
            <a:pPr algn="l">
              <a:lnSpc>
                <a:spcPct val="122000"/>
              </a:lnSpc>
              <a:spcAft>
                <a:spcPts val="200"/>
              </a:spcAft>
            </a:pPr>
            <a:r>
              <a:rPr sz="900" b="0" i="0">
                <a:solidFill>
                  <a:srgbClr val="8A94A3"/>
                </a:solidFill>
                <a:latin typeface="Consolas"/>
              </a:rPr>
              <a:t>format="json" · temperature 0</a:t>
            </a:r>
          </a:p>
        </p:txBody>
      </p:sp>
      <p:sp>
        <p:nvSpPr>
          <p:cNvPr id="51" name="TextBox 50"/>
          <p:cNvSpPr txBox="1"/>
          <p:nvPr/>
        </p:nvSpPr>
        <p:spPr>
          <a:xfrm>
            <a:off x="4782312" y="4480560"/>
            <a:ext cx="662940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what the vision model emits: a fixed shape we can parse, diff and score</a:t>
            </a:r>
          </a:p>
        </p:txBody>
      </p:sp>
      <p:sp>
        <p:nvSpPr>
          <p:cNvPr id="52" name="TextBox 51"/>
          <p:cNvSpPr txBox="1"/>
          <p:nvPr/>
        </p:nvSpPr>
        <p:spPr>
          <a:xfrm>
            <a:off x="777240" y="4846320"/>
            <a:ext cx="960120" cy="256032"/>
          </a:xfrm>
          <a:prstGeom prst="rect">
            <a:avLst/>
          </a:prstGeom>
          <a:noFill/>
        </p:spPr>
        <p:txBody>
          <a:bodyPr wrap="square" lIns="0" rIns="0" tIns="0" bIns="0" anchor="t">
            <a:spAutoFit/>
          </a:bodyPr>
          <a:lstStyle/>
          <a:p>
            <a:pPr algn="l">
              <a:lnSpc>
                <a:spcPct val="122000"/>
              </a:lnSpc>
              <a:spcAft>
                <a:spcPts val="200"/>
              </a:spcAft>
            </a:pPr>
            <a:r>
              <a:rPr sz="1200" b="1" i="0">
                <a:solidFill>
                  <a:srgbClr val="B45309"/>
                </a:solidFill>
                <a:latin typeface="Segoe UI"/>
              </a:rPr>
              <a:t>Vectors</a:t>
            </a:r>
          </a:p>
        </p:txBody>
      </p:sp>
      <p:sp>
        <p:nvSpPr>
          <p:cNvPr id="53" name="TextBox 52"/>
          <p:cNvSpPr txBox="1"/>
          <p:nvPr/>
        </p:nvSpPr>
        <p:spPr>
          <a:xfrm>
            <a:off x="1737360" y="4882896"/>
            <a:ext cx="2971800" cy="219456"/>
          </a:xfrm>
          <a:prstGeom prst="rect">
            <a:avLst/>
          </a:prstGeom>
          <a:noFill/>
        </p:spPr>
        <p:txBody>
          <a:bodyPr wrap="square" lIns="0" rIns="0" tIns="0" bIns="0" anchor="t">
            <a:spAutoFit/>
          </a:bodyPr>
          <a:lstStyle/>
          <a:p>
            <a:pPr algn="l">
              <a:lnSpc>
                <a:spcPct val="122000"/>
              </a:lnSpc>
              <a:spcAft>
                <a:spcPts val="200"/>
              </a:spcAft>
            </a:pPr>
            <a:r>
              <a:rPr sz="900" b="0" i="0">
                <a:solidFill>
                  <a:srgbClr val="8A94A3"/>
                </a:solidFill>
                <a:latin typeface="Consolas"/>
              </a:rPr>
              <a:t>receipt_docs · 768-dim</a:t>
            </a:r>
          </a:p>
        </p:txBody>
      </p:sp>
      <p:sp>
        <p:nvSpPr>
          <p:cNvPr id="54" name="TextBox 53"/>
          <p:cNvSpPr txBox="1"/>
          <p:nvPr/>
        </p:nvSpPr>
        <p:spPr>
          <a:xfrm>
            <a:off x="4782312" y="4864608"/>
            <a:ext cx="662940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one sentence per receipt, written after the save; it is what retrieval reads</a:t>
            </a:r>
          </a:p>
        </p:txBody>
      </p:sp>
      <p:sp>
        <p:nvSpPr>
          <p:cNvPr id="55" name="Rectangle 54"/>
          <p:cNvSpPr/>
          <p:nvPr/>
        </p:nvSpPr>
        <p:spPr>
          <a:xfrm>
            <a:off x="777240" y="5285232"/>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77240" y="5486400"/>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Nothing computes a figure on the way through.</a:t>
            </a:r>
          </a:p>
        </p:txBody>
      </p:sp>
      <p:sp>
        <p:nvSpPr>
          <p:cNvPr id="57" name="TextBox 56"/>
          <p:cNvSpPr txBox="1"/>
          <p:nvPr/>
        </p:nvSpPr>
        <p:spPr>
          <a:xfrm>
            <a:off x="777240" y="5797753"/>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Each shape is a re-representation of what the paper said, which is why a disputed number walks back to the pixel it came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Fourteen components, on the map</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brief asks for eight. Every one of ours, the block it lives in, who owns it, and the slide it gets.</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09</a:t>
            </a:r>
          </a:p>
        </p:txBody>
      </p:sp>
      <p:sp>
        <p:nvSpPr>
          <p:cNvPr id="14" name="TextBox 13"/>
          <p:cNvSpPr txBox="1"/>
          <p:nvPr/>
        </p:nvSpPr>
        <p:spPr>
          <a:xfrm>
            <a:off x="777240" y="1847088"/>
            <a:ext cx="1874520" cy="256032"/>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Capture</a:t>
            </a:r>
          </a:p>
        </p:txBody>
      </p:sp>
      <p:sp>
        <p:nvSpPr>
          <p:cNvPr id="15" name="Rectangle 14"/>
          <p:cNvSpPr/>
          <p:nvPr/>
        </p:nvSpPr>
        <p:spPr>
          <a:xfrm>
            <a:off x="777240" y="2121408"/>
            <a:ext cx="1709928"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77240" y="2231136"/>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6</a:t>
            </a:r>
          </a:p>
        </p:txBody>
      </p:sp>
      <p:sp>
        <p:nvSpPr>
          <p:cNvPr id="17" name="TextBox 16"/>
          <p:cNvSpPr txBox="1"/>
          <p:nvPr/>
        </p:nvSpPr>
        <p:spPr>
          <a:xfrm>
            <a:off x="1124712" y="2231136"/>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Chat UI</a:t>
            </a:r>
          </a:p>
        </p:txBody>
      </p:sp>
      <p:sp>
        <p:nvSpPr>
          <p:cNvPr id="18" name="TextBox 17"/>
          <p:cNvSpPr txBox="1"/>
          <p:nvPr/>
        </p:nvSpPr>
        <p:spPr>
          <a:xfrm>
            <a:off x="1124712" y="2441448"/>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NA</a:t>
            </a:r>
            <a:r>
              <a:rPr sz="850" b="0" i="0" spc="30">
                <a:solidFill>
                  <a:srgbClr val="B45309"/>
                </a:solidFill>
                <a:latin typeface="Segoe UI"/>
              </a:rPr>
              <a:t>   slide 22</a:t>
            </a:r>
          </a:p>
        </p:txBody>
      </p:sp>
      <p:sp>
        <p:nvSpPr>
          <p:cNvPr id="19" name="TextBox 18"/>
          <p:cNvSpPr txBox="1"/>
          <p:nvPr/>
        </p:nvSpPr>
        <p:spPr>
          <a:xfrm>
            <a:off x="2967960" y="1847088"/>
            <a:ext cx="1874520" cy="256032"/>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Extract</a:t>
            </a:r>
          </a:p>
        </p:txBody>
      </p:sp>
      <p:sp>
        <p:nvSpPr>
          <p:cNvPr id="20" name="Rectangle 19"/>
          <p:cNvSpPr/>
          <p:nvPr/>
        </p:nvSpPr>
        <p:spPr>
          <a:xfrm>
            <a:off x="2967960" y="2121408"/>
            <a:ext cx="1709928"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67960" y="2231136"/>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45309"/>
                </a:solidFill>
                <a:latin typeface="Segoe UI"/>
              </a:rPr>
              <a:t>14</a:t>
            </a:r>
          </a:p>
        </p:txBody>
      </p:sp>
      <p:sp>
        <p:nvSpPr>
          <p:cNvPr id="22" name="TextBox 21"/>
          <p:cNvSpPr txBox="1"/>
          <p:nvPr/>
        </p:nvSpPr>
        <p:spPr>
          <a:xfrm>
            <a:off x="3315432" y="2231136"/>
            <a:ext cx="1563624" cy="237744"/>
          </a:xfrm>
          <a:prstGeom prst="rect">
            <a:avLst/>
          </a:prstGeom>
          <a:noFill/>
        </p:spPr>
        <p:txBody>
          <a:bodyPr wrap="square" lIns="0" rIns="0" tIns="0" bIns="0" anchor="t">
            <a:spAutoFit/>
          </a:bodyPr>
          <a:lstStyle/>
          <a:p>
            <a:pPr algn="l">
              <a:lnSpc>
                <a:spcPct val="122000"/>
              </a:lnSpc>
              <a:spcAft>
                <a:spcPts val="200"/>
              </a:spcAft>
            </a:pPr>
            <a:r>
              <a:rPr sz="1050" b="1" i="0">
                <a:solidFill>
                  <a:srgbClr val="3F4B5C"/>
                </a:solidFill>
                <a:latin typeface="Segoe UI"/>
              </a:rPr>
              <a:t>CV / DS ★</a:t>
            </a:r>
          </a:p>
        </p:txBody>
      </p:sp>
      <p:sp>
        <p:nvSpPr>
          <p:cNvPr id="23" name="TextBox 22"/>
          <p:cNvSpPr txBox="1"/>
          <p:nvPr/>
        </p:nvSpPr>
        <p:spPr>
          <a:xfrm>
            <a:off x="3315432" y="2441448"/>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ALL</a:t>
            </a:r>
            <a:r>
              <a:rPr sz="850" b="0" i="0" spc="30">
                <a:solidFill>
                  <a:srgbClr val="B45309"/>
                </a:solidFill>
                <a:latin typeface="Segoe UI"/>
              </a:rPr>
              <a:t>   slide 10</a:t>
            </a:r>
          </a:p>
        </p:txBody>
      </p:sp>
      <p:sp>
        <p:nvSpPr>
          <p:cNvPr id="24" name="TextBox 23"/>
          <p:cNvSpPr txBox="1"/>
          <p:nvPr/>
        </p:nvSpPr>
        <p:spPr>
          <a:xfrm>
            <a:off x="2967960" y="2706624"/>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1</a:t>
            </a:r>
          </a:p>
        </p:txBody>
      </p:sp>
      <p:sp>
        <p:nvSpPr>
          <p:cNvPr id="25" name="TextBox 24"/>
          <p:cNvSpPr txBox="1"/>
          <p:nvPr/>
        </p:nvSpPr>
        <p:spPr>
          <a:xfrm>
            <a:off x="3315432" y="2706624"/>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Prompt engineering</a:t>
            </a:r>
          </a:p>
        </p:txBody>
      </p:sp>
      <p:sp>
        <p:nvSpPr>
          <p:cNvPr id="26" name="TextBox 25"/>
          <p:cNvSpPr txBox="1"/>
          <p:nvPr/>
        </p:nvSpPr>
        <p:spPr>
          <a:xfrm>
            <a:off x="3315432" y="2916936"/>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CA</a:t>
            </a:r>
            <a:r>
              <a:rPr sz="850" b="0" i="0" spc="30">
                <a:solidFill>
                  <a:srgbClr val="B45309"/>
                </a:solidFill>
                <a:latin typeface="Segoe UI"/>
              </a:rPr>
              <a:t>   slide 11</a:t>
            </a:r>
          </a:p>
        </p:txBody>
      </p:sp>
      <p:sp>
        <p:nvSpPr>
          <p:cNvPr id="27" name="TextBox 26"/>
          <p:cNvSpPr txBox="1"/>
          <p:nvPr/>
        </p:nvSpPr>
        <p:spPr>
          <a:xfrm>
            <a:off x="2967960" y="3182112"/>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5</a:t>
            </a:r>
          </a:p>
        </p:txBody>
      </p:sp>
      <p:sp>
        <p:nvSpPr>
          <p:cNvPr id="28" name="TextBox 27"/>
          <p:cNvSpPr txBox="1"/>
          <p:nvPr/>
        </p:nvSpPr>
        <p:spPr>
          <a:xfrm>
            <a:off x="3315432" y="3182112"/>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Guardrails</a:t>
            </a:r>
          </a:p>
        </p:txBody>
      </p:sp>
      <p:sp>
        <p:nvSpPr>
          <p:cNvPr id="29" name="TextBox 28"/>
          <p:cNvSpPr txBox="1"/>
          <p:nvPr/>
        </p:nvSpPr>
        <p:spPr>
          <a:xfrm>
            <a:off x="3315432" y="3392424"/>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CA</a:t>
            </a:r>
            <a:r>
              <a:rPr sz="850" b="0" i="0" spc="30">
                <a:solidFill>
                  <a:srgbClr val="B45309"/>
                </a:solidFill>
                <a:latin typeface="Segoe UI"/>
              </a:rPr>
              <a:t>   slide 11</a:t>
            </a:r>
          </a:p>
        </p:txBody>
      </p:sp>
      <p:sp>
        <p:nvSpPr>
          <p:cNvPr id="30" name="TextBox 29"/>
          <p:cNvSpPr txBox="1"/>
          <p:nvPr/>
        </p:nvSpPr>
        <p:spPr>
          <a:xfrm>
            <a:off x="2967960" y="3657600"/>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2</a:t>
            </a:r>
          </a:p>
        </p:txBody>
      </p:sp>
      <p:sp>
        <p:nvSpPr>
          <p:cNvPr id="31" name="TextBox 30"/>
          <p:cNvSpPr txBox="1"/>
          <p:nvPr/>
        </p:nvSpPr>
        <p:spPr>
          <a:xfrm>
            <a:off x="3315432" y="3657600"/>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Disambiguation</a:t>
            </a:r>
          </a:p>
        </p:txBody>
      </p:sp>
      <p:sp>
        <p:nvSpPr>
          <p:cNvPr id="32" name="TextBox 31"/>
          <p:cNvSpPr txBox="1"/>
          <p:nvPr/>
        </p:nvSpPr>
        <p:spPr>
          <a:xfrm>
            <a:off x="3315432" y="3867912"/>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FS</a:t>
            </a:r>
            <a:r>
              <a:rPr sz="850" b="0" i="0" spc="30">
                <a:solidFill>
                  <a:srgbClr val="B45309"/>
                </a:solidFill>
                <a:latin typeface="Segoe UI"/>
              </a:rPr>
              <a:t>   slide 10</a:t>
            </a:r>
          </a:p>
        </p:txBody>
      </p:sp>
      <p:sp>
        <p:nvSpPr>
          <p:cNvPr id="33" name="TextBox 32"/>
          <p:cNvSpPr txBox="1"/>
          <p:nvPr/>
        </p:nvSpPr>
        <p:spPr>
          <a:xfrm>
            <a:off x="5158679" y="1847088"/>
            <a:ext cx="1874520" cy="256032"/>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Ledger</a:t>
            </a:r>
          </a:p>
        </p:txBody>
      </p:sp>
      <p:sp>
        <p:nvSpPr>
          <p:cNvPr id="34" name="Rectangle 33"/>
          <p:cNvSpPr/>
          <p:nvPr/>
        </p:nvSpPr>
        <p:spPr>
          <a:xfrm>
            <a:off x="5158679" y="2121408"/>
            <a:ext cx="1709928"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58679" y="2231136"/>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4</a:t>
            </a:r>
          </a:p>
        </p:txBody>
      </p:sp>
      <p:sp>
        <p:nvSpPr>
          <p:cNvPr id="36" name="TextBox 35"/>
          <p:cNvSpPr txBox="1"/>
          <p:nvPr/>
        </p:nvSpPr>
        <p:spPr>
          <a:xfrm>
            <a:off x="5506151" y="2231136"/>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Memory</a:t>
            </a:r>
          </a:p>
        </p:txBody>
      </p:sp>
      <p:sp>
        <p:nvSpPr>
          <p:cNvPr id="37" name="TextBox 36"/>
          <p:cNvSpPr txBox="1"/>
          <p:nvPr/>
        </p:nvSpPr>
        <p:spPr>
          <a:xfrm>
            <a:off x="5506151" y="2441448"/>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FS</a:t>
            </a:r>
            <a:r>
              <a:rPr sz="850" b="0" i="0" spc="30">
                <a:solidFill>
                  <a:srgbClr val="B45309"/>
                </a:solidFill>
                <a:latin typeface="Segoe UI"/>
              </a:rPr>
              <a:t>   slide 13</a:t>
            </a:r>
          </a:p>
        </p:txBody>
      </p:sp>
      <p:sp>
        <p:nvSpPr>
          <p:cNvPr id="38" name="TextBox 37"/>
          <p:cNvSpPr txBox="1"/>
          <p:nvPr/>
        </p:nvSpPr>
        <p:spPr>
          <a:xfrm>
            <a:off x="5158679" y="2706624"/>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3</a:t>
            </a:r>
          </a:p>
        </p:txBody>
      </p:sp>
      <p:sp>
        <p:nvSpPr>
          <p:cNvPr id="39" name="TextBox 38"/>
          <p:cNvSpPr txBox="1"/>
          <p:nvPr/>
        </p:nvSpPr>
        <p:spPr>
          <a:xfrm>
            <a:off x="5506151" y="2706624"/>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RAG</a:t>
            </a:r>
          </a:p>
        </p:txBody>
      </p:sp>
      <p:sp>
        <p:nvSpPr>
          <p:cNvPr id="40" name="TextBox 39"/>
          <p:cNvSpPr txBox="1"/>
          <p:nvPr/>
        </p:nvSpPr>
        <p:spPr>
          <a:xfrm>
            <a:off x="5506151" y="2916936"/>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FS</a:t>
            </a:r>
            <a:r>
              <a:rPr sz="850" b="0" i="0" spc="30">
                <a:solidFill>
                  <a:srgbClr val="B45309"/>
                </a:solidFill>
                <a:latin typeface="Segoe UI"/>
              </a:rPr>
              <a:t>   slide 13</a:t>
            </a:r>
          </a:p>
        </p:txBody>
      </p:sp>
      <p:sp>
        <p:nvSpPr>
          <p:cNvPr id="41" name="TextBox 40"/>
          <p:cNvSpPr txBox="1"/>
          <p:nvPr/>
        </p:nvSpPr>
        <p:spPr>
          <a:xfrm>
            <a:off x="5158679" y="3182112"/>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12</a:t>
            </a:r>
          </a:p>
        </p:txBody>
      </p:sp>
      <p:sp>
        <p:nvSpPr>
          <p:cNvPr id="42" name="TextBox 41"/>
          <p:cNvSpPr txBox="1"/>
          <p:nvPr/>
        </p:nvSpPr>
        <p:spPr>
          <a:xfrm>
            <a:off x="5506151" y="3182112"/>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Advanced RAG</a:t>
            </a:r>
          </a:p>
        </p:txBody>
      </p:sp>
      <p:sp>
        <p:nvSpPr>
          <p:cNvPr id="43" name="TextBox 42"/>
          <p:cNvSpPr txBox="1"/>
          <p:nvPr/>
        </p:nvSpPr>
        <p:spPr>
          <a:xfrm>
            <a:off x="5506151" y="3392424"/>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FS</a:t>
            </a:r>
            <a:r>
              <a:rPr sz="850" b="0" i="0" spc="30">
                <a:solidFill>
                  <a:srgbClr val="B45309"/>
                </a:solidFill>
                <a:latin typeface="Segoe UI"/>
              </a:rPr>
              <a:t>   slide 13</a:t>
            </a:r>
          </a:p>
        </p:txBody>
      </p:sp>
      <p:sp>
        <p:nvSpPr>
          <p:cNvPr id="44" name="TextBox 43"/>
          <p:cNvSpPr txBox="1"/>
          <p:nvPr/>
        </p:nvSpPr>
        <p:spPr>
          <a:xfrm>
            <a:off x="7349399" y="1847088"/>
            <a:ext cx="1874520" cy="256032"/>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Agent</a:t>
            </a:r>
          </a:p>
        </p:txBody>
      </p:sp>
      <p:sp>
        <p:nvSpPr>
          <p:cNvPr id="45" name="Rectangle 44"/>
          <p:cNvSpPr/>
          <p:nvPr/>
        </p:nvSpPr>
        <p:spPr>
          <a:xfrm>
            <a:off x="7349399" y="2121408"/>
            <a:ext cx="1709928"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349399" y="2231136"/>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9</a:t>
            </a:r>
          </a:p>
        </p:txBody>
      </p:sp>
      <p:sp>
        <p:nvSpPr>
          <p:cNvPr id="47" name="TextBox 46"/>
          <p:cNvSpPr txBox="1"/>
          <p:nvPr/>
        </p:nvSpPr>
        <p:spPr>
          <a:xfrm>
            <a:off x="7696871" y="2231136"/>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ReAct / tools</a:t>
            </a:r>
          </a:p>
        </p:txBody>
      </p:sp>
      <p:sp>
        <p:nvSpPr>
          <p:cNvPr id="48" name="TextBox 47"/>
          <p:cNvSpPr txBox="1"/>
          <p:nvPr/>
        </p:nvSpPr>
        <p:spPr>
          <a:xfrm>
            <a:off x="7696871" y="2441448"/>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AG</a:t>
            </a:r>
            <a:r>
              <a:rPr sz="850" b="0" i="0" spc="30">
                <a:solidFill>
                  <a:srgbClr val="B45309"/>
                </a:solidFill>
                <a:latin typeface="Segoe UI"/>
              </a:rPr>
              <a:t>   slide 12</a:t>
            </a:r>
          </a:p>
        </p:txBody>
      </p:sp>
      <p:sp>
        <p:nvSpPr>
          <p:cNvPr id="49" name="TextBox 48"/>
          <p:cNvSpPr txBox="1"/>
          <p:nvPr/>
        </p:nvSpPr>
        <p:spPr>
          <a:xfrm>
            <a:off x="7349399" y="2706624"/>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10</a:t>
            </a:r>
          </a:p>
        </p:txBody>
      </p:sp>
      <p:sp>
        <p:nvSpPr>
          <p:cNvPr id="50" name="TextBox 49"/>
          <p:cNvSpPr txBox="1"/>
          <p:nvPr/>
        </p:nvSpPr>
        <p:spPr>
          <a:xfrm>
            <a:off x="7696871" y="2706624"/>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SQL + critique</a:t>
            </a:r>
          </a:p>
        </p:txBody>
      </p:sp>
      <p:sp>
        <p:nvSpPr>
          <p:cNvPr id="51" name="TextBox 50"/>
          <p:cNvSpPr txBox="1"/>
          <p:nvPr/>
        </p:nvSpPr>
        <p:spPr>
          <a:xfrm>
            <a:off x="7696871" y="2916936"/>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AG</a:t>
            </a:r>
            <a:r>
              <a:rPr sz="850" b="0" i="0" spc="30">
                <a:solidFill>
                  <a:srgbClr val="B45309"/>
                </a:solidFill>
                <a:latin typeface="Segoe UI"/>
              </a:rPr>
              <a:t>   slide 13</a:t>
            </a:r>
          </a:p>
        </p:txBody>
      </p:sp>
      <p:sp>
        <p:nvSpPr>
          <p:cNvPr id="52" name="TextBox 51"/>
          <p:cNvSpPr txBox="1"/>
          <p:nvPr/>
        </p:nvSpPr>
        <p:spPr>
          <a:xfrm>
            <a:off x="7349399" y="3182112"/>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C2C9D2"/>
                </a:solidFill>
                <a:latin typeface="Segoe UI"/>
              </a:rPr>
              <a:t>11</a:t>
            </a:r>
          </a:p>
        </p:txBody>
      </p:sp>
      <p:sp>
        <p:nvSpPr>
          <p:cNvPr id="53" name="TextBox 52"/>
          <p:cNvSpPr txBox="1"/>
          <p:nvPr/>
        </p:nvSpPr>
        <p:spPr>
          <a:xfrm>
            <a:off x="7696871" y="3182112"/>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C2C9D2"/>
                </a:solidFill>
                <a:latin typeface="Segoe UI"/>
              </a:rPr>
              <a:t>Multi-agent</a:t>
            </a:r>
          </a:p>
        </p:txBody>
      </p:sp>
      <p:sp>
        <p:nvSpPr>
          <p:cNvPr id="54" name="TextBox 53"/>
          <p:cNvSpPr txBox="1"/>
          <p:nvPr/>
        </p:nvSpPr>
        <p:spPr>
          <a:xfrm>
            <a:off x="7696871" y="3392424"/>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B91C1C"/>
                </a:solidFill>
                <a:latin typeface="Segoe UI"/>
              </a:rPr>
              <a:t/>
            </a:r>
            <a:r>
              <a:rPr sz="850" b="0" i="0" spc="30">
                <a:solidFill>
                  <a:srgbClr val="B91C1C"/>
                </a:solidFill>
                <a:latin typeface="Segoe UI"/>
              </a:rPr>
              <a:t>   not claimed</a:t>
            </a:r>
          </a:p>
        </p:txBody>
      </p:sp>
      <p:sp>
        <p:nvSpPr>
          <p:cNvPr id="55" name="TextBox 54"/>
          <p:cNvSpPr txBox="1"/>
          <p:nvPr/>
        </p:nvSpPr>
        <p:spPr>
          <a:xfrm>
            <a:off x="9540118" y="1847088"/>
            <a:ext cx="1874520" cy="256032"/>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Answer</a:t>
            </a:r>
          </a:p>
        </p:txBody>
      </p:sp>
      <p:sp>
        <p:nvSpPr>
          <p:cNvPr id="56" name="Rectangle 55"/>
          <p:cNvSpPr/>
          <p:nvPr/>
        </p:nvSpPr>
        <p:spPr>
          <a:xfrm>
            <a:off x="9540118" y="2121408"/>
            <a:ext cx="1709928"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540118" y="2231136"/>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7</a:t>
            </a:r>
          </a:p>
        </p:txBody>
      </p:sp>
      <p:sp>
        <p:nvSpPr>
          <p:cNvPr id="58" name="TextBox 57"/>
          <p:cNvSpPr txBox="1"/>
          <p:nvPr/>
        </p:nvSpPr>
        <p:spPr>
          <a:xfrm>
            <a:off x="9887590" y="2231136"/>
            <a:ext cx="1563624"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3F4B5C"/>
                </a:solidFill>
                <a:latin typeface="Segoe UI"/>
              </a:rPr>
              <a:t>API endpoint</a:t>
            </a:r>
          </a:p>
        </p:txBody>
      </p:sp>
      <p:sp>
        <p:nvSpPr>
          <p:cNvPr id="59" name="TextBox 58"/>
          <p:cNvSpPr txBox="1"/>
          <p:nvPr/>
        </p:nvSpPr>
        <p:spPr>
          <a:xfrm>
            <a:off x="9887590" y="2441448"/>
            <a:ext cx="1563624" cy="201168"/>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NA</a:t>
            </a:r>
            <a:r>
              <a:rPr sz="850" b="0" i="0" spc="30">
                <a:solidFill>
                  <a:srgbClr val="B45309"/>
                </a:solidFill>
                <a:latin typeface="Segoe UI"/>
              </a:rPr>
              <a:t>   slide 14</a:t>
            </a:r>
          </a:p>
        </p:txBody>
      </p:sp>
      <p:sp>
        <p:nvSpPr>
          <p:cNvPr id="60" name="Rectangle 59"/>
          <p:cNvSpPr/>
          <p:nvPr/>
        </p:nvSpPr>
        <p:spPr>
          <a:xfrm>
            <a:off x="777240" y="4334256"/>
            <a:ext cx="10637215"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777240" y="4443984"/>
            <a:ext cx="27432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UNDER ALL FIVE</a:t>
            </a:r>
          </a:p>
        </p:txBody>
      </p:sp>
      <p:sp>
        <p:nvSpPr>
          <p:cNvPr id="62" name="TextBox 61"/>
          <p:cNvSpPr txBox="1"/>
          <p:nvPr/>
        </p:nvSpPr>
        <p:spPr>
          <a:xfrm>
            <a:off x="7391095" y="4443984"/>
            <a:ext cx="4023360" cy="201168"/>
          </a:xfrm>
          <a:prstGeom prst="rect">
            <a:avLst/>
          </a:prstGeom>
          <a:noFill/>
        </p:spPr>
        <p:txBody>
          <a:bodyPr wrap="square" lIns="0" rIns="0" tIns="0" bIns="0" anchor="t">
            <a:spAutoFit/>
          </a:bodyPr>
          <a:lstStyle/>
          <a:p>
            <a:pPr algn="r">
              <a:lnSpc>
                <a:spcPct val="122000"/>
              </a:lnSpc>
              <a:spcAft>
                <a:spcPts val="200"/>
              </a:spcAft>
            </a:pPr>
            <a:r>
              <a:rPr sz="850" b="1" i="0" spc="40">
                <a:solidFill>
                  <a:srgbClr val="8A94A3"/>
                </a:solidFill>
                <a:latin typeface="Segoe UI"/>
              </a:rPr>
              <a:t>CA CLARENCE · FS FRASER · NA NATHANIEL · AG AARON</a:t>
            </a:r>
          </a:p>
        </p:txBody>
      </p:sp>
      <p:sp>
        <p:nvSpPr>
          <p:cNvPr id="63" name="TextBox 62"/>
          <p:cNvSpPr txBox="1"/>
          <p:nvPr/>
        </p:nvSpPr>
        <p:spPr>
          <a:xfrm>
            <a:off x="3017520" y="4407408"/>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8</a:t>
            </a:r>
          </a:p>
        </p:txBody>
      </p:sp>
      <p:sp>
        <p:nvSpPr>
          <p:cNvPr id="64" name="TextBox 63"/>
          <p:cNvSpPr txBox="1"/>
          <p:nvPr/>
        </p:nvSpPr>
        <p:spPr>
          <a:xfrm>
            <a:off x="3328416" y="4407408"/>
            <a:ext cx="1188720" cy="237744"/>
          </a:xfrm>
          <a:prstGeom prst="rect">
            <a:avLst/>
          </a:prstGeom>
          <a:noFill/>
        </p:spPr>
        <p:txBody>
          <a:bodyPr wrap="square" lIns="0" rIns="0" tIns="0" bIns="0" anchor="t">
            <a:spAutoFit/>
          </a:bodyPr>
          <a:lstStyle/>
          <a:p>
            <a:pPr algn="l">
              <a:lnSpc>
                <a:spcPct val="122000"/>
              </a:lnSpc>
              <a:spcAft>
                <a:spcPts val="200"/>
              </a:spcAft>
            </a:pPr>
            <a:r>
              <a:rPr sz="1100" b="0" i="0">
                <a:solidFill>
                  <a:srgbClr val="3F4B5C"/>
                </a:solidFill>
                <a:latin typeface="Segoe UI"/>
              </a:rPr>
              <a:t>LLMOps</a:t>
            </a:r>
          </a:p>
        </p:txBody>
      </p:sp>
      <p:sp>
        <p:nvSpPr>
          <p:cNvPr id="65" name="TextBox 64"/>
          <p:cNvSpPr txBox="1"/>
          <p:nvPr/>
        </p:nvSpPr>
        <p:spPr>
          <a:xfrm>
            <a:off x="4315968" y="4425696"/>
            <a:ext cx="1097280" cy="219456"/>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AG</a:t>
            </a:r>
            <a:r>
              <a:rPr sz="850" b="0" i="0" spc="30">
                <a:solidFill>
                  <a:srgbClr val="B45309"/>
                </a:solidFill>
                <a:latin typeface="Segoe UI"/>
              </a:rPr>
              <a:t>  slide 15</a:t>
            </a:r>
          </a:p>
        </p:txBody>
      </p:sp>
      <p:sp>
        <p:nvSpPr>
          <p:cNvPr id="66" name="TextBox 65"/>
          <p:cNvSpPr txBox="1"/>
          <p:nvPr/>
        </p:nvSpPr>
        <p:spPr>
          <a:xfrm>
            <a:off x="5212080" y="4407408"/>
            <a:ext cx="329184"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13</a:t>
            </a:r>
          </a:p>
        </p:txBody>
      </p:sp>
      <p:sp>
        <p:nvSpPr>
          <p:cNvPr id="67" name="TextBox 66"/>
          <p:cNvSpPr txBox="1"/>
          <p:nvPr/>
        </p:nvSpPr>
        <p:spPr>
          <a:xfrm>
            <a:off x="5522976" y="4407408"/>
            <a:ext cx="1188720" cy="237744"/>
          </a:xfrm>
          <a:prstGeom prst="rect">
            <a:avLst/>
          </a:prstGeom>
          <a:noFill/>
        </p:spPr>
        <p:txBody>
          <a:bodyPr wrap="square" lIns="0" rIns="0" tIns="0" bIns="0" anchor="t">
            <a:spAutoFit/>
          </a:bodyPr>
          <a:lstStyle/>
          <a:p>
            <a:pPr algn="l">
              <a:lnSpc>
                <a:spcPct val="122000"/>
              </a:lnSpc>
              <a:spcAft>
                <a:spcPts val="200"/>
              </a:spcAft>
            </a:pPr>
            <a:r>
              <a:rPr sz="1100" b="0" i="0">
                <a:solidFill>
                  <a:srgbClr val="3F4B5C"/>
                </a:solidFill>
                <a:latin typeface="Segoe UI"/>
              </a:rPr>
              <a:t>Evals</a:t>
            </a:r>
          </a:p>
        </p:txBody>
      </p:sp>
      <p:sp>
        <p:nvSpPr>
          <p:cNvPr id="68" name="TextBox 67"/>
          <p:cNvSpPr txBox="1"/>
          <p:nvPr/>
        </p:nvSpPr>
        <p:spPr>
          <a:xfrm>
            <a:off x="6510528" y="4425696"/>
            <a:ext cx="1097280" cy="219456"/>
          </a:xfrm>
          <a:prstGeom prst="rect">
            <a:avLst/>
          </a:prstGeom>
          <a:noFill/>
        </p:spPr>
        <p:txBody>
          <a:bodyPr wrap="square" lIns="0" rIns="0" tIns="0" bIns="0" anchor="t">
            <a:spAutoFit/>
          </a:bodyPr>
          <a:lstStyle/>
          <a:p>
            <a:pPr algn="l">
              <a:lnSpc>
                <a:spcPct val="122000"/>
              </a:lnSpc>
              <a:spcAft>
                <a:spcPts val="200"/>
              </a:spcAft>
            </a:pPr>
            <a:r>
              <a:rPr sz="850" b="1" i="0" spc="30">
                <a:solidFill>
                  <a:srgbClr val="C2C9D2"/>
                </a:solidFill>
                <a:latin typeface="Segoe UI"/>
              </a:rPr>
              <a:t>AG</a:t>
            </a:r>
            <a:r>
              <a:rPr sz="850" b="0" i="0" spc="30">
                <a:solidFill>
                  <a:srgbClr val="B45309"/>
                </a:solidFill>
                <a:latin typeface="Segoe UI"/>
              </a:rPr>
              <a:t>  slide 17</a:t>
            </a:r>
          </a:p>
        </p:txBody>
      </p:sp>
      <p:sp>
        <p:nvSpPr>
          <p:cNvPr id="69" name="Rectangle 68"/>
          <p:cNvSpPr/>
          <p:nvPr/>
        </p:nvSpPr>
        <p:spPr>
          <a:xfrm>
            <a:off x="777240" y="5084064"/>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777240" y="5285232"/>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Thirteen claimed, one declined, and five of them get a slide.</a:t>
            </a:r>
          </a:p>
        </p:txBody>
      </p:sp>
      <p:sp>
        <p:nvSpPr>
          <p:cNvPr id="71" name="TextBox 70"/>
          <p:cNvSpPr txBox="1"/>
          <p:nvPr/>
        </p:nvSpPr>
        <p:spPr>
          <a:xfrm>
            <a:off x="777240" y="5596585"/>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 14 CV/DS first, then 5 guardrails, 9 ReAct, 10 SQL, 7 API. #11 is grey because one planner over eleven tools is not several collaborating agents.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Component 14: one receipt, ten stages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vision model is stage 3. Stages 5 and 6 exist because it is not perfect.</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10</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Extract</a:t>
            </a:r>
          </a:p>
        </p:txBody>
      </p:sp>
      <p:sp>
        <p:nvSpPr>
          <p:cNvPr id="18" name="Rectangle 17"/>
          <p:cNvSpPr/>
          <p:nvPr/>
        </p:nvSpPr>
        <p:spPr>
          <a:xfrm>
            <a:off x="7697419" y="571500"/>
            <a:ext cx="370332"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0" name="TextBox 19"/>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1" name="TextBox 20"/>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2" name="TextBox 21"/>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Agent</a:t>
            </a:r>
          </a:p>
        </p:txBody>
      </p:sp>
      <p:sp>
        <p:nvSpPr>
          <p:cNvPr id="23" name="TextBox 22"/>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4" name="TextBox 23"/>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5" name="Rectangle 24"/>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API</a:t>
            </a:r>
          </a:p>
        </p:txBody>
      </p:sp>
      <p:sp>
        <p:nvSpPr>
          <p:cNvPr id="27" name="TextBox 26"/>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8" name="TextBox 27"/>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9" name="TextBox 28"/>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30" name="TextBox 29"/>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Traces</a:t>
            </a:r>
          </a:p>
        </p:txBody>
      </p:sp>
      <p:sp>
        <p:nvSpPr>
          <p:cNvPr id="31" name="Rectangle 30"/>
          <p:cNvSpPr/>
          <p:nvPr/>
        </p:nvSpPr>
        <p:spPr>
          <a:xfrm>
            <a:off x="777240" y="1828800"/>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1956816"/>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1</a:t>
            </a:r>
          </a:p>
        </p:txBody>
      </p:sp>
      <p:sp>
        <p:nvSpPr>
          <p:cNvPr id="33" name="TextBox 32"/>
          <p:cNvSpPr txBox="1"/>
          <p:nvPr/>
        </p:nvSpPr>
        <p:spPr>
          <a:xfrm>
            <a:off x="777240" y="2176272"/>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Guardrail</a:t>
            </a:r>
          </a:p>
        </p:txBody>
      </p:sp>
      <p:sp>
        <p:nvSpPr>
          <p:cNvPr id="34" name="Rectangle 33"/>
          <p:cNvSpPr/>
          <p:nvPr/>
        </p:nvSpPr>
        <p:spPr>
          <a:xfrm>
            <a:off x="2904683" y="1828800"/>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904683" y="1956816"/>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2</a:t>
            </a:r>
          </a:p>
        </p:txBody>
      </p:sp>
      <p:sp>
        <p:nvSpPr>
          <p:cNvPr id="36" name="TextBox 35"/>
          <p:cNvSpPr txBox="1"/>
          <p:nvPr/>
        </p:nvSpPr>
        <p:spPr>
          <a:xfrm>
            <a:off x="2904683" y="2176272"/>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Normalise</a:t>
            </a:r>
          </a:p>
        </p:txBody>
      </p:sp>
      <p:sp>
        <p:nvSpPr>
          <p:cNvPr id="37" name="Rectangle 36"/>
          <p:cNvSpPr/>
          <p:nvPr/>
        </p:nvSpPr>
        <p:spPr>
          <a:xfrm>
            <a:off x="5032126" y="1828800"/>
            <a:ext cx="1853123"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32126" y="1956816"/>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B45309"/>
                </a:solidFill>
                <a:latin typeface="Segoe UI"/>
              </a:rPr>
              <a:t>3</a:t>
            </a:r>
          </a:p>
        </p:txBody>
      </p:sp>
      <p:sp>
        <p:nvSpPr>
          <p:cNvPr id="39" name="TextBox 38"/>
          <p:cNvSpPr txBox="1"/>
          <p:nvPr/>
        </p:nvSpPr>
        <p:spPr>
          <a:xfrm>
            <a:off x="5032126" y="2176272"/>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Read</a:t>
            </a:r>
          </a:p>
        </p:txBody>
      </p:sp>
      <p:sp>
        <p:nvSpPr>
          <p:cNvPr id="40" name="Rectangle 39"/>
          <p:cNvSpPr/>
          <p:nvPr/>
        </p:nvSpPr>
        <p:spPr>
          <a:xfrm>
            <a:off x="7159569" y="1828800"/>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159569" y="1956816"/>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4</a:t>
            </a:r>
          </a:p>
        </p:txBody>
      </p:sp>
      <p:sp>
        <p:nvSpPr>
          <p:cNvPr id="42" name="TextBox 41"/>
          <p:cNvSpPr txBox="1"/>
          <p:nvPr/>
        </p:nvSpPr>
        <p:spPr>
          <a:xfrm>
            <a:off x="7159569" y="2176272"/>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Clean up</a:t>
            </a:r>
          </a:p>
        </p:txBody>
      </p:sp>
      <p:sp>
        <p:nvSpPr>
          <p:cNvPr id="43" name="Rectangle 42"/>
          <p:cNvSpPr/>
          <p:nvPr/>
        </p:nvSpPr>
        <p:spPr>
          <a:xfrm>
            <a:off x="9287012" y="1828800"/>
            <a:ext cx="1853123"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287012" y="1956816"/>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B45309"/>
                </a:solidFill>
                <a:latin typeface="Segoe UI"/>
              </a:rPr>
              <a:t>5</a:t>
            </a:r>
          </a:p>
        </p:txBody>
      </p:sp>
      <p:sp>
        <p:nvSpPr>
          <p:cNvPr id="45" name="TextBox 44"/>
          <p:cNvSpPr txBox="1"/>
          <p:nvPr/>
        </p:nvSpPr>
        <p:spPr>
          <a:xfrm>
            <a:off x="9287012" y="2176272"/>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Recover</a:t>
            </a:r>
          </a:p>
        </p:txBody>
      </p:sp>
      <p:sp>
        <p:nvSpPr>
          <p:cNvPr id="46" name="Rectangle 45"/>
          <p:cNvSpPr/>
          <p:nvPr/>
        </p:nvSpPr>
        <p:spPr>
          <a:xfrm>
            <a:off x="777240" y="2670048"/>
            <a:ext cx="1853123"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77240" y="2798064"/>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B45309"/>
                </a:solidFill>
                <a:latin typeface="Segoe UI"/>
              </a:rPr>
              <a:t>6</a:t>
            </a:r>
          </a:p>
        </p:txBody>
      </p:sp>
      <p:sp>
        <p:nvSpPr>
          <p:cNvPr id="48" name="TextBox 47"/>
          <p:cNvSpPr txBox="1"/>
          <p:nvPr/>
        </p:nvSpPr>
        <p:spPr>
          <a:xfrm>
            <a:off x="777240" y="3017520"/>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Re-read</a:t>
            </a:r>
          </a:p>
        </p:txBody>
      </p:sp>
      <p:sp>
        <p:nvSpPr>
          <p:cNvPr id="49" name="Rectangle 48"/>
          <p:cNvSpPr/>
          <p:nvPr/>
        </p:nvSpPr>
        <p:spPr>
          <a:xfrm>
            <a:off x="2904683" y="2670048"/>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2904683" y="2798064"/>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7</a:t>
            </a:r>
          </a:p>
        </p:txBody>
      </p:sp>
      <p:sp>
        <p:nvSpPr>
          <p:cNvPr id="51" name="TextBox 50"/>
          <p:cNvSpPr txBox="1"/>
          <p:nvPr/>
        </p:nvSpPr>
        <p:spPr>
          <a:xfrm>
            <a:off x="2904683" y="3017520"/>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Validate</a:t>
            </a:r>
          </a:p>
        </p:txBody>
      </p:sp>
      <p:sp>
        <p:nvSpPr>
          <p:cNvPr id="52" name="Rectangle 51"/>
          <p:cNvSpPr/>
          <p:nvPr/>
        </p:nvSpPr>
        <p:spPr>
          <a:xfrm>
            <a:off x="5032126" y="2670048"/>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032126" y="2798064"/>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8</a:t>
            </a:r>
          </a:p>
        </p:txBody>
      </p:sp>
      <p:sp>
        <p:nvSpPr>
          <p:cNvPr id="54" name="TextBox 53"/>
          <p:cNvSpPr txBox="1"/>
          <p:nvPr/>
        </p:nvSpPr>
        <p:spPr>
          <a:xfrm>
            <a:off x="5032126" y="3017520"/>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Audit</a:t>
            </a:r>
          </a:p>
        </p:txBody>
      </p:sp>
      <p:sp>
        <p:nvSpPr>
          <p:cNvPr id="55" name="Rectangle 54"/>
          <p:cNvSpPr/>
          <p:nvPr/>
        </p:nvSpPr>
        <p:spPr>
          <a:xfrm>
            <a:off x="7159569" y="2670048"/>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59569" y="2798064"/>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9</a:t>
            </a:r>
          </a:p>
        </p:txBody>
      </p:sp>
      <p:sp>
        <p:nvSpPr>
          <p:cNvPr id="57" name="TextBox 56"/>
          <p:cNvSpPr txBox="1"/>
          <p:nvPr/>
        </p:nvSpPr>
        <p:spPr>
          <a:xfrm>
            <a:off x="7159569" y="3017520"/>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Hold?</a:t>
            </a:r>
          </a:p>
        </p:txBody>
      </p:sp>
      <p:sp>
        <p:nvSpPr>
          <p:cNvPr id="58" name="Rectangle 57"/>
          <p:cNvSpPr/>
          <p:nvPr/>
        </p:nvSpPr>
        <p:spPr>
          <a:xfrm>
            <a:off x="9287012" y="2670048"/>
            <a:ext cx="1853123"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87012" y="2798064"/>
            <a:ext cx="457200" cy="219456"/>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10</a:t>
            </a:r>
          </a:p>
        </p:txBody>
      </p:sp>
      <p:sp>
        <p:nvSpPr>
          <p:cNvPr id="60" name="TextBox 59"/>
          <p:cNvSpPr txBox="1"/>
          <p:nvPr/>
        </p:nvSpPr>
        <p:spPr>
          <a:xfrm>
            <a:off x="9287012" y="3017520"/>
            <a:ext cx="1853123" cy="27432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Save</a:t>
            </a:r>
          </a:p>
        </p:txBody>
      </p:sp>
      <p:sp>
        <p:nvSpPr>
          <p:cNvPr id="61" name="Rectangle 60"/>
          <p:cNvSpPr/>
          <p:nvPr/>
        </p:nvSpPr>
        <p:spPr>
          <a:xfrm>
            <a:off x="777240" y="365760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77240" y="3840480"/>
            <a:ext cx="8229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THE RE-READ LOOP: WHAT STAGES 5 AND 6 DO</a:t>
            </a:r>
          </a:p>
        </p:txBody>
      </p:sp>
      <p:sp>
        <p:nvSpPr>
          <p:cNvPr id="63" name="TextBox 62"/>
          <p:cNvSpPr txBox="1"/>
          <p:nvPr/>
        </p:nvSpPr>
        <p:spPr>
          <a:xfrm>
            <a:off x="777240" y="4169664"/>
            <a:ext cx="2127443" cy="274320"/>
          </a:xfrm>
          <a:prstGeom prst="rect">
            <a:avLst/>
          </a:prstGeom>
          <a:noFill/>
        </p:spPr>
        <p:txBody>
          <a:bodyPr wrap="square" lIns="0" rIns="0" tIns="0" bIns="0" anchor="t">
            <a:spAutoFit/>
          </a:bodyPr>
          <a:lstStyle/>
          <a:p>
            <a:pPr algn="ctr">
              <a:lnSpc>
                <a:spcPct val="122000"/>
              </a:lnSpc>
              <a:spcAft>
                <a:spcPts val="200"/>
              </a:spcAft>
            </a:pPr>
            <a:r>
              <a:rPr sz="1250" b="1" i="0">
                <a:solidFill>
                  <a:srgbClr val="3F4B5C"/>
                </a:solidFill>
                <a:latin typeface="Segoe UI"/>
              </a:rPr>
              <a:t>Audit fails</a:t>
            </a:r>
          </a:p>
        </p:txBody>
      </p:sp>
      <p:sp>
        <p:nvSpPr>
          <p:cNvPr id="64" name="TextBox 63"/>
          <p:cNvSpPr txBox="1"/>
          <p:nvPr/>
        </p:nvSpPr>
        <p:spPr>
          <a:xfrm>
            <a:off x="2767523" y="4160520"/>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65" name="TextBox 64"/>
          <p:cNvSpPr txBox="1"/>
          <p:nvPr/>
        </p:nvSpPr>
        <p:spPr>
          <a:xfrm>
            <a:off x="2904683" y="4169664"/>
            <a:ext cx="2127443" cy="274320"/>
          </a:xfrm>
          <a:prstGeom prst="rect">
            <a:avLst/>
          </a:prstGeom>
          <a:noFill/>
        </p:spPr>
        <p:txBody>
          <a:bodyPr wrap="square" lIns="0" rIns="0" tIns="0" bIns="0" anchor="t">
            <a:spAutoFit/>
          </a:bodyPr>
          <a:lstStyle/>
          <a:p>
            <a:pPr algn="ctr">
              <a:lnSpc>
                <a:spcPct val="122000"/>
              </a:lnSpc>
              <a:spcAft>
                <a:spcPts val="200"/>
              </a:spcAft>
            </a:pPr>
            <a:r>
              <a:rPr sz="1250" b="1" i="0">
                <a:solidFill>
                  <a:srgbClr val="3F4B5C"/>
                </a:solidFill>
                <a:latin typeface="Segoe UI"/>
              </a:rPr>
              <a:t>Pick the band</a:t>
            </a:r>
          </a:p>
        </p:txBody>
      </p:sp>
      <p:sp>
        <p:nvSpPr>
          <p:cNvPr id="66" name="TextBox 65"/>
          <p:cNvSpPr txBox="1"/>
          <p:nvPr/>
        </p:nvSpPr>
        <p:spPr>
          <a:xfrm>
            <a:off x="4894966" y="4160520"/>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67" name="TextBox 66"/>
          <p:cNvSpPr txBox="1"/>
          <p:nvPr/>
        </p:nvSpPr>
        <p:spPr>
          <a:xfrm>
            <a:off x="5032126" y="4169664"/>
            <a:ext cx="2127443" cy="274320"/>
          </a:xfrm>
          <a:prstGeom prst="rect">
            <a:avLst/>
          </a:prstGeom>
          <a:noFill/>
        </p:spPr>
        <p:txBody>
          <a:bodyPr wrap="square" lIns="0" rIns="0" tIns="0" bIns="0" anchor="t">
            <a:spAutoFit/>
          </a:bodyPr>
          <a:lstStyle/>
          <a:p>
            <a:pPr algn="ctr">
              <a:lnSpc>
                <a:spcPct val="122000"/>
              </a:lnSpc>
              <a:spcAft>
                <a:spcPts val="200"/>
              </a:spcAft>
            </a:pPr>
            <a:r>
              <a:rPr sz="1250" b="1" i="0">
                <a:solidFill>
                  <a:srgbClr val="3F4B5C"/>
                </a:solidFill>
                <a:latin typeface="Segoe UI"/>
              </a:rPr>
              <a:t>Crop + enlarge</a:t>
            </a:r>
          </a:p>
        </p:txBody>
      </p:sp>
      <p:sp>
        <p:nvSpPr>
          <p:cNvPr id="68" name="TextBox 67"/>
          <p:cNvSpPr txBox="1"/>
          <p:nvPr/>
        </p:nvSpPr>
        <p:spPr>
          <a:xfrm>
            <a:off x="7022409" y="4160520"/>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69" name="TextBox 68"/>
          <p:cNvSpPr txBox="1"/>
          <p:nvPr/>
        </p:nvSpPr>
        <p:spPr>
          <a:xfrm>
            <a:off x="7159569" y="4169664"/>
            <a:ext cx="2127443" cy="274320"/>
          </a:xfrm>
          <a:prstGeom prst="rect">
            <a:avLst/>
          </a:prstGeom>
          <a:noFill/>
        </p:spPr>
        <p:txBody>
          <a:bodyPr wrap="square" lIns="0" rIns="0" tIns="0" bIns="0" anchor="t">
            <a:spAutoFit/>
          </a:bodyPr>
          <a:lstStyle/>
          <a:p>
            <a:pPr algn="ctr">
              <a:lnSpc>
                <a:spcPct val="122000"/>
              </a:lnSpc>
              <a:spcAft>
                <a:spcPts val="200"/>
              </a:spcAft>
            </a:pPr>
            <a:r>
              <a:rPr sz="1250" b="1" i="0">
                <a:solidFill>
                  <a:srgbClr val="3F4B5C"/>
                </a:solidFill>
                <a:latin typeface="Segoe UI"/>
              </a:rPr>
              <a:t>Ask again</a:t>
            </a:r>
          </a:p>
        </p:txBody>
      </p:sp>
      <p:sp>
        <p:nvSpPr>
          <p:cNvPr id="70" name="TextBox 69"/>
          <p:cNvSpPr txBox="1"/>
          <p:nvPr/>
        </p:nvSpPr>
        <p:spPr>
          <a:xfrm>
            <a:off x="9149852" y="4160520"/>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71" name="TextBox 70"/>
          <p:cNvSpPr txBox="1"/>
          <p:nvPr/>
        </p:nvSpPr>
        <p:spPr>
          <a:xfrm>
            <a:off x="9287012" y="4169664"/>
            <a:ext cx="2127443" cy="274320"/>
          </a:xfrm>
          <a:prstGeom prst="rect">
            <a:avLst/>
          </a:prstGeom>
          <a:noFill/>
        </p:spPr>
        <p:txBody>
          <a:bodyPr wrap="square" lIns="0" rIns="0" tIns="0" bIns="0" anchor="t">
            <a:spAutoFit/>
          </a:bodyPr>
          <a:lstStyle/>
          <a:p>
            <a:pPr algn="ctr">
              <a:lnSpc>
                <a:spcPct val="122000"/>
              </a:lnSpc>
              <a:spcAft>
                <a:spcPts val="200"/>
              </a:spcAft>
            </a:pPr>
            <a:r>
              <a:rPr sz="1250" b="1" i="0">
                <a:solidFill>
                  <a:srgbClr val="3F4B5C"/>
                </a:solidFill>
                <a:latin typeface="Segoe UI"/>
              </a:rPr>
              <a:t>Keep only if better</a:t>
            </a:r>
          </a:p>
        </p:txBody>
      </p:sp>
      <p:sp>
        <p:nvSpPr>
          <p:cNvPr id="72" name="Rectangle 71"/>
          <p:cNvSpPr/>
          <p:nvPr/>
        </p:nvSpPr>
        <p:spPr>
          <a:xfrm>
            <a:off x="777240" y="493776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77240" y="5138928"/>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Transcribe, then repair. Never compute.</a:t>
            </a:r>
          </a:p>
        </p:txBody>
      </p:sp>
      <p:sp>
        <p:nvSpPr>
          <p:cNvPr id="74" name="TextBox 73"/>
          <p:cNvSpPr txBox="1"/>
          <p:nvPr/>
        </p:nvSpPr>
        <p:spPr>
          <a:xfrm>
            <a:off x="777240" y="5450281"/>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Only stage 6 may overwrite a figure, and only if the receipt's own arithmetic improves. The audit, the review gate, the ledger and every answer come from what it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Guardrails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Seven gates on the way in, and the nineteen prompt rules behind them.</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11</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Extract</a:t>
            </a:r>
          </a:p>
        </p:txBody>
      </p:sp>
      <p:sp>
        <p:nvSpPr>
          <p:cNvPr id="18" name="Rectangle 17"/>
          <p:cNvSpPr/>
          <p:nvPr/>
        </p:nvSpPr>
        <p:spPr>
          <a:xfrm>
            <a:off x="7697419" y="571500"/>
            <a:ext cx="370332"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0" name="TextBox 19"/>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1" name="TextBox 20"/>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2" name="TextBox 21"/>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Agent</a:t>
            </a:r>
          </a:p>
        </p:txBody>
      </p:sp>
      <p:sp>
        <p:nvSpPr>
          <p:cNvPr id="23" name="TextBox 22"/>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4" name="TextBox 23"/>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5" name="Rectangle 24"/>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API</a:t>
            </a:r>
          </a:p>
        </p:txBody>
      </p:sp>
      <p:sp>
        <p:nvSpPr>
          <p:cNvPr id="27" name="TextBox 26"/>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8" name="TextBox 27"/>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9" name="TextBox 28"/>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30" name="TextBox 29"/>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Traces</a:t>
            </a:r>
          </a:p>
        </p:txBody>
      </p:sp>
      <p:sp>
        <p:nvSpPr>
          <p:cNvPr id="31" name="TextBox 30"/>
          <p:cNvSpPr txBox="1"/>
          <p:nvPr/>
        </p:nvSpPr>
        <p:spPr>
          <a:xfrm>
            <a:off x="777240" y="1773936"/>
            <a:ext cx="3657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REQUEST</a:t>
            </a:r>
          </a:p>
        </p:txBody>
      </p:sp>
      <p:sp>
        <p:nvSpPr>
          <p:cNvPr id="32" name="TextBox 31"/>
          <p:cNvSpPr txBox="1"/>
          <p:nvPr/>
        </p:nvSpPr>
        <p:spPr>
          <a:xfrm>
            <a:off x="7756855" y="1773936"/>
            <a:ext cx="3657600" cy="201168"/>
          </a:xfrm>
          <a:prstGeom prst="rect">
            <a:avLst/>
          </a:prstGeom>
          <a:noFill/>
        </p:spPr>
        <p:txBody>
          <a:bodyPr wrap="square" lIns="0" rIns="0" tIns="0" bIns="0" anchor="t">
            <a:spAutoFit/>
          </a:bodyPr>
          <a:lstStyle/>
          <a:p>
            <a:pPr algn="r">
              <a:lnSpc>
                <a:spcPct val="122000"/>
              </a:lnSpc>
              <a:spcAft>
                <a:spcPts val="200"/>
              </a:spcAft>
            </a:pPr>
            <a:r>
              <a:rPr sz="850" b="1" i="0" spc="90">
                <a:solidFill>
                  <a:srgbClr val="047857"/>
                </a:solidFill>
                <a:latin typeface="Segoe UI"/>
              </a:rPr>
              <a:t>LEDGER</a:t>
            </a:r>
          </a:p>
        </p:txBody>
      </p:sp>
      <p:sp>
        <p:nvSpPr>
          <p:cNvPr id="33" name="Rectangle 32"/>
          <p:cNvSpPr/>
          <p:nvPr/>
        </p:nvSpPr>
        <p:spPr>
          <a:xfrm>
            <a:off x="777240" y="2029968"/>
            <a:ext cx="10637215"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77240"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File check</a:t>
            </a:r>
          </a:p>
        </p:txBody>
      </p:sp>
      <p:sp>
        <p:nvSpPr>
          <p:cNvPr id="35" name="TextBox 34"/>
          <p:cNvSpPr txBox="1"/>
          <p:nvPr/>
        </p:nvSpPr>
        <p:spPr>
          <a:xfrm>
            <a:off x="777240"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validate_input</a:t>
            </a:r>
          </a:p>
        </p:txBody>
      </p:sp>
      <p:cxnSp>
        <p:nvCxnSpPr>
          <p:cNvPr id="36" name="Connector 35"/>
          <p:cNvCxnSpPr/>
          <p:nvPr/>
        </p:nvCxnSpPr>
        <p:spPr>
          <a:xfrm>
            <a:off x="850392"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rot="10800000">
            <a:off x="816102"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wrong type
&gt; 25 MB</a:t>
            </a:r>
          </a:p>
        </p:txBody>
      </p:sp>
      <p:sp>
        <p:nvSpPr>
          <p:cNvPr id="39" name="TextBox 38"/>
          <p:cNvSpPr txBox="1"/>
          <p:nvPr/>
        </p:nvSpPr>
        <p:spPr>
          <a:xfrm>
            <a:off x="2068242"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40" name="TextBox 39"/>
          <p:cNvSpPr txBox="1"/>
          <p:nvPr/>
        </p:nvSpPr>
        <p:spPr>
          <a:xfrm>
            <a:off x="2296842"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Schema check</a:t>
            </a:r>
          </a:p>
        </p:txBody>
      </p:sp>
      <p:sp>
        <p:nvSpPr>
          <p:cNvPr id="41" name="TextBox 40"/>
          <p:cNvSpPr txBox="1"/>
          <p:nvPr/>
        </p:nvSpPr>
        <p:spPr>
          <a:xfrm>
            <a:off x="2296842"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validate_output</a:t>
            </a:r>
          </a:p>
        </p:txBody>
      </p:sp>
      <p:cxnSp>
        <p:nvCxnSpPr>
          <p:cNvPr id="42" name="Connector 41"/>
          <p:cNvCxnSpPr/>
          <p:nvPr/>
        </p:nvCxnSpPr>
        <p:spPr>
          <a:xfrm>
            <a:off x="2369994"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43" name="Isosceles Triangle 42"/>
          <p:cNvSpPr/>
          <p:nvPr/>
        </p:nvSpPr>
        <p:spPr>
          <a:xfrm rot="10800000">
            <a:off x="2335704"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96842"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malformed
reply</a:t>
            </a:r>
          </a:p>
        </p:txBody>
      </p:sp>
      <p:sp>
        <p:nvSpPr>
          <p:cNvPr id="45" name="TextBox 44"/>
          <p:cNvSpPr txBox="1"/>
          <p:nvPr/>
        </p:nvSpPr>
        <p:spPr>
          <a:xfrm>
            <a:off x="3587844"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46" name="TextBox 45"/>
          <p:cNvSpPr txBox="1"/>
          <p:nvPr/>
        </p:nvSpPr>
        <p:spPr>
          <a:xfrm>
            <a:off x="3816444"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SQL filter</a:t>
            </a:r>
          </a:p>
        </p:txBody>
      </p:sp>
      <p:sp>
        <p:nvSpPr>
          <p:cNvPr id="47" name="TextBox 46"/>
          <p:cNvSpPr txBox="1"/>
          <p:nvPr/>
        </p:nvSpPr>
        <p:spPr>
          <a:xfrm>
            <a:off x="3816444"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_validate_sql</a:t>
            </a:r>
          </a:p>
        </p:txBody>
      </p:sp>
      <p:cxnSp>
        <p:nvCxnSpPr>
          <p:cNvPr id="48" name="Connector 47"/>
          <p:cNvCxnSpPr/>
          <p:nvPr/>
        </p:nvCxnSpPr>
        <p:spPr>
          <a:xfrm>
            <a:off x="3889596"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3855306"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16444"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not a
SELECT</a:t>
            </a:r>
          </a:p>
        </p:txBody>
      </p:sp>
      <p:sp>
        <p:nvSpPr>
          <p:cNvPr id="51" name="TextBox 50"/>
          <p:cNvSpPr txBox="1"/>
          <p:nvPr/>
        </p:nvSpPr>
        <p:spPr>
          <a:xfrm>
            <a:off x="5107447"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52" name="TextBox 51"/>
          <p:cNvSpPr txBox="1"/>
          <p:nvPr/>
        </p:nvSpPr>
        <p:spPr>
          <a:xfrm>
            <a:off x="5336047"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Scope lock</a:t>
            </a:r>
          </a:p>
        </p:txBody>
      </p:sp>
      <p:sp>
        <p:nvSpPr>
          <p:cNvPr id="53" name="TextBox 52"/>
          <p:cNvSpPr txBox="1"/>
          <p:nvPr/>
        </p:nvSpPr>
        <p:spPr>
          <a:xfrm>
            <a:off x="5336047"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_build_scoped_db</a:t>
            </a:r>
          </a:p>
        </p:txBody>
      </p:sp>
      <p:cxnSp>
        <p:nvCxnSpPr>
          <p:cNvPr id="54" name="Connector 53"/>
          <p:cNvCxnSpPr/>
          <p:nvPr/>
        </p:nvCxnSpPr>
        <p:spPr>
          <a:xfrm>
            <a:off x="5409199"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55" name="Isosceles Triangle 54"/>
          <p:cNvSpPr/>
          <p:nvPr/>
        </p:nvSpPr>
        <p:spPr>
          <a:xfrm rot="10800000">
            <a:off x="5374909"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336047"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reading the
whole ledger</a:t>
            </a:r>
          </a:p>
        </p:txBody>
      </p:sp>
      <p:sp>
        <p:nvSpPr>
          <p:cNvPr id="57" name="TextBox 56"/>
          <p:cNvSpPr txBox="1"/>
          <p:nvPr/>
        </p:nvSpPr>
        <p:spPr>
          <a:xfrm>
            <a:off x="6627049"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58" name="TextBox 57"/>
          <p:cNvSpPr txBox="1"/>
          <p:nvPr/>
        </p:nvSpPr>
        <p:spPr>
          <a:xfrm>
            <a:off x="6855649"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Sanitiser</a:t>
            </a:r>
          </a:p>
        </p:txBody>
      </p:sp>
      <p:sp>
        <p:nvSpPr>
          <p:cNvPr id="59" name="TextBox 58"/>
          <p:cNvSpPr txBox="1"/>
          <p:nvPr/>
        </p:nvSpPr>
        <p:spPr>
          <a:xfrm>
            <a:off x="6855649"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_sanitize_observation</a:t>
            </a:r>
          </a:p>
        </p:txBody>
      </p:sp>
      <p:cxnSp>
        <p:nvCxnSpPr>
          <p:cNvPr id="60" name="Connector 59"/>
          <p:cNvCxnSpPr/>
          <p:nvPr/>
        </p:nvCxnSpPr>
        <p:spPr>
          <a:xfrm>
            <a:off x="6928801"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61" name="Isosceles Triangle 60"/>
          <p:cNvSpPr/>
          <p:nvPr/>
        </p:nvSpPr>
        <p:spPr>
          <a:xfrm rot="10800000">
            <a:off x="6894511"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55649"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injection via a
vendor name</a:t>
            </a:r>
          </a:p>
        </p:txBody>
      </p:sp>
      <p:sp>
        <p:nvSpPr>
          <p:cNvPr id="63" name="TextBox 62"/>
          <p:cNvSpPr txBox="1"/>
          <p:nvPr/>
        </p:nvSpPr>
        <p:spPr>
          <a:xfrm>
            <a:off x="8146651"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64" name="TextBox 63"/>
          <p:cNvSpPr txBox="1"/>
          <p:nvPr/>
        </p:nvSpPr>
        <p:spPr>
          <a:xfrm>
            <a:off x="8375251"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Grounding</a:t>
            </a:r>
          </a:p>
        </p:txBody>
      </p:sp>
      <p:sp>
        <p:nvSpPr>
          <p:cNvPr id="65" name="TextBox 64"/>
          <p:cNvSpPr txBox="1"/>
          <p:nvPr/>
        </p:nvSpPr>
        <p:spPr>
          <a:xfrm>
            <a:off x="8375251"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_ungrounded_numbers</a:t>
            </a:r>
          </a:p>
        </p:txBody>
      </p:sp>
      <p:cxnSp>
        <p:nvCxnSpPr>
          <p:cNvPr id="66" name="Connector 65"/>
          <p:cNvCxnSpPr/>
          <p:nvPr/>
        </p:nvCxnSpPr>
        <p:spPr>
          <a:xfrm>
            <a:off x="8448403"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67" name="Isosceles Triangle 66"/>
          <p:cNvSpPr/>
          <p:nvPr/>
        </p:nvSpPr>
        <p:spPr>
          <a:xfrm rot="10800000">
            <a:off x="8414113"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375251"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a figure no
tool returned</a:t>
            </a:r>
          </a:p>
        </p:txBody>
      </p:sp>
      <p:sp>
        <p:nvSpPr>
          <p:cNvPr id="69" name="TextBox 68"/>
          <p:cNvSpPr txBox="1"/>
          <p:nvPr/>
        </p:nvSpPr>
        <p:spPr>
          <a:xfrm>
            <a:off x="9666253" y="21762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70" name="TextBox 69"/>
          <p:cNvSpPr txBox="1"/>
          <p:nvPr/>
        </p:nvSpPr>
        <p:spPr>
          <a:xfrm>
            <a:off x="9894853" y="2176272"/>
            <a:ext cx="1336722" cy="457200"/>
          </a:xfrm>
          <a:prstGeom prst="rect">
            <a:avLst/>
          </a:prstGeom>
          <a:noFill/>
        </p:spPr>
        <p:txBody>
          <a:bodyPr wrap="square" lIns="0" rIns="0" tIns="0" bIns="0" anchor="t">
            <a:spAutoFit/>
          </a:bodyPr>
          <a:lstStyle/>
          <a:p>
            <a:pPr algn="l">
              <a:lnSpc>
                <a:spcPct val="115000"/>
              </a:lnSpc>
              <a:spcAft>
                <a:spcPts val="200"/>
              </a:spcAft>
            </a:pPr>
            <a:r>
              <a:rPr sz="1150" b="1" i="0">
                <a:solidFill>
                  <a:srgbClr val="0F172A"/>
                </a:solidFill>
                <a:latin typeface="Segoe UI"/>
              </a:rPr>
              <a:t>Write guards</a:t>
            </a:r>
          </a:p>
        </p:txBody>
      </p:sp>
      <p:sp>
        <p:nvSpPr>
          <p:cNvPr id="71" name="TextBox 70"/>
          <p:cNvSpPr txBox="1"/>
          <p:nvPr/>
        </p:nvSpPr>
        <p:spPr>
          <a:xfrm>
            <a:off x="9894853" y="2450592"/>
            <a:ext cx="1428162" cy="219456"/>
          </a:xfrm>
          <a:prstGeom prst="rect">
            <a:avLst/>
          </a:prstGeom>
          <a:noFill/>
        </p:spPr>
        <p:txBody>
          <a:bodyPr wrap="square" lIns="0" rIns="0" tIns="0" bIns="0" anchor="t">
            <a:spAutoFit/>
          </a:bodyPr>
          <a:lstStyle/>
          <a:p>
            <a:pPr algn="l">
              <a:lnSpc>
                <a:spcPct val="122000"/>
              </a:lnSpc>
              <a:spcAft>
                <a:spcPts val="200"/>
              </a:spcAft>
            </a:pPr>
            <a:r>
              <a:rPr sz="750" b="0" i="0">
                <a:solidFill>
                  <a:srgbClr val="B45309"/>
                </a:solidFill>
                <a:latin typeface="Consolas"/>
              </a:rPr>
              <a:t>_guard_amount</a:t>
            </a:r>
          </a:p>
        </p:txBody>
      </p:sp>
      <p:cxnSp>
        <p:nvCxnSpPr>
          <p:cNvPr id="72" name="Connector 71"/>
          <p:cNvCxnSpPr/>
          <p:nvPr/>
        </p:nvCxnSpPr>
        <p:spPr>
          <a:xfrm>
            <a:off x="9968005" y="2743200"/>
            <a:ext cx="0" cy="201168"/>
          </a:xfrm>
          <a:prstGeom prst="line">
            <a:avLst/>
          </a:prstGeom>
          <a:ln w="9525">
            <a:solidFill>
              <a:srgbClr val="C2C9D2"/>
            </a:solidFill>
          </a:ln>
        </p:spPr>
        <p:style>
          <a:lnRef idx="2">
            <a:schemeClr val="accent1"/>
          </a:lnRef>
          <a:fillRef idx="0">
            <a:schemeClr val="accent1"/>
          </a:fillRef>
          <a:effectRef idx="1">
            <a:schemeClr val="accent1"/>
          </a:effectRef>
          <a:fontRef idx="minor">
            <a:schemeClr val="tx1"/>
          </a:fontRef>
        </p:style>
      </p:cxnSp>
      <p:sp>
        <p:nvSpPr>
          <p:cNvPr id="73" name="Isosceles Triangle 72"/>
          <p:cNvSpPr/>
          <p:nvPr/>
        </p:nvSpPr>
        <p:spPr>
          <a:xfrm rot="10800000">
            <a:off x="9933715" y="2910078"/>
            <a:ext cx="68580" cy="68580"/>
          </a:xfrm>
          <a:prstGeom prst="triangle">
            <a:avLst/>
          </a:prstGeom>
          <a:solidFill>
            <a:srgbClr val="C2C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894853" y="2999232"/>
            <a:ext cx="1336722" cy="457200"/>
          </a:xfrm>
          <a:prstGeom prst="rect">
            <a:avLst/>
          </a:prstGeom>
          <a:noFill/>
        </p:spPr>
        <p:txBody>
          <a:bodyPr wrap="square" lIns="0" rIns="0" tIns="0" bIns="0" anchor="t">
            <a:spAutoFit/>
          </a:bodyPr>
          <a:lstStyle/>
          <a:p>
            <a:pPr algn="l">
              <a:lnSpc>
                <a:spcPct val="125000"/>
              </a:lnSpc>
              <a:spcAft>
                <a:spcPts val="200"/>
              </a:spcAft>
            </a:pPr>
            <a:r>
              <a:rPr sz="950" b="0" i="0">
                <a:solidFill>
                  <a:srgbClr val="8A94A3"/>
                </a:solidFill>
                <a:latin typeface="Segoe UI"/>
              </a:rPr>
              <a:t>wrong account
double entry</a:t>
            </a:r>
          </a:p>
        </p:txBody>
      </p:sp>
      <p:sp>
        <p:nvSpPr>
          <p:cNvPr id="75" name="Rectangle 74"/>
          <p:cNvSpPr/>
          <p:nvPr/>
        </p:nvSpPr>
        <p:spPr>
          <a:xfrm>
            <a:off x="777240" y="37490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777240" y="3931920"/>
            <a:ext cx="8229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EVERY PROMPT RULE IS A BUG WE ALREADY HAD</a:t>
            </a:r>
          </a:p>
        </p:txBody>
      </p:sp>
      <p:sp>
        <p:nvSpPr>
          <p:cNvPr id="77" name="TextBox 76"/>
          <p:cNvSpPr txBox="1"/>
          <p:nvPr/>
        </p:nvSpPr>
        <p:spPr>
          <a:xfrm>
            <a:off x="777240" y="4224528"/>
            <a:ext cx="1463040" cy="228600"/>
          </a:xfrm>
          <a:prstGeom prst="rect">
            <a:avLst/>
          </a:prstGeom>
          <a:noFill/>
        </p:spPr>
        <p:txBody>
          <a:bodyPr wrap="square" lIns="0" rIns="0" tIns="0" bIns="0" anchor="t">
            <a:spAutoFit/>
          </a:bodyPr>
          <a:lstStyle/>
          <a:p>
            <a:pPr algn="l">
              <a:lnSpc>
                <a:spcPct val="122000"/>
              </a:lnSpc>
              <a:spcAft>
                <a:spcPts val="200"/>
              </a:spcAft>
            </a:pPr>
            <a:r>
              <a:rPr sz="900" b="1" i="0" spc="60">
                <a:solidFill>
                  <a:srgbClr val="B45309"/>
                </a:solidFill>
                <a:latin typeface="Segoe UI"/>
              </a:rPr>
              <a:t>rule 7b</a:t>
            </a:r>
          </a:p>
        </p:txBody>
      </p:sp>
      <p:sp>
        <p:nvSpPr>
          <p:cNvPr id="78" name="TextBox 77"/>
          <p:cNvSpPr txBox="1"/>
          <p:nvPr/>
        </p:nvSpPr>
        <p:spPr>
          <a:xfrm>
            <a:off x="777240" y="4480560"/>
            <a:ext cx="317997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8A94A3"/>
                </a:solidFill>
                <a:latin typeface="Segoe UI"/>
              </a:rPr>
              <a:t>amount = 500</a:t>
            </a:r>
          </a:p>
        </p:txBody>
      </p:sp>
      <p:sp>
        <p:nvSpPr>
          <p:cNvPr id="79" name="TextBox 78"/>
          <p:cNvSpPr txBox="1"/>
          <p:nvPr/>
        </p:nvSpPr>
        <p:spPr>
          <a:xfrm>
            <a:off x="777240" y="4791456"/>
            <a:ext cx="27432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C2C9D2"/>
                </a:solidFill>
                <a:latin typeface="Segoe UI"/>
              </a:rPr>
              <a:t>→</a:t>
            </a:r>
          </a:p>
        </p:txBody>
      </p:sp>
      <p:sp>
        <p:nvSpPr>
          <p:cNvPr id="80" name="TextBox 79"/>
          <p:cNvSpPr txBox="1"/>
          <p:nvPr/>
        </p:nvSpPr>
        <p:spPr>
          <a:xfrm>
            <a:off x="1106424" y="479145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amount = 25.00</a:t>
            </a:r>
          </a:p>
        </p:txBody>
      </p:sp>
      <p:sp>
        <p:nvSpPr>
          <p:cNvPr id="81" name="TextBox 80"/>
          <p:cNvSpPr txBox="1"/>
          <p:nvPr/>
        </p:nvSpPr>
        <p:spPr>
          <a:xfrm>
            <a:off x="4322978" y="4224528"/>
            <a:ext cx="1463040" cy="228600"/>
          </a:xfrm>
          <a:prstGeom prst="rect">
            <a:avLst/>
          </a:prstGeom>
          <a:noFill/>
        </p:spPr>
        <p:txBody>
          <a:bodyPr wrap="square" lIns="0" rIns="0" tIns="0" bIns="0" anchor="t">
            <a:spAutoFit/>
          </a:bodyPr>
          <a:lstStyle/>
          <a:p>
            <a:pPr algn="l">
              <a:lnSpc>
                <a:spcPct val="122000"/>
              </a:lnSpc>
              <a:spcAft>
                <a:spcPts val="200"/>
              </a:spcAft>
            </a:pPr>
            <a:r>
              <a:rPr sz="900" b="1" i="0" spc="60">
                <a:solidFill>
                  <a:srgbClr val="B45309"/>
                </a:solidFill>
                <a:latin typeface="Segoe UI"/>
              </a:rPr>
              <a:t>rule 10b</a:t>
            </a:r>
          </a:p>
        </p:txBody>
      </p:sp>
      <p:sp>
        <p:nvSpPr>
          <p:cNvPr id="82" name="TextBox 81"/>
          <p:cNvSpPr txBox="1"/>
          <p:nvPr/>
        </p:nvSpPr>
        <p:spPr>
          <a:xfrm>
            <a:off x="4322978" y="4480560"/>
            <a:ext cx="317997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8A94A3"/>
                </a:solidFill>
                <a:latin typeface="Segoe UI"/>
              </a:rPr>
              <a:t>total = 603.39</a:t>
            </a:r>
          </a:p>
        </p:txBody>
      </p:sp>
      <p:sp>
        <p:nvSpPr>
          <p:cNvPr id="83" name="TextBox 82"/>
          <p:cNvSpPr txBox="1"/>
          <p:nvPr/>
        </p:nvSpPr>
        <p:spPr>
          <a:xfrm>
            <a:off x="4322978" y="4791456"/>
            <a:ext cx="27432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C2C9D2"/>
                </a:solidFill>
                <a:latin typeface="Segoe UI"/>
              </a:rPr>
              <a:t>→</a:t>
            </a:r>
          </a:p>
        </p:txBody>
      </p:sp>
      <p:sp>
        <p:nvSpPr>
          <p:cNvPr id="84" name="TextBox 83"/>
          <p:cNvSpPr txBox="1"/>
          <p:nvPr/>
        </p:nvSpPr>
        <p:spPr>
          <a:xfrm>
            <a:off x="4652162" y="479145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total = 545.00</a:t>
            </a:r>
          </a:p>
        </p:txBody>
      </p:sp>
      <p:sp>
        <p:nvSpPr>
          <p:cNvPr id="85" name="TextBox 84"/>
          <p:cNvSpPr txBox="1"/>
          <p:nvPr/>
        </p:nvSpPr>
        <p:spPr>
          <a:xfrm>
            <a:off x="7868717" y="4224528"/>
            <a:ext cx="1463040" cy="228600"/>
          </a:xfrm>
          <a:prstGeom prst="rect">
            <a:avLst/>
          </a:prstGeom>
          <a:noFill/>
        </p:spPr>
        <p:txBody>
          <a:bodyPr wrap="square" lIns="0" rIns="0" tIns="0" bIns="0" anchor="t">
            <a:spAutoFit/>
          </a:bodyPr>
          <a:lstStyle/>
          <a:p>
            <a:pPr algn="l">
              <a:lnSpc>
                <a:spcPct val="122000"/>
              </a:lnSpc>
              <a:spcAft>
                <a:spcPts val="200"/>
              </a:spcAft>
            </a:pPr>
            <a:r>
              <a:rPr sz="900" b="1" i="0" spc="60">
                <a:solidFill>
                  <a:srgbClr val="B45309"/>
                </a:solidFill>
                <a:latin typeface="Segoe UI"/>
              </a:rPr>
              <a:t>rule 14b</a:t>
            </a:r>
          </a:p>
        </p:txBody>
      </p:sp>
      <p:sp>
        <p:nvSpPr>
          <p:cNvPr id="86" name="TextBox 85"/>
          <p:cNvSpPr txBox="1"/>
          <p:nvPr/>
        </p:nvSpPr>
        <p:spPr>
          <a:xfrm>
            <a:off x="7868717" y="4480560"/>
            <a:ext cx="317997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8A94A3"/>
                </a:solidFill>
                <a:latin typeface="Segoe UI"/>
              </a:rPr>
              <a:t>12 rows, filed</a:t>
            </a:r>
          </a:p>
        </p:txBody>
      </p:sp>
      <p:sp>
        <p:nvSpPr>
          <p:cNvPr id="87" name="TextBox 86"/>
          <p:cNvSpPr txBox="1"/>
          <p:nvPr/>
        </p:nvSpPr>
        <p:spPr>
          <a:xfrm>
            <a:off x="7868717" y="4791456"/>
            <a:ext cx="27432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C2C9D2"/>
                </a:solidFill>
                <a:latin typeface="Segoe UI"/>
              </a:rPr>
              <a:t>→</a:t>
            </a:r>
          </a:p>
        </p:txBody>
      </p:sp>
      <p:sp>
        <p:nvSpPr>
          <p:cNvPr id="88" name="TextBox 87"/>
          <p:cNvSpPr txBox="1"/>
          <p:nvPr/>
        </p:nvSpPr>
        <p:spPr>
          <a:xfrm>
            <a:off x="8197901" y="479145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12 of 30 → held</a:t>
            </a:r>
          </a:p>
        </p:txBody>
      </p:sp>
      <p:sp>
        <p:nvSpPr>
          <p:cNvPr id="89" name="Rectangle 88"/>
          <p:cNvSpPr/>
          <p:nvPr/>
        </p:nvSpPr>
        <p:spPr>
          <a:xfrm>
            <a:off x="777240" y="55778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777240" y="572414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0 ungrounded numbers across 64 traced agent runs:  </a:t>
            </a:r>
            <a:r>
              <a:rPr sz="1050" b="0" i="0">
                <a:solidFill>
                  <a:srgbClr val="8A94A3"/>
                </a:solidFill>
                <a:latin typeface="Segoe UI"/>
              </a:rPr>
              <a:t>every figure the agent stated appeared in a tool observation first.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The ReAct loop</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Reason and act, interleaved, and every way out of it.</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12</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Extract</a:t>
            </a:r>
          </a:p>
        </p:txBody>
      </p:sp>
      <p:sp>
        <p:nvSpPr>
          <p:cNvPr id="18" name="TextBox 17"/>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9" name="TextBox 18"/>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0" name="TextBox 19"/>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1" name="TextBox 20"/>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Agent</a:t>
            </a:r>
          </a:p>
        </p:txBody>
      </p:sp>
      <p:sp>
        <p:nvSpPr>
          <p:cNvPr id="22" name="Rectangle 21"/>
          <p:cNvSpPr/>
          <p:nvPr/>
        </p:nvSpPr>
        <p:spPr>
          <a:xfrm>
            <a:off x="8899855" y="571500"/>
            <a:ext cx="269748"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4" name="TextBox 23"/>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5" name="Rectangle 24"/>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API</a:t>
            </a:r>
          </a:p>
        </p:txBody>
      </p:sp>
      <p:sp>
        <p:nvSpPr>
          <p:cNvPr id="27" name="TextBox 26"/>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8" name="TextBox 27"/>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9" name="TextBox 28"/>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30" name="TextBox 29"/>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Traces</a:t>
            </a:r>
          </a:p>
        </p:txBody>
      </p:sp>
      <p:sp>
        <p:nvSpPr>
          <p:cNvPr id="31" name="TextBox 30"/>
          <p:cNvSpPr txBox="1"/>
          <p:nvPr/>
        </p:nvSpPr>
        <p:spPr>
          <a:xfrm>
            <a:off x="777240" y="1773936"/>
            <a:ext cx="10637215" cy="566928"/>
          </a:xfrm>
          <a:prstGeom prst="rect">
            <a:avLst/>
          </a:prstGeom>
          <a:noFill/>
        </p:spPr>
        <p:txBody>
          <a:bodyPr wrap="square" lIns="0" rIns="0" tIns="0" bIns="0" anchor="t">
            <a:spAutoFit/>
          </a:bodyPr>
          <a:lstStyle/>
          <a:p>
            <a:pPr algn="l">
              <a:lnSpc>
                <a:spcPct val="135000"/>
              </a:lnSpc>
              <a:spcAft>
                <a:spcPts val="200"/>
              </a:spcAft>
            </a:pPr>
            <a:r>
              <a:rPr sz="1300" b="1" i="0">
                <a:solidFill>
                  <a:srgbClr val="0F172A"/>
                </a:solidFill>
                <a:latin typeface="Segoe UI"/>
              </a:rPr>
              <a:t>ReAct = reasoning and acting, interleaved.  </a:t>
            </a:r>
            <a:r>
              <a:rPr sz="1300" b="0" i="0">
                <a:solidFill>
                  <a:srgbClr val="3F4B5C"/>
                </a:solidFill>
                <a:latin typeface="Segoe UI"/>
              </a:rPr>
              <a:t>The model writes a </a:t>
            </a:r>
            <a:r>
              <a:rPr sz="1300" b="1" i="0">
                <a:solidFill>
                  <a:srgbClr val="B45309"/>
                </a:solidFill>
                <a:latin typeface="Segoe UI"/>
              </a:rPr>
              <a:t>Thought</a:t>
            </a:r>
            <a:r>
              <a:rPr sz="1300" b="0" i="0">
                <a:solidFill>
                  <a:srgbClr val="3F4B5C"/>
                </a:solidFill>
                <a:latin typeface="Segoe UI"/>
              </a:rPr>
              <a:t>, names exactly one </a:t>
            </a:r>
            <a:r>
              <a:rPr sz="1300" b="1" i="0">
                <a:solidFill>
                  <a:srgbClr val="B45309"/>
                </a:solidFill>
                <a:latin typeface="Segoe UI"/>
              </a:rPr>
              <a:t>Action</a:t>
            </a:r>
            <a:r>
              <a:rPr sz="1300" b="0" i="0">
                <a:solidFill>
                  <a:srgbClr val="3F4B5C"/>
                </a:solidFill>
                <a:latin typeface="Segoe UI"/>
              </a:rPr>
              <a:t>, and stops. The harness runs that tool, appends the real </a:t>
            </a:r>
            <a:r>
              <a:rPr sz="1300" b="1" i="0">
                <a:solidFill>
                  <a:srgbClr val="B45309"/>
                </a:solidFill>
                <a:latin typeface="Segoe UI"/>
              </a:rPr>
              <a:t>Observation</a:t>
            </a:r>
            <a:r>
              <a:rPr sz="1300" b="0" i="0">
                <a:solidFill>
                  <a:srgbClr val="3F4B5C"/>
                </a:solidFill>
                <a:latin typeface="Segoe UI"/>
              </a:rPr>
              <a:t> to the transcript, and hands it back. The next Thought sees the result.</a:t>
            </a:r>
          </a:p>
        </p:txBody>
      </p:sp>
      <p:sp>
        <p:nvSpPr>
          <p:cNvPr id="32" name="TextBox 31"/>
          <p:cNvSpPr txBox="1"/>
          <p:nvPr/>
        </p:nvSpPr>
        <p:spPr>
          <a:xfrm>
            <a:off x="777240" y="2340864"/>
            <a:ext cx="10637215" cy="27432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Generation is stopped at the token </a:t>
            </a:r>
            <a:r>
              <a:rPr sz="1100" b="0" i="0">
                <a:solidFill>
                  <a:srgbClr val="0F172A"/>
                </a:solidFill>
                <a:latin typeface="Consolas"/>
              </a:rPr>
              <a:t>Observation:</a:t>
            </a:r>
            <a:r>
              <a:rPr sz="1100" b="0" i="0">
                <a:solidFill>
                  <a:srgbClr val="8A94A3"/>
                </a:solidFill>
                <a:latin typeface="Segoe UI"/>
              </a:rPr>
              <a:t>, so the model can never write its own observation. That is what makes this a loop over tools and not a monologue about them.</a:t>
            </a:r>
          </a:p>
        </p:txBody>
      </p:sp>
      <p:sp>
        <p:nvSpPr>
          <p:cNvPr id="33" name="Rectangle 32"/>
          <p:cNvSpPr/>
          <p:nvPr/>
        </p:nvSpPr>
        <p:spPr>
          <a:xfrm>
            <a:off x="777240" y="2761488"/>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777240" y="2999232"/>
            <a:ext cx="1417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3108960"/>
            <a:ext cx="155448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Question</a:t>
            </a:r>
          </a:p>
        </p:txBody>
      </p:sp>
      <p:sp>
        <p:nvSpPr>
          <p:cNvPr id="36" name="TextBox 35"/>
          <p:cNvSpPr txBox="1"/>
          <p:nvPr/>
        </p:nvSpPr>
        <p:spPr>
          <a:xfrm>
            <a:off x="777240" y="3364992"/>
            <a:ext cx="1737360" cy="274320"/>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 the last 10 turns</a:t>
            </a:r>
          </a:p>
        </p:txBody>
      </p:sp>
      <p:sp>
        <p:nvSpPr>
          <p:cNvPr id="37" name="TextBox 36"/>
          <p:cNvSpPr txBox="1"/>
          <p:nvPr/>
        </p:nvSpPr>
        <p:spPr>
          <a:xfrm>
            <a:off x="2258568" y="30906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38" name="Rectangle 37"/>
          <p:cNvSpPr/>
          <p:nvPr/>
        </p:nvSpPr>
        <p:spPr>
          <a:xfrm>
            <a:off x="2560320" y="2999232"/>
            <a:ext cx="1417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560320" y="3108960"/>
            <a:ext cx="155448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Ambiguous?</a:t>
            </a:r>
          </a:p>
        </p:txBody>
      </p:sp>
      <p:cxnSp>
        <p:nvCxnSpPr>
          <p:cNvPr id="40" name="Connector 39"/>
          <p:cNvCxnSpPr/>
          <p:nvPr/>
        </p:nvCxnSpPr>
        <p:spPr>
          <a:xfrm>
            <a:off x="2880360" y="3438144"/>
            <a:ext cx="0" cy="347472"/>
          </a:xfrm>
          <a:prstGeom prst="line">
            <a:avLst/>
          </a:prstGeom>
          <a:ln w="9525">
            <a:solidFill>
              <a:srgbClr val="B91C1C"/>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10800000">
            <a:off x="2846070" y="3751326"/>
            <a:ext cx="68580" cy="68580"/>
          </a:xfrm>
          <a:prstGeom prst="triangl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80944" y="3493008"/>
            <a:ext cx="914400" cy="219456"/>
          </a:xfrm>
          <a:prstGeom prst="rect">
            <a:avLst/>
          </a:prstGeom>
          <a:noFill/>
        </p:spPr>
        <p:txBody>
          <a:bodyPr wrap="square" lIns="0" rIns="0" tIns="0" bIns="0" anchor="t">
            <a:spAutoFit/>
          </a:bodyPr>
          <a:lstStyle/>
          <a:p>
            <a:pPr algn="l">
              <a:lnSpc>
                <a:spcPct val="122000"/>
              </a:lnSpc>
              <a:spcAft>
                <a:spcPts val="200"/>
              </a:spcAft>
            </a:pPr>
            <a:r>
              <a:rPr sz="900" b="1" i="0">
                <a:solidFill>
                  <a:srgbClr val="B91C1C"/>
                </a:solidFill>
                <a:latin typeface="Segoe UI"/>
              </a:rPr>
              <a:t>yes</a:t>
            </a:r>
          </a:p>
        </p:txBody>
      </p:sp>
      <p:sp>
        <p:nvSpPr>
          <p:cNvPr id="43" name="TextBox 42"/>
          <p:cNvSpPr txBox="1"/>
          <p:nvPr/>
        </p:nvSpPr>
        <p:spPr>
          <a:xfrm>
            <a:off x="2560320" y="3840480"/>
            <a:ext cx="2103120" cy="274320"/>
          </a:xfrm>
          <a:prstGeom prst="rect">
            <a:avLst/>
          </a:prstGeom>
          <a:noFill/>
        </p:spPr>
        <p:txBody>
          <a:bodyPr wrap="square" lIns="0" rIns="0" tIns="0" bIns="0" anchor="t">
            <a:spAutoFit/>
          </a:bodyPr>
          <a:lstStyle/>
          <a:p>
            <a:pPr algn="l">
              <a:lnSpc>
                <a:spcPct val="122000"/>
              </a:lnSpc>
              <a:spcAft>
                <a:spcPts val="200"/>
              </a:spcAft>
            </a:pPr>
            <a:r>
              <a:rPr sz="1200" b="1" i="0">
                <a:solidFill>
                  <a:srgbClr val="B91C1C"/>
                </a:solidFill>
                <a:latin typeface="Segoe UI"/>
              </a:rPr>
              <a:t>Ask once</a:t>
            </a:r>
          </a:p>
        </p:txBody>
      </p:sp>
      <p:sp>
        <p:nvSpPr>
          <p:cNvPr id="44" name="TextBox 43"/>
          <p:cNvSpPr txBox="1"/>
          <p:nvPr/>
        </p:nvSpPr>
        <p:spPr>
          <a:xfrm>
            <a:off x="2560320" y="4096512"/>
            <a:ext cx="2194560" cy="274320"/>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nothing runs  ·  0 steps</a:t>
            </a:r>
          </a:p>
        </p:txBody>
      </p:sp>
      <p:sp>
        <p:nvSpPr>
          <p:cNvPr id="45" name="TextBox 44"/>
          <p:cNvSpPr txBox="1"/>
          <p:nvPr/>
        </p:nvSpPr>
        <p:spPr>
          <a:xfrm>
            <a:off x="4178808" y="30906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46" name="Rounded Rectangle 45"/>
          <p:cNvSpPr/>
          <p:nvPr/>
        </p:nvSpPr>
        <p:spPr>
          <a:xfrm>
            <a:off x="4498848" y="2889504"/>
            <a:ext cx="4443984" cy="749808"/>
          </a:xfrm>
          <a:prstGeom prst="roundRect">
            <a:avLst>
              <a:gd name="adj" fmla="val 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5152" y="2944368"/>
            <a:ext cx="2743200" cy="201168"/>
          </a:xfrm>
          <a:prstGeom prst="rect">
            <a:avLst/>
          </a:prstGeom>
          <a:noFill/>
        </p:spPr>
        <p:txBody>
          <a:bodyPr wrap="square" lIns="0" rIns="0" tIns="0" bIns="0" anchor="t">
            <a:spAutoFit/>
          </a:bodyPr>
          <a:lstStyle/>
          <a:p>
            <a:pPr algn="l">
              <a:lnSpc>
                <a:spcPct val="122000"/>
              </a:lnSpc>
              <a:spcAft>
                <a:spcPts val="200"/>
              </a:spcAft>
            </a:pPr>
            <a:r>
              <a:rPr sz="750" b="1" i="0" spc="90">
                <a:solidFill>
                  <a:srgbClr val="B45309"/>
                </a:solidFill>
                <a:latin typeface="Segoe UI"/>
              </a:rPr>
              <a:t>THE LOOP</a:t>
            </a:r>
          </a:p>
        </p:txBody>
      </p:sp>
      <p:sp>
        <p:nvSpPr>
          <p:cNvPr id="48" name="TextBox 47"/>
          <p:cNvSpPr txBox="1"/>
          <p:nvPr/>
        </p:nvSpPr>
        <p:spPr>
          <a:xfrm>
            <a:off x="4645152" y="3200400"/>
            <a:ext cx="1554480" cy="274320"/>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Thought</a:t>
            </a:r>
          </a:p>
        </p:txBody>
      </p:sp>
      <p:sp>
        <p:nvSpPr>
          <p:cNvPr id="49" name="TextBox 48"/>
          <p:cNvSpPr txBox="1"/>
          <p:nvPr/>
        </p:nvSpPr>
        <p:spPr>
          <a:xfrm>
            <a:off x="6053328" y="3200400"/>
            <a:ext cx="1554480" cy="274320"/>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Action</a:t>
            </a:r>
          </a:p>
        </p:txBody>
      </p:sp>
      <p:sp>
        <p:nvSpPr>
          <p:cNvPr id="50" name="TextBox 49"/>
          <p:cNvSpPr txBox="1"/>
          <p:nvPr/>
        </p:nvSpPr>
        <p:spPr>
          <a:xfrm>
            <a:off x="7370064" y="3200400"/>
            <a:ext cx="1554480" cy="274320"/>
          </a:xfrm>
          <a:prstGeom prst="rect">
            <a:avLst/>
          </a:prstGeom>
          <a:noFill/>
        </p:spPr>
        <p:txBody>
          <a:bodyPr wrap="square" lIns="0" rIns="0" tIns="0" bIns="0" anchor="t">
            <a:spAutoFit/>
          </a:bodyPr>
          <a:lstStyle/>
          <a:p>
            <a:pPr algn="l">
              <a:lnSpc>
                <a:spcPct val="122000"/>
              </a:lnSpc>
              <a:spcAft>
                <a:spcPts val="200"/>
              </a:spcAft>
            </a:pPr>
            <a:r>
              <a:rPr sz="1250" b="1" i="0">
                <a:solidFill>
                  <a:srgbClr val="0F172A"/>
                </a:solidFill>
                <a:latin typeface="Segoe UI"/>
              </a:rPr>
              <a:t>Observation</a:t>
            </a:r>
          </a:p>
        </p:txBody>
      </p:sp>
      <p:sp>
        <p:nvSpPr>
          <p:cNvPr id="51" name="TextBox 50"/>
          <p:cNvSpPr txBox="1"/>
          <p:nvPr/>
        </p:nvSpPr>
        <p:spPr>
          <a:xfrm>
            <a:off x="5769864" y="318211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52" name="TextBox 51"/>
          <p:cNvSpPr txBox="1"/>
          <p:nvPr/>
        </p:nvSpPr>
        <p:spPr>
          <a:xfrm>
            <a:off x="7104888" y="318211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cxnSp>
        <p:nvCxnSpPr>
          <p:cNvPr id="53" name="Connector 52"/>
          <p:cNvCxnSpPr/>
          <p:nvPr/>
        </p:nvCxnSpPr>
        <p:spPr>
          <a:xfrm>
            <a:off x="8778240" y="3675888"/>
            <a:ext cx="0" cy="256032"/>
          </a:xfrm>
          <a:prstGeom prst="line">
            <a:avLst/>
          </a:prstGeom>
          <a:ln w="11430">
            <a:solidFill>
              <a:srgbClr val="B45309"/>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736592" y="3931920"/>
            <a:ext cx="4041648" cy="0"/>
          </a:xfrm>
          <a:prstGeom prst="line">
            <a:avLst/>
          </a:prstGeom>
          <a:ln w="11430">
            <a:solidFill>
              <a:srgbClr val="B45309"/>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4736592" y="3694176"/>
            <a:ext cx="0" cy="237744"/>
          </a:xfrm>
          <a:prstGeom prst="line">
            <a:avLst/>
          </a:prstGeom>
          <a:ln w="11430">
            <a:solidFill>
              <a:srgbClr val="B45309"/>
            </a:solidFill>
          </a:ln>
        </p:spPr>
        <p:style>
          <a:lnRef idx="2">
            <a:schemeClr val="accent1"/>
          </a:lnRef>
          <a:fillRef idx="0">
            <a:schemeClr val="accent1"/>
          </a:fillRef>
          <a:effectRef idx="1">
            <a:schemeClr val="accent1"/>
          </a:effectRef>
          <a:fontRef idx="minor">
            <a:schemeClr val="tx1"/>
          </a:fontRef>
        </p:style>
      </p:cxnSp>
      <p:sp>
        <p:nvSpPr>
          <p:cNvPr id="56" name="Isosceles Triangle 55"/>
          <p:cNvSpPr/>
          <p:nvPr/>
        </p:nvSpPr>
        <p:spPr>
          <a:xfrm>
            <a:off x="4702302" y="3659886"/>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736592" y="3968496"/>
            <a:ext cx="4041648" cy="219456"/>
          </a:xfrm>
          <a:prstGeom prst="rect">
            <a:avLst/>
          </a:prstGeom>
          <a:noFill/>
        </p:spPr>
        <p:txBody>
          <a:bodyPr wrap="square" lIns="0" rIns="0" tIns="0" bIns="0" anchor="t">
            <a:spAutoFit/>
          </a:bodyPr>
          <a:lstStyle/>
          <a:p>
            <a:pPr algn="ctr">
              <a:lnSpc>
                <a:spcPct val="122000"/>
              </a:lnSpc>
              <a:spcAft>
                <a:spcPts val="200"/>
              </a:spcAft>
            </a:pPr>
            <a:r>
              <a:rPr sz="900" b="1" i="0">
                <a:solidFill>
                  <a:srgbClr val="B45309"/>
                </a:solidFill>
                <a:latin typeface="Segoe UI"/>
              </a:rPr>
              <a:t>at most 4 steps, one tool each</a:t>
            </a:r>
          </a:p>
        </p:txBody>
      </p:sp>
      <p:sp>
        <p:nvSpPr>
          <p:cNvPr id="58" name="TextBox 57"/>
          <p:cNvSpPr txBox="1"/>
          <p:nvPr/>
        </p:nvSpPr>
        <p:spPr>
          <a:xfrm>
            <a:off x="9025128" y="3090672"/>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59" name="Rectangle 58"/>
          <p:cNvSpPr/>
          <p:nvPr/>
        </p:nvSpPr>
        <p:spPr>
          <a:xfrm>
            <a:off x="9372600" y="2999232"/>
            <a:ext cx="2039112" cy="1280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9372600" y="3108960"/>
            <a:ext cx="210312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Final Answer</a:t>
            </a:r>
          </a:p>
        </p:txBody>
      </p:sp>
      <p:sp>
        <p:nvSpPr>
          <p:cNvPr id="61" name="TextBox 60"/>
          <p:cNvSpPr txBox="1"/>
          <p:nvPr/>
        </p:nvSpPr>
        <p:spPr>
          <a:xfrm>
            <a:off x="9372600" y="3364992"/>
            <a:ext cx="2103120" cy="274320"/>
          </a:xfrm>
          <a:prstGeom prst="rect">
            <a:avLst/>
          </a:prstGeom>
          <a:noFill/>
        </p:spPr>
        <p:txBody>
          <a:bodyPr wrap="square" lIns="0" rIns="0" tIns="0" bIns="0" anchor="t">
            <a:spAutoFit/>
          </a:bodyPr>
          <a:lstStyle/>
          <a:p>
            <a:pPr algn="l">
              <a:lnSpc>
                <a:spcPct val="122000"/>
              </a:lnSpc>
              <a:spcAft>
                <a:spcPts val="200"/>
              </a:spcAft>
            </a:pPr>
            <a:r>
              <a:rPr sz="950" b="0" i="0">
                <a:solidFill>
                  <a:srgbClr val="8A94A3"/>
                </a:solidFill>
                <a:latin typeface="Segoe UI"/>
              </a:rPr>
              <a:t>only what the tools returned</a:t>
            </a:r>
          </a:p>
        </p:txBody>
      </p:sp>
      <p:cxnSp>
        <p:nvCxnSpPr>
          <p:cNvPr id="62" name="Connector 61"/>
          <p:cNvCxnSpPr/>
          <p:nvPr/>
        </p:nvCxnSpPr>
        <p:spPr>
          <a:xfrm>
            <a:off x="9692640" y="3749040"/>
            <a:ext cx="0" cy="292608"/>
          </a:xfrm>
          <a:prstGeom prst="line">
            <a:avLst/>
          </a:prstGeom>
          <a:ln w="9525">
            <a:solidFill>
              <a:srgbClr val="B45309"/>
            </a:solidFill>
          </a:ln>
        </p:spPr>
        <p:style>
          <a:lnRef idx="2">
            <a:schemeClr val="accent1"/>
          </a:lnRef>
          <a:fillRef idx="0">
            <a:schemeClr val="accent1"/>
          </a:fillRef>
          <a:effectRef idx="1">
            <a:schemeClr val="accent1"/>
          </a:effectRef>
          <a:fontRef idx="minor">
            <a:schemeClr val="tx1"/>
          </a:fontRef>
        </p:style>
      </p:cxnSp>
      <p:sp>
        <p:nvSpPr>
          <p:cNvPr id="63" name="Isosceles Triangle 62"/>
          <p:cNvSpPr/>
          <p:nvPr/>
        </p:nvSpPr>
        <p:spPr>
          <a:xfrm rot="10800000">
            <a:off x="9658350" y="4007358"/>
            <a:ext cx="68580" cy="68580"/>
          </a:xfrm>
          <a:prstGeom prst="triangl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793224" y="3803904"/>
            <a:ext cx="1463040" cy="219456"/>
          </a:xfrm>
          <a:prstGeom prst="rect">
            <a:avLst/>
          </a:prstGeom>
          <a:noFill/>
        </p:spPr>
        <p:txBody>
          <a:bodyPr wrap="square" lIns="0" rIns="0" tIns="0" bIns="0" anchor="t">
            <a:spAutoFit/>
          </a:bodyPr>
          <a:lstStyle/>
          <a:p>
            <a:pPr algn="l">
              <a:lnSpc>
                <a:spcPct val="122000"/>
              </a:lnSpc>
              <a:spcAft>
                <a:spcPts val="200"/>
              </a:spcAft>
            </a:pPr>
            <a:r>
              <a:rPr sz="900" b="1" i="0">
                <a:solidFill>
                  <a:srgbClr val="B45309"/>
                </a:solidFill>
                <a:latin typeface="Segoe UI"/>
              </a:rPr>
              <a:t>budget spent</a:t>
            </a:r>
          </a:p>
        </p:txBody>
      </p:sp>
      <p:sp>
        <p:nvSpPr>
          <p:cNvPr id="65" name="TextBox 64"/>
          <p:cNvSpPr txBox="1"/>
          <p:nvPr/>
        </p:nvSpPr>
        <p:spPr>
          <a:xfrm>
            <a:off x="9372600" y="4096512"/>
            <a:ext cx="2103120" cy="274320"/>
          </a:xfrm>
          <a:prstGeom prst="rect">
            <a:avLst/>
          </a:prstGeom>
          <a:noFill/>
        </p:spPr>
        <p:txBody>
          <a:bodyPr wrap="square" lIns="0" rIns="0" tIns="0" bIns="0" anchor="t">
            <a:spAutoFit/>
          </a:bodyPr>
          <a:lstStyle/>
          <a:p>
            <a:pPr algn="l">
              <a:lnSpc>
                <a:spcPct val="122000"/>
              </a:lnSpc>
              <a:spcAft>
                <a:spcPts val="200"/>
              </a:spcAft>
            </a:pPr>
            <a:r>
              <a:rPr sz="1200" b="1" i="0">
                <a:solidFill>
                  <a:srgbClr val="B45309"/>
                </a:solidFill>
                <a:latin typeface="Segoe UI"/>
              </a:rPr>
              <a:t>Forced final</a:t>
            </a:r>
          </a:p>
        </p:txBody>
      </p:sp>
      <p:sp>
        <p:nvSpPr>
          <p:cNvPr id="66" name="Rectangle 65"/>
          <p:cNvSpPr/>
          <p:nvPr/>
        </p:nvSpPr>
        <p:spPr>
          <a:xfrm>
            <a:off x="777240" y="451713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777240" y="4700016"/>
            <a:ext cx="73152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FIVE WAYS OUT OF THE LOOP, AND ONE VETO AFTER IT</a:t>
            </a:r>
          </a:p>
        </p:txBody>
      </p:sp>
      <p:sp>
        <p:nvSpPr>
          <p:cNvPr id="68" name="TextBox 67"/>
          <p:cNvSpPr txBox="1"/>
          <p:nvPr/>
        </p:nvSpPr>
        <p:spPr>
          <a:xfrm>
            <a:off x="777240" y="500176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69" name="TextBox 68"/>
          <p:cNvSpPr txBox="1"/>
          <p:nvPr/>
        </p:nvSpPr>
        <p:spPr>
          <a:xfrm>
            <a:off x="996696" y="5010912"/>
            <a:ext cx="4626864" cy="23647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Final Answer  </a:t>
            </a:r>
            <a:r>
              <a:rPr sz="1100" b="0" i="0">
                <a:solidFill>
                  <a:srgbClr val="3F4B5C"/>
                </a:solidFill>
                <a:latin typeface="Segoe UI"/>
              </a:rPr>
              <a:t>the model emits one, the ordinary exit</a:t>
            </a:r>
          </a:p>
        </p:txBody>
      </p:sp>
      <p:sp>
        <p:nvSpPr>
          <p:cNvPr id="70" name="TextBox 69"/>
          <p:cNvSpPr txBox="1"/>
          <p:nvPr/>
        </p:nvSpPr>
        <p:spPr>
          <a:xfrm>
            <a:off x="777240" y="527481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71" name="TextBox 70"/>
          <p:cNvSpPr txBox="1"/>
          <p:nvPr/>
        </p:nvSpPr>
        <p:spPr>
          <a:xfrm>
            <a:off x="996696" y="528396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Clarification  </a:t>
            </a:r>
            <a:r>
              <a:rPr sz="1100" b="0" i="0">
                <a:solidFill>
                  <a:srgbClr val="3F4B5C"/>
                </a:solidFill>
                <a:latin typeface="Segoe UI"/>
              </a:rPr>
              <a:t>it asks the user instead of guessing; no tool has run</a:t>
            </a:r>
          </a:p>
        </p:txBody>
      </p:sp>
      <p:sp>
        <p:nvSpPr>
          <p:cNvPr id="72" name="TextBox 71"/>
          <p:cNvSpPr txBox="1"/>
          <p:nvPr/>
        </p:nvSpPr>
        <p:spPr>
          <a:xfrm>
            <a:off x="777240" y="572947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73" name="TextBox 72"/>
          <p:cNvSpPr txBox="1"/>
          <p:nvPr/>
        </p:nvSpPr>
        <p:spPr>
          <a:xfrm>
            <a:off x="996696" y="573862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No action, no answer  </a:t>
            </a:r>
            <a:r>
              <a:rPr sz="1100" b="0" i="0">
                <a:solidFill>
                  <a:srgbClr val="3F4B5C"/>
                </a:solidFill>
                <a:latin typeface="Segoe UI"/>
              </a:rPr>
              <a:t>the reply is taken as the answer rather than looping</a:t>
            </a:r>
          </a:p>
        </p:txBody>
      </p:sp>
      <p:sp>
        <p:nvSpPr>
          <p:cNvPr id="74" name="TextBox 73"/>
          <p:cNvSpPr txBox="1"/>
          <p:nvPr/>
        </p:nvSpPr>
        <p:spPr>
          <a:xfrm>
            <a:off x="6537960" y="500176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75" name="TextBox 74"/>
          <p:cNvSpPr txBox="1"/>
          <p:nvPr/>
        </p:nvSpPr>
        <p:spPr>
          <a:xfrm>
            <a:off x="6757416" y="501091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Repeat ×2  </a:t>
            </a:r>
            <a:r>
              <a:rPr sz="1100" b="0" i="0">
                <a:solidFill>
                  <a:srgbClr val="3F4B5C"/>
                </a:solidFill>
                <a:latin typeface="Segoe UI"/>
              </a:rPr>
              <a:t>same tool, same input twice → the cached result, then a forced final</a:t>
            </a:r>
          </a:p>
        </p:txBody>
      </p:sp>
      <p:sp>
        <p:nvSpPr>
          <p:cNvPr id="76" name="TextBox 75"/>
          <p:cNvSpPr txBox="1"/>
          <p:nvPr/>
        </p:nvSpPr>
        <p:spPr>
          <a:xfrm>
            <a:off x="6537960" y="545642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77" name="TextBox 76"/>
          <p:cNvSpPr txBox="1"/>
          <p:nvPr/>
        </p:nvSpPr>
        <p:spPr>
          <a:xfrm>
            <a:off x="6757416" y="546557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Budget spent  </a:t>
            </a:r>
            <a:r>
              <a:rPr sz="1100" b="0" i="0">
                <a:solidFill>
                  <a:srgbClr val="3F4B5C"/>
                </a:solidFill>
                <a:latin typeface="Segoe UI"/>
              </a:rPr>
              <a:t>four steps and no answer → _force_final writes one from the observations</a:t>
            </a:r>
          </a:p>
        </p:txBody>
      </p:sp>
      <p:sp>
        <p:nvSpPr>
          <p:cNvPr id="78" name="TextBox 77"/>
          <p:cNvSpPr txBox="1"/>
          <p:nvPr/>
        </p:nvSpPr>
        <p:spPr>
          <a:xfrm>
            <a:off x="6537960" y="591108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79" name="TextBox 78"/>
          <p:cNvSpPr txBox="1"/>
          <p:nvPr/>
        </p:nvSpPr>
        <p:spPr>
          <a:xfrm>
            <a:off x="6757416" y="592023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Ungrounded  (the veto)  </a:t>
            </a:r>
            <a:r>
              <a:rPr sz="1100" b="0" i="0">
                <a:solidFill>
                  <a:srgbClr val="3F4B5C"/>
                </a:solidFill>
                <a:latin typeface="Segoe UI"/>
              </a:rPr>
              <a:t>a figure about your money with no tool call behind it is replaced, not shown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Eleven tools, one dispatcher</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Four that read, seven that write. KNOWN_TOOLS is the single source of truth.</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13</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Extract</a:t>
            </a:r>
          </a:p>
        </p:txBody>
      </p:sp>
      <p:sp>
        <p:nvSpPr>
          <p:cNvPr id="18" name="TextBox 17"/>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9" name="TextBox 18"/>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0" name="TextBox 19"/>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1" name="TextBox 20"/>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Agent</a:t>
            </a:r>
          </a:p>
        </p:txBody>
      </p:sp>
      <p:sp>
        <p:nvSpPr>
          <p:cNvPr id="22" name="Rectangle 21"/>
          <p:cNvSpPr/>
          <p:nvPr/>
        </p:nvSpPr>
        <p:spPr>
          <a:xfrm>
            <a:off x="8899855" y="571500"/>
            <a:ext cx="269748"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4" name="TextBox 23"/>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5" name="Rectangle 24"/>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API</a:t>
            </a:r>
          </a:p>
        </p:txBody>
      </p:sp>
      <p:sp>
        <p:nvSpPr>
          <p:cNvPr id="27" name="TextBox 26"/>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8" name="TextBox 27"/>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9" name="TextBox 28"/>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30" name="TextBox 29"/>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Traces</a:t>
            </a:r>
          </a:p>
        </p:txBody>
      </p:sp>
      <p:sp>
        <p:nvSpPr>
          <p:cNvPr id="31" name="Rectangle 30"/>
          <p:cNvSpPr/>
          <p:nvPr/>
        </p:nvSpPr>
        <p:spPr>
          <a:xfrm>
            <a:off x="6126480" y="1773936"/>
            <a:ext cx="8230" cy="173736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4 READ  ·  NOTHING CHANGES</a:t>
            </a:r>
          </a:p>
        </p:txBody>
      </p:sp>
      <p:sp>
        <p:nvSpPr>
          <p:cNvPr id="33" name="TextBox 32"/>
          <p:cNvSpPr txBox="1"/>
          <p:nvPr/>
        </p:nvSpPr>
        <p:spPr>
          <a:xfrm>
            <a:off x="777240" y="209397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4" name="TextBox 33"/>
          <p:cNvSpPr txBox="1"/>
          <p:nvPr/>
        </p:nvSpPr>
        <p:spPr>
          <a:xfrm>
            <a:off x="996696" y="210312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sql_ledger  </a:t>
            </a:r>
            <a:r>
              <a:rPr sz="1100" b="0" i="0">
                <a:solidFill>
                  <a:srgbClr val="3F4B5C"/>
                </a:solidFill>
                <a:latin typeface="Segoe UI"/>
              </a:rPr>
              <a:t>a question → generated SQL, validated, run on a scoped copy</a:t>
            </a:r>
          </a:p>
        </p:txBody>
      </p:sp>
      <p:sp>
        <p:nvSpPr>
          <p:cNvPr id="35" name="TextBox 34"/>
          <p:cNvSpPr txBox="1"/>
          <p:nvPr/>
        </p:nvSpPr>
        <p:spPr>
          <a:xfrm>
            <a:off x="777240" y="260350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6" name="TextBox 35"/>
          <p:cNvSpPr txBox="1"/>
          <p:nvPr/>
        </p:nvSpPr>
        <p:spPr>
          <a:xfrm>
            <a:off x="996696" y="261264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search_receipts  </a:t>
            </a:r>
            <a:r>
              <a:rPr sz="1100" b="0" i="0">
                <a:solidFill>
                  <a:srgbClr val="3F4B5C"/>
                </a:solidFill>
                <a:latin typeface="Segoe UI"/>
              </a:rPr>
              <a:t>a phrase → k receipt documents, each cited (#N)</a:t>
            </a:r>
          </a:p>
        </p:txBody>
      </p:sp>
      <p:sp>
        <p:nvSpPr>
          <p:cNvPr id="37" name="TextBox 36"/>
          <p:cNvSpPr txBox="1"/>
          <p:nvPr/>
        </p:nvSpPr>
        <p:spPr>
          <a:xfrm>
            <a:off x="777240" y="311302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8" name="TextBox 37"/>
          <p:cNvSpPr txBox="1"/>
          <p:nvPr/>
        </p:nvSpPr>
        <p:spPr>
          <a:xfrm>
            <a:off x="996696" y="3122168"/>
            <a:ext cx="4626864" cy="23647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list_accounts  </a:t>
            </a:r>
            <a:r>
              <a:rPr sz="1100" b="0" i="0">
                <a:solidFill>
                  <a:srgbClr val="3F4B5C"/>
                </a:solidFill>
                <a:latin typeface="Segoe UI"/>
              </a:rPr>
              <a:t>names, types, balances, categories</a:t>
            </a:r>
          </a:p>
        </p:txBody>
      </p:sp>
      <p:sp>
        <p:nvSpPr>
          <p:cNvPr id="39" name="TextBox 38"/>
          <p:cNvSpPr txBox="1"/>
          <p:nvPr/>
        </p:nvSpPr>
        <p:spPr>
          <a:xfrm>
            <a:off x="777240" y="344093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0" name="TextBox 39"/>
          <p:cNvSpPr txBox="1"/>
          <p:nvPr/>
        </p:nvSpPr>
        <p:spPr>
          <a:xfrm>
            <a:off x="996696" y="345008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list_plans  </a:t>
            </a:r>
            <a:r>
              <a:rPr sz="1100" b="0" i="0">
                <a:solidFill>
                  <a:srgbClr val="3F4B5C"/>
                </a:solidFill>
                <a:latin typeface="Segoe UI"/>
              </a:rPr>
              <a:t>goals, debts, receivables, budgets and their progress</a:t>
            </a:r>
          </a:p>
        </p:txBody>
      </p:sp>
      <p:sp>
        <p:nvSpPr>
          <p:cNvPr id="41" name="TextBox 40"/>
          <p:cNvSpPr txBox="1"/>
          <p:nvPr/>
        </p:nvSpPr>
        <p:spPr>
          <a:xfrm>
            <a:off x="653796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7 WRITE  ·  MONEY MOVES</a:t>
            </a:r>
          </a:p>
        </p:txBody>
      </p:sp>
      <p:sp>
        <p:nvSpPr>
          <p:cNvPr id="42" name="TextBox 41"/>
          <p:cNvSpPr txBox="1"/>
          <p:nvPr/>
        </p:nvSpPr>
        <p:spPr>
          <a:xfrm>
            <a:off x="6537960" y="209397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3" name="TextBox 42"/>
          <p:cNvSpPr txBox="1"/>
          <p:nvPr/>
        </p:nvSpPr>
        <p:spPr>
          <a:xfrm>
            <a:off x="6757416" y="2103120"/>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add_expense · log_spend  </a:t>
            </a:r>
            <a:r>
              <a:rPr sz="1100" b="0" i="0">
                <a:solidFill>
                  <a:srgbClr val="3F4B5C"/>
                </a:solidFill>
                <a:latin typeface="Segoe UI"/>
              </a:rPr>
              <a:t>the second is the path for "I spent 200" with no account named: Cash by product decision, never a guess</a:t>
            </a:r>
          </a:p>
        </p:txBody>
      </p:sp>
      <p:sp>
        <p:nvSpPr>
          <p:cNvPr id="44" name="TextBox 43"/>
          <p:cNvSpPr txBox="1"/>
          <p:nvPr/>
        </p:nvSpPr>
        <p:spPr>
          <a:xfrm>
            <a:off x="6537960" y="274853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5" name="TextBox 44"/>
          <p:cNvSpPr txBox="1"/>
          <p:nvPr/>
        </p:nvSpPr>
        <p:spPr>
          <a:xfrm>
            <a:off x="6757416" y="275767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add_income · transfer_money  </a:t>
            </a:r>
            <a:r>
              <a:rPr sz="1100" b="0" i="0">
                <a:solidFill>
                  <a:srgbClr val="3F4B5C"/>
                </a:solidFill>
                <a:latin typeface="Segoe UI"/>
              </a:rPr>
              <a:t>one balance up, or two balances at once</a:t>
            </a:r>
          </a:p>
        </p:txBody>
      </p:sp>
      <p:sp>
        <p:nvSpPr>
          <p:cNvPr id="46" name="TextBox 45"/>
          <p:cNvSpPr txBox="1"/>
          <p:nvPr/>
        </p:nvSpPr>
        <p:spPr>
          <a:xfrm>
            <a:off x="6537960" y="322148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7" name="TextBox 46"/>
          <p:cNvSpPr txBox="1"/>
          <p:nvPr/>
        </p:nvSpPr>
        <p:spPr>
          <a:xfrm>
            <a:off x="6757416" y="3230626"/>
            <a:ext cx="4626864" cy="23647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record_activity  </a:t>
            </a:r>
            <a:r>
              <a:rPr sz="1100" b="0" i="0">
                <a:solidFill>
                  <a:srgbClr val="3F4B5C"/>
                </a:solidFill>
                <a:latin typeface="Segoe UI"/>
              </a:rPr>
              <a:t>progress against a goal, debt or receivable</a:t>
            </a:r>
          </a:p>
        </p:txBody>
      </p:sp>
      <p:sp>
        <p:nvSpPr>
          <p:cNvPr id="48" name="TextBox 47"/>
          <p:cNvSpPr txBox="1"/>
          <p:nvPr/>
        </p:nvSpPr>
        <p:spPr>
          <a:xfrm>
            <a:off x="6537960" y="351282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9" name="TextBox 48"/>
          <p:cNvSpPr txBox="1"/>
          <p:nvPr/>
        </p:nvSpPr>
        <p:spPr>
          <a:xfrm>
            <a:off x="6757416" y="352196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create_plan · update_plan  </a:t>
            </a:r>
            <a:r>
              <a:rPr sz="1100" b="0" i="0">
                <a:solidFill>
                  <a:srgbClr val="3F4B5C"/>
                </a:solidFill>
                <a:latin typeface="Segoe UI"/>
              </a:rPr>
              <a:t>a plan is created or edited; no money moves</a:t>
            </a:r>
          </a:p>
        </p:txBody>
      </p:sp>
      <p:sp>
        <p:nvSpPr>
          <p:cNvPr id="50" name="Rectangle 49"/>
          <p:cNvSpPr/>
          <p:nvPr/>
        </p:nvSpPr>
        <p:spPr>
          <a:xfrm>
            <a:off x="777240" y="405993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77240" y="4224528"/>
            <a:ext cx="54864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THE TWO ANSWER PATHS</a:t>
            </a:r>
          </a:p>
        </p:txBody>
      </p:sp>
      <p:sp>
        <p:nvSpPr>
          <p:cNvPr id="52" name="Rectangle 51"/>
          <p:cNvSpPr/>
          <p:nvPr/>
        </p:nvSpPr>
        <p:spPr>
          <a:xfrm>
            <a:off x="777240" y="448056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777240" y="4626864"/>
            <a:ext cx="146304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Numbers</a:t>
            </a:r>
          </a:p>
        </p:txBody>
      </p:sp>
      <p:sp>
        <p:nvSpPr>
          <p:cNvPr id="54" name="TextBox 53"/>
          <p:cNvSpPr txBox="1"/>
          <p:nvPr/>
        </p:nvSpPr>
        <p:spPr>
          <a:xfrm>
            <a:off x="2331720" y="4645152"/>
            <a:ext cx="23774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B45309"/>
                </a:solidFill>
                <a:latin typeface="Consolas"/>
              </a:rPr>
              <a:t>sql_ledger</a:t>
            </a:r>
          </a:p>
        </p:txBody>
      </p:sp>
      <p:sp>
        <p:nvSpPr>
          <p:cNvPr id="55" name="TextBox 54"/>
          <p:cNvSpPr txBox="1"/>
          <p:nvPr/>
        </p:nvSpPr>
        <p:spPr>
          <a:xfrm>
            <a:off x="5074920" y="4645152"/>
            <a:ext cx="630936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Scope  ›  Generate  ›  Validate  ›  Run  ›  Format</a:t>
            </a:r>
          </a:p>
        </p:txBody>
      </p:sp>
      <p:sp>
        <p:nvSpPr>
          <p:cNvPr id="56" name="Rectangle 55"/>
          <p:cNvSpPr/>
          <p:nvPr/>
        </p:nvSpPr>
        <p:spPr>
          <a:xfrm>
            <a:off x="777240" y="501091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77240" y="5157216"/>
            <a:ext cx="1463040" cy="274320"/>
          </a:xfrm>
          <a:prstGeom prst="rect">
            <a:avLst/>
          </a:prstGeom>
          <a:noFill/>
        </p:spPr>
        <p:txBody>
          <a:bodyPr wrap="square" lIns="0" rIns="0" tIns="0" bIns="0" anchor="t">
            <a:spAutoFit/>
          </a:bodyPr>
          <a:lstStyle/>
          <a:p>
            <a:pPr algn="l">
              <a:lnSpc>
                <a:spcPct val="122000"/>
              </a:lnSpc>
              <a:spcAft>
                <a:spcPts val="200"/>
              </a:spcAft>
            </a:pPr>
            <a:r>
              <a:rPr sz="1300" b="1" i="0">
                <a:solidFill>
                  <a:srgbClr val="0F172A"/>
                </a:solidFill>
                <a:latin typeface="Segoe UI"/>
              </a:rPr>
              <a:t>Content</a:t>
            </a:r>
          </a:p>
        </p:txBody>
      </p:sp>
      <p:sp>
        <p:nvSpPr>
          <p:cNvPr id="58" name="TextBox 57"/>
          <p:cNvSpPr txBox="1"/>
          <p:nvPr/>
        </p:nvSpPr>
        <p:spPr>
          <a:xfrm>
            <a:off x="2331720" y="5175504"/>
            <a:ext cx="23774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B45309"/>
                </a:solidFill>
                <a:latin typeface="Consolas"/>
              </a:rPr>
              <a:t>search_receipts</a:t>
            </a:r>
          </a:p>
        </p:txBody>
      </p:sp>
      <p:sp>
        <p:nvSpPr>
          <p:cNvPr id="59" name="TextBox 58"/>
          <p:cNvSpPr txBox="1"/>
          <p:nvPr/>
        </p:nvSpPr>
        <p:spPr>
          <a:xfrm>
            <a:off x="5074920" y="5175504"/>
            <a:ext cx="630936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Compose  ›  Embed  ›  Store  ›  Match  ›  Cite (#N)</a:t>
            </a:r>
          </a:p>
        </p:txBody>
      </p:sp>
      <p:sp>
        <p:nvSpPr>
          <p:cNvPr id="60" name="Rectangle 59"/>
          <p:cNvSpPr/>
          <p:nvPr/>
        </p:nvSpPr>
        <p:spPr>
          <a:xfrm>
            <a:off x="777240" y="554126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77240" y="570585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777240" y="5852160"/>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One shared spine for every write:  </a:t>
            </a:r>
            <a:r>
              <a:rPr sz="1050" b="0" i="0">
                <a:solidFill>
                  <a:srgbClr val="8A94A3"/>
                </a:solidFill>
                <a:latin typeface="Segoe UI"/>
              </a:rPr>
              <a:t>amount · account · category · date · duplicate. No tool carries its own guards, and scope is a different database rather than a WHERE clause, so a model that forgets the filter cannot leak.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The API: one surface, three clients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Typed in, typed out. The UI has no privileged path into the system.</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14</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Extract</a:t>
            </a:r>
          </a:p>
        </p:txBody>
      </p:sp>
      <p:sp>
        <p:nvSpPr>
          <p:cNvPr id="18" name="TextBox 17"/>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9" name="TextBox 18"/>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0" name="TextBox 19"/>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1" name="TextBox 20"/>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Agent</a:t>
            </a:r>
          </a:p>
        </p:txBody>
      </p:sp>
      <p:sp>
        <p:nvSpPr>
          <p:cNvPr id="22" name="TextBox 21"/>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3" name="TextBox 22"/>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4" name="Rectangle 23"/>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API</a:t>
            </a:r>
          </a:p>
        </p:txBody>
      </p:sp>
      <p:sp>
        <p:nvSpPr>
          <p:cNvPr id="26" name="Rectangle 25"/>
          <p:cNvSpPr/>
          <p:nvPr/>
        </p:nvSpPr>
        <p:spPr>
          <a:xfrm>
            <a:off x="10019995" y="571500"/>
            <a:ext cx="169164"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8" name="TextBox 27"/>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9" name="TextBox 28"/>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30" name="TextBox 29"/>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Traces</a:t>
            </a:r>
          </a:p>
        </p:txBody>
      </p:sp>
      <p:sp>
        <p:nvSpPr>
          <p:cNvPr id="31" name="Rectangle 30"/>
          <p:cNvSpPr/>
          <p:nvPr/>
        </p:nvSpPr>
        <p:spPr>
          <a:xfrm>
            <a:off x="7223760" y="1773936"/>
            <a:ext cx="8230" cy="356616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FIVE OF 80 ROUTES</a:t>
            </a:r>
          </a:p>
        </p:txBody>
      </p:sp>
      <p:sp>
        <p:nvSpPr>
          <p:cNvPr id="33" name="Rectangle 32"/>
          <p:cNvSpPr/>
          <p:nvPr/>
        </p:nvSpPr>
        <p:spPr>
          <a:xfrm>
            <a:off x="777240" y="2029968"/>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77240" y="2157984"/>
            <a:ext cx="274320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Consolas"/>
              </a:rPr>
              <a:t>POST /extract</a:t>
            </a:r>
          </a:p>
        </p:txBody>
      </p:sp>
      <p:sp>
        <p:nvSpPr>
          <p:cNvPr id="35" name="TextBox 34"/>
          <p:cNvSpPr txBox="1"/>
          <p:nvPr/>
        </p:nvSpPr>
        <p:spPr>
          <a:xfrm>
            <a:off x="777240" y="2395728"/>
            <a:ext cx="6126480" cy="237744"/>
          </a:xfrm>
          <a:prstGeom prst="rect">
            <a:avLst/>
          </a:prstGeom>
          <a:noFill/>
        </p:spPr>
        <p:txBody>
          <a:bodyPr wrap="square" lIns="0" rIns="0" tIns="0" bIns="0" anchor="t">
            <a:spAutoFit/>
          </a:bodyPr>
          <a:lstStyle/>
          <a:p>
            <a:pPr algn="l">
              <a:lnSpc>
                <a:spcPct val="122000"/>
              </a:lnSpc>
              <a:spcAft>
                <a:spcPts val="200"/>
              </a:spcAft>
            </a:pPr>
            <a:r>
              <a:rPr sz="900" b="0" i="0">
                <a:solidFill>
                  <a:srgbClr val="3F4B5C"/>
                </a:solidFill>
                <a:latin typeface="Consolas"/>
              </a:rPr>
              <a:t>image | pdf  →  fields · line items · confidence · audit</a:t>
            </a:r>
          </a:p>
        </p:txBody>
      </p:sp>
      <p:sp>
        <p:nvSpPr>
          <p:cNvPr id="36" name="Rectangle 35"/>
          <p:cNvSpPr/>
          <p:nvPr/>
        </p:nvSpPr>
        <p:spPr>
          <a:xfrm>
            <a:off x="777240" y="2724912"/>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77240" y="2852928"/>
            <a:ext cx="274320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Consolas"/>
              </a:rPr>
              <a:t>POST /extract/batch</a:t>
            </a:r>
          </a:p>
        </p:txBody>
      </p:sp>
      <p:sp>
        <p:nvSpPr>
          <p:cNvPr id="38" name="TextBox 37"/>
          <p:cNvSpPr txBox="1"/>
          <p:nvPr/>
        </p:nvSpPr>
        <p:spPr>
          <a:xfrm>
            <a:off x="777240" y="3090672"/>
            <a:ext cx="6126480" cy="237744"/>
          </a:xfrm>
          <a:prstGeom prst="rect">
            <a:avLst/>
          </a:prstGeom>
          <a:noFill/>
        </p:spPr>
        <p:txBody>
          <a:bodyPr wrap="square" lIns="0" rIns="0" tIns="0" bIns="0" anchor="t">
            <a:spAutoFit/>
          </a:bodyPr>
          <a:lstStyle/>
          <a:p>
            <a:pPr algn="l">
              <a:lnSpc>
                <a:spcPct val="122000"/>
              </a:lnSpc>
              <a:spcAft>
                <a:spcPts val="200"/>
              </a:spcAft>
            </a:pPr>
            <a:r>
              <a:rPr sz="900" b="0" i="0">
                <a:solidFill>
                  <a:srgbClr val="3F4B5C"/>
                </a:solidFill>
                <a:latin typeface="Consolas"/>
              </a:rPr>
              <a:t>list[image|pdf]  →  list[result], one error slot each</a:t>
            </a:r>
          </a:p>
        </p:txBody>
      </p:sp>
      <p:sp>
        <p:nvSpPr>
          <p:cNvPr id="39" name="Rectangle 38"/>
          <p:cNvSpPr/>
          <p:nvPr/>
        </p:nvSpPr>
        <p:spPr>
          <a:xfrm>
            <a:off x="777240" y="3419856"/>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77240" y="3547872"/>
            <a:ext cx="274320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Consolas"/>
              </a:rPr>
              <a:t>GET  /analytics</a:t>
            </a:r>
          </a:p>
        </p:txBody>
      </p:sp>
      <p:sp>
        <p:nvSpPr>
          <p:cNvPr id="41" name="TextBox 40"/>
          <p:cNvSpPr txBox="1"/>
          <p:nvPr/>
        </p:nvSpPr>
        <p:spPr>
          <a:xfrm>
            <a:off x="777240" y="3785616"/>
            <a:ext cx="6126480" cy="237744"/>
          </a:xfrm>
          <a:prstGeom prst="rect">
            <a:avLst/>
          </a:prstGeom>
          <a:noFill/>
        </p:spPr>
        <p:txBody>
          <a:bodyPr wrap="square" lIns="0" rIns="0" tIns="0" bIns="0" anchor="t">
            <a:spAutoFit/>
          </a:bodyPr>
          <a:lstStyle/>
          <a:p>
            <a:pPr algn="l">
              <a:lnSpc>
                <a:spcPct val="122000"/>
              </a:lnSpc>
              <a:spcAft>
                <a:spcPts val="200"/>
              </a:spcAft>
            </a:pPr>
            <a:r>
              <a:rPr sz="900" b="0" i="0">
                <a:solidFill>
                  <a:srgbClr val="3F4B5C"/>
                </a:solidFill>
                <a:latin typeface="Consolas"/>
              </a:rPr>
              <a:t>granularity, year?, month?  →  cashflow · totals · budgets</a:t>
            </a:r>
          </a:p>
        </p:txBody>
      </p:sp>
      <p:sp>
        <p:nvSpPr>
          <p:cNvPr id="42" name="Rectangle 41"/>
          <p:cNvSpPr/>
          <p:nvPr/>
        </p:nvSpPr>
        <p:spPr>
          <a:xfrm>
            <a:off x="777240" y="4114800"/>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77240" y="4242816"/>
            <a:ext cx="274320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Consolas"/>
              </a:rPr>
              <a:t>POST /agent</a:t>
            </a:r>
          </a:p>
        </p:txBody>
      </p:sp>
      <p:sp>
        <p:nvSpPr>
          <p:cNvPr id="44" name="TextBox 43"/>
          <p:cNvSpPr txBox="1"/>
          <p:nvPr/>
        </p:nvSpPr>
        <p:spPr>
          <a:xfrm>
            <a:off x="777240" y="4480560"/>
            <a:ext cx="6126480" cy="237744"/>
          </a:xfrm>
          <a:prstGeom prst="rect">
            <a:avLst/>
          </a:prstGeom>
          <a:noFill/>
        </p:spPr>
        <p:txBody>
          <a:bodyPr wrap="square" lIns="0" rIns="0" tIns="0" bIns="0" anchor="t">
            <a:spAutoFit/>
          </a:bodyPr>
          <a:lstStyle/>
          <a:p>
            <a:pPr algn="l">
              <a:lnSpc>
                <a:spcPct val="122000"/>
              </a:lnSpc>
              <a:spcAft>
                <a:spcPts val="200"/>
              </a:spcAft>
            </a:pPr>
            <a:r>
              <a:rPr sz="900" b="0" i="0">
                <a:solidFill>
                  <a:srgbClr val="3F4B5C"/>
                </a:solidFill>
                <a:latin typeface="Consolas"/>
              </a:rPr>
              <a:t>question, receipt_ids?  →  answer, steps[], grounded: bool</a:t>
            </a:r>
          </a:p>
        </p:txBody>
      </p:sp>
      <p:sp>
        <p:nvSpPr>
          <p:cNvPr id="45" name="Rectangle 44"/>
          <p:cNvSpPr/>
          <p:nvPr/>
        </p:nvSpPr>
        <p:spPr>
          <a:xfrm>
            <a:off x="777240" y="4809744"/>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77240" y="4937760"/>
            <a:ext cx="274320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Consolas"/>
              </a:rPr>
              <a:t>POST /agent/stream</a:t>
            </a:r>
          </a:p>
        </p:txBody>
      </p:sp>
      <p:sp>
        <p:nvSpPr>
          <p:cNvPr id="47" name="TextBox 46"/>
          <p:cNvSpPr txBox="1"/>
          <p:nvPr/>
        </p:nvSpPr>
        <p:spPr>
          <a:xfrm>
            <a:off x="777240" y="5175504"/>
            <a:ext cx="6126480" cy="237744"/>
          </a:xfrm>
          <a:prstGeom prst="rect">
            <a:avLst/>
          </a:prstGeom>
          <a:noFill/>
        </p:spPr>
        <p:txBody>
          <a:bodyPr wrap="square" lIns="0" rIns="0" tIns="0" bIns="0" anchor="t">
            <a:spAutoFit/>
          </a:bodyPr>
          <a:lstStyle/>
          <a:p>
            <a:pPr algn="l">
              <a:lnSpc>
                <a:spcPct val="122000"/>
              </a:lnSpc>
              <a:spcAft>
                <a:spcPts val="200"/>
              </a:spcAft>
            </a:pPr>
            <a:r>
              <a:rPr sz="900" b="0" i="0">
                <a:solidFill>
                  <a:srgbClr val="3F4B5C"/>
                </a:solidFill>
                <a:latin typeface="Consolas"/>
              </a:rPr>
              <a:t>question  →  SSE: start · token · action · observation</a:t>
            </a:r>
          </a:p>
        </p:txBody>
      </p:sp>
      <p:sp>
        <p:nvSpPr>
          <p:cNvPr id="48" name="Rectangle 47"/>
          <p:cNvSpPr/>
          <p:nvPr/>
        </p:nvSpPr>
        <p:spPr>
          <a:xfrm>
            <a:off x="777240" y="5504688"/>
            <a:ext cx="62179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543800" y="1773936"/>
            <a:ext cx="384048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WHO CALLS IT</a:t>
            </a:r>
          </a:p>
        </p:txBody>
      </p:sp>
      <p:sp>
        <p:nvSpPr>
          <p:cNvPr id="50" name="TextBox 49"/>
          <p:cNvSpPr txBox="1"/>
          <p:nvPr/>
        </p:nvSpPr>
        <p:spPr>
          <a:xfrm>
            <a:off x="7543800" y="205740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51" name="TextBox 50"/>
          <p:cNvSpPr txBox="1"/>
          <p:nvPr/>
        </p:nvSpPr>
        <p:spPr>
          <a:xfrm>
            <a:off x="7763256" y="2066544"/>
            <a:ext cx="3648456" cy="96291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The web UI  </a:t>
            </a:r>
            <a:r>
              <a:rPr sz="1100" b="0" i="0">
                <a:solidFill>
                  <a:srgbClr val="3F4B5C"/>
                </a:solidFill>
                <a:latin typeface="Segoe UI"/>
              </a:rPr>
              <a:t>the browser calls same-origin /api/*, which Next rewrites to the api service, so there is no CORS to configure, and four route handlers forward the multipart upload and the SSE stream</a:t>
            </a:r>
          </a:p>
        </p:txBody>
      </p:sp>
      <p:sp>
        <p:nvSpPr>
          <p:cNvPr id="52" name="TextBox 51"/>
          <p:cNvSpPr txBox="1"/>
          <p:nvPr/>
        </p:nvSpPr>
        <p:spPr>
          <a:xfrm>
            <a:off x="7543800" y="318490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53" name="TextBox 52"/>
          <p:cNvSpPr txBox="1"/>
          <p:nvPr/>
        </p:nvSpPr>
        <p:spPr>
          <a:xfrm>
            <a:off x="7763256" y="3194050"/>
            <a:ext cx="3648456"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The eval harness  </a:t>
            </a:r>
            <a:r>
              <a:rPr sz="1100" b="0" i="0">
                <a:solidFill>
                  <a:srgbClr val="3F4B5C"/>
                </a:solidFill>
                <a:latin typeface="Segoe UI"/>
              </a:rPr>
              <a:t>hits the same routes with no privileged path, so what it measures is what a user gets</a:t>
            </a:r>
          </a:p>
        </p:txBody>
      </p:sp>
      <p:sp>
        <p:nvSpPr>
          <p:cNvPr id="54" name="TextBox 53"/>
          <p:cNvSpPr txBox="1"/>
          <p:nvPr/>
        </p:nvSpPr>
        <p:spPr>
          <a:xfrm>
            <a:off x="7543800" y="394919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55" name="TextBox 54"/>
          <p:cNvSpPr txBox="1"/>
          <p:nvPr/>
        </p:nvSpPr>
        <p:spPr>
          <a:xfrm>
            <a:off x="7763256" y="3958336"/>
            <a:ext cx="3648456"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curl and /docs  </a:t>
            </a:r>
            <a:r>
              <a:rPr sz="1100" b="0" i="0">
                <a:solidFill>
                  <a:srgbClr val="3F4B5C"/>
                </a:solidFill>
                <a:latin typeface="Segoe UI"/>
              </a:rPr>
              <a:t>FastAPI generates the docs page from the same 21 request models that validate the traffic</a:t>
            </a:r>
          </a:p>
        </p:txBody>
      </p:sp>
      <p:sp>
        <p:nvSpPr>
          <p:cNvPr id="56" name="Rectangle 55"/>
          <p:cNvSpPr/>
          <p:nvPr/>
        </p:nvSpPr>
        <p:spPr>
          <a:xfrm>
            <a:off x="7543800" y="4846320"/>
            <a:ext cx="386791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543800" y="5029200"/>
            <a:ext cx="3867912" cy="310896"/>
          </a:xfrm>
          <a:prstGeom prst="rect">
            <a:avLst/>
          </a:prstGeom>
          <a:noFill/>
        </p:spPr>
        <p:txBody>
          <a:bodyPr wrap="square" lIns="0" rIns="0" tIns="0" bIns="0" anchor="t">
            <a:spAutoFit/>
          </a:bodyPr>
          <a:lstStyle/>
          <a:p>
            <a:pPr algn="l">
              <a:lnSpc>
                <a:spcPct val="122000"/>
              </a:lnSpc>
              <a:spcAft>
                <a:spcPts val="200"/>
              </a:spcAft>
            </a:pPr>
            <a:r>
              <a:rPr sz="1100" b="1" i="0">
                <a:solidFill>
                  <a:srgbClr val="0F172A"/>
                </a:solidFill>
                <a:latin typeface="Segoe UI"/>
              </a:rPr>
              <a:t>80 routes</a:t>
            </a:r>
            <a:r>
              <a:rPr sz="1100" b="0" i="0">
                <a:solidFill>
                  <a:srgbClr val="8A94A3"/>
                </a:solidFill>
                <a:latin typeface="Segoe UI"/>
              </a:rPr>
              <a:t>   ·   21 request models   ·   one schema per shape</a:t>
            </a:r>
          </a:p>
        </p:txBody>
      </p:sp>
      <p:sp>
        <p:nvSpPr>
          <p:cNvPr id="58" name="Rectangle 57"/>
          <p:cNvSpPr/>
          <p:nvPr/>
        </p:nvSpPr>
        <p:spPr>
          <a:xfrm>
            <a:off x="777240" y="574243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77240" y="5888736"/>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The UI is a client, not the system:  </a:t>
            </a:r>
            <a:r>
              <a:rPr sz="1050" b="0" i="0">
                <a:solidFill>
                  <a:srgbClr val="8A94A3"/>
                </a:solidFill>
                <a:latin typeface="Segoe UI"/>
              </a:rPr>
              <a:t>everything on the demo can be done with curl, which is why the API is a deliverable and not an afterthought.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LLMOps: how the tracing is wired</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MLflow 3.14, one run per model call, and the same code path when it is off.</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15</a:t>
            </a:r>
          </a:p>
        </p:txBody>
      </p:sp>
      <p:sp>
        <p:nvSpPr>
          <p:cNvPr id="14" name="Rectangle 13"/>
          <p:cNvSpPr/>
          <p:nvPr/>
        </p:nvSpPr>
        <p:spPr>
          <a:xfrm>
            <a:off x="6760159" y="365760"/>
            <a:ext cx="8230" cy="19202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071055"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Capture</a:t>
            </a:r>
          </a:p>
        </p:txBody>
      </p:sp>
      <p:sp>
        <p:nvSpPr>
          <p:cNvPr id="16" name="TextBox 15"/>
          <p:cNvSpPr txBox="1"/>
          <p:nvPr/>
        </p:nvSpPr>
        <p:spPr>
          <a:xfrm>
            <a:off x="7468819"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7" name="TextBox 16"/>
          <p:cNvSpPr txBox="1"/>
          <p:nvPr/>
        </p:nvSpPr>
        <p:spPr>
          <a:xfrm>
            <a:off x="7697419" y="356616"/>
            <a:ext cx="900684"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Extract</a:t>
            </a:r>
          </a:p>
        </p:txBody>
      </p:sp>
      <p:sp>
        <p:nvSpPr>
          <p:cNvPr id="18" name="TextBox 17"/>
          <p:cNvSpPr txBox="1"/>
          <p:nvPr/>
        </p:nvSpPr>
        <p:spPr>
          <a:xfrm>
            <a:off x="809518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19" name="TextBox 18"/>
          <p:cNvSpPr txBox="1"/>
          <p:nvPr/>
        </p:nvSpPr>
        <p:spPr>
          <a:xfrm>
            <a:off x="8323783"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Ledger</a:t>
            </a:r>
          </a:p>
        </p:txBody>
      </p:sp>
      <p:sp>
        <p:nvSpPr>
          <p:cNvPr id="20" name="TextBox 19"/>
          <p:cNvSpPr txBox="1"/>
          <p:nvPr/>
        </p:nvSpPr>
        <p:spPr>
          <a:xfrm>
            <a:off x="867125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1" name="TextBox 20"/>
          <p:cNvSpPr txBox="1"/>
          <p:nvPr/>
        </p:nvSpPr>
        <p:spPr>
          <a:xfrm>
            <a:off x="8899855" y="356616"/>
            <a:ext cx="800100"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Agent</a:t>
            </a:r>
          </a:p>
        </p:txBody>
      </p:sp>
      <p:sp>
        <p:nvSpPr>
          <p:cNvPr id="22" name="TextBox 21"/>
          <p:cNvSpPr txBox="1"/>
          <p:nvPr/>
        </p:nvSpPr>
        <p:spPr>
          <a:xfrm>
            <a:off x="9197035"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3" name="TextBox 22"/>
          <p:cNvSpPr txBox="1"/>
          <p:nvPr/>
        </p:nvSpPr>
        <p:spPr>
          <a:xfrm>
            <a:off x="9425635"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Answer</a:t>
            </a:r>
          </a:p>
        </p:txBody>
      </p:sp>
      <p:sp>
        <p:nvSpPr>
          <p:cNvPr id="24" name="Rectangle 23"/>
          <p:cNvSpPr/>
          <p:nvPr/>
        </p:nvSpPr>
        <p:spPr>
          <a:xfrm>
            <a:off x="9910267" y="384048"/>
            <a:ext cx="8230" cy="155448"/>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019995" y="356616"/>
            <a:ext cx="699516"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API</a:t>
            </a:r>
          </a:p>
        </p:txBody>
      </p:sp>
      <p:sp>
        <p:nvSpPr>
          <p:cNvPr id="26" name="TextBox 25"/>
          <p:cNvSpPr txBox="1"/>
          <p:nvPr/>
        </p:nvSpPr>
        <p:spPr>
          <a:xfrm>
            <a:off x="10216591"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7" name="TextBox 26"/>
          <p:cNvSpPr txBox="1"/>
          <p:nvPr/>
        </p:nvSpPr>
        <p:spPr>
          <a:xfrm>
            <a:off x="10445191" y="356616"/>
            <a:ext cx="850392" cy="182880"/>
          </a:xfrm>
          <a:prstGeom prst="rect">
            <a:avLst/>
          </a:prstGeom>
          <a:noFill/>
        </p:spPr>
        <p:txBody>
          <a:bodyPr wrap="square" lIns="0" rIns="0" tIns="0" bIns="0" anchor="t">
            <a:spAutoFit/>
          </a:bodyPr>
          <a:lstStyle/>
          <a:p>
            <a:pPr algn="l">
              <a:lnSpc>
                <a:spcPct val="122000"/>
              </a:lnSpc>
              <a:spcAft>
                <a:spcPts val="200"/>
              </a:spcAft>
            </a:pPr>
            <a:r>
              <a:rPr sz="800" b="0" i="0" spc="20">
                <a:solidFill>
                  <a:srgbClr val="C2C9D2"/>
                </a:solidFill>
                <a:latin typeface="Segoe UI"/>
              </a:rPr>
              <a:t>Models</a:t>
            </a:r>
          </a:p>
        </p:txBody>
      </p:sp>
      <p:sp>
        <p:nvSpPr>
          <p:cNvPr id="28" name="TextBox 27"/>
          <p:cNvSpPr txBox="1"/>
          <p:nvPr/>
        </p:nvSpPr>
        <p:spPr>
          <a:xfrm>
            <a:off x="10792663" y="365760"/>
            <a:ext cx="274320" cy="237744"/>
          </a:xfrm>
          <a:prstGeom prst="rect">
            <a:avLst/>
          </a:prstGeom>
          <a:noFill/>
        </p:spPr>
        <p:txBody>
          <a:bodyPr wrap="square" lIns="0" rIns="0" tIns="0" bIns="0" anchor="t">
            <a:spAutoFit/>
          </a:bodyPr>
          <a:lstStyle/>
          <a:p>
            <a:pPr algn="ctr">
              <a:lnSpc>
                <a:spcPct val="122000"/>
              </a:lnSpc>
              <a:spcAft>
                <a:spcPts val="200"/>
              </a:spcAft>
            </a:pPr>
            <a:r>
              <a:rPr sz="900" b="0" i="0">
                <a:solidFill>
                  <a:srgbClr val="C2C9D2"/>
                </a:solidFill>
                <a:latin typeface="Segoe UI"/>
              </a:rPr>
              <a:t>›</a:t>
            </a:r>
          </a:p>
        </p:txBody>
      </p:sp>
      <p:sp>
        <p:nvSpPr>
          <p:cNvPr id="29" name="TextBox 28"/>
          <p:cNvSpPr txBox="1"/>
          <p:nvPr/>
        </p:nvSpPr>
        <p:spPr>
          <a:xfrm>
            <a:off x="11021263" y="356616"/>
            <a:ext cx="850392" cy="182880"/>
          </a:xfrm>
          <a:prstGeom prst="rect">
            <a:avLst/>
          </a:prstGeom>
          <a:noFill/>
        </p:spPr>
        <p:txBody>
          <a:bodyPr wrap="square" lIns="0" rIns="0" tIns="0" bIns="0" anchor="t">
            <a:spAutoFit/>
          </a:bodyPr>
          <a:lstStyle/>
          <a:p>
            <a:pPr algn="l">
              <a:lnSpc>
                <a:spcPct val="122000"/>
              </a:lnSpc>
              <a:spcAft>
                <a:spcPts val="200"/>
              </a:spcAft>
            </a:pPr>
            <a:r>
              <a:rPr sz="800" b="1" i="0" spc="20">
                <a:solidFill>
                  <a:srgbClr val="0F172A"/>
                </a:solidFill>
                <a:latin typeface="Segoe UI"/>
              </a:rPr>
              <a:t>Traces</a:t>
            </a:r>
          </a:p>
        </p:txBody>
      </p:sp>
      <p:sp>
        <p:nvSpPr>
          <p:cNvPr id="30" name="Rectangle 29"/>
          <p:cNvSpPr/>
          <p:nvPr/>
        </p:nvSpPr>
        <p:spPr>
          <a:xfrm>
            <a:off x="11021263" y="571500"/>
            <a:ext cx="320040" cy="1371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126480" y="1828800"/>
            <a:ext cx="8230" cy="338328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1828800"/>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THE WIRING</a:t>
            </a:r>
          </a:p>
        </p:txBody>
      </p:sp>
      <p:sp>
        <p:nvSpPr>
          <p:cNvPr id="33" name="TextBox 32"/>
          <p:cNvSpPr txBox="1"/>
          <p:nvPr/>
        </p:nvSpPr>
        <p:spPr>
          <a:xfrm>
            <a:off x="777240" y="214884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4" name="TextBox 33"/>
          <p:cNvSpPr txBox="1"/>
          <p:nvPr/>
        </p:nvSpPr>
        <p:spPr>
          <a:xfrm>
            <a:off x="996696" y="215798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Backend  </a:t>
            </a:r>
            <a:r>
              <a:rPr sz="1100" b="0" i="0">
                <a:solidFill>
                  <a:srgbClr val="3F4B5C"/>
                </a:solidFill>
                <a:latin typeface="Segoe UI"/>
              </a:rPr>
              <a:t>sqlite:////app/mlflow.db, experiment stai_ocr_receipts, UI served by the mlflow container on :5001</a:t>
            </a:r>
          </a:p>
        </p:txBody>
      </p:sp>
      <p:sp>
        <p:nvSpPr>
          <p:cNvPr id="35" name="TextBox 34"/>
          <p:cNvSpPr txBox="1"/>
          <p:nvPr/>
        </p:nvSpPr>
        <p:spPr>
          <a:xfrm>
            <a:off x="777240" y="271322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6" name="TextBox 35"/>
          <p:cNvSpPr txBox="1"/>
          <p:nvPr/>
        </p:nvSpPr>
        <p:spPr>
          <a:xfrm>
            <a:off x="996696" y="2722372"/>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One run per call  </a:t>
            </a:r>
            <a:r>
              <a:rPr sz="1100" b="0" i="0">
                <a:solidFill>
                  <a:srgbClr val="3F4B5C"/>
                </a:solidFill>
                <a:latin typeface="Segoe UI"/>
              </a:rPr>
              <a:t>named extract_*, extract_batch_*, sql_agent_*, rag_*, agent_*. The timestamp in the name makes any single call findable</a:t>
            </a:r>
          </a:p>
        </p:txBody>
      </p:sp>
      <p:sp>
        <p:nvSpPr>
          <p:cNvPr id="37" name="TextBox 36"/>
          <p:cNvSpPr txBox="1"/>
          <p:nvPr/>
        </p:nvSpPr>
        <p:spPr>
          <a:xfrm>
            <a:off x="777240" y="345922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8" name="TextBox 37"/>
          <p:cNvSpPr txBox="1"/>
          <p:nvPr/>
        </p:nvSpPr>
        <p:spPr>
          <a:xfrm>
            <a:off x="996696" y="3468370"/>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Three helpers  </a:t>
            </a:r>
            <a:r>
              <a:rPr sz="1100" b="0" i="0">
                <a:solidFill>
                  <a:srgbClr val="3F4B5C"/>
                </a:solidFill>
                <a:latin typeface="Segoe UI"/>
              </a:rPr>
              <a:t>_traced_run() opens the run; _mlog_metric() and _mlog_param() no-op when tracing is off, so the pipeline reads identically either way</a:t>
            </a:r>
          </a:p>
        </p:txBody>
      </p:sp>
      <p:sp>
        <p:nvSpPr>
          <p:cNvPr id="39" name="TextBox 38"/>
          <p:cNvSpPr txBox="1"/>
          <p:nvPr/>
        </p:nvSpPr>
        <p:spPr>
          <a:xfrm>
            <a:off x="777240" y="420522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0" name="TextBox 39"/>
          <p:cNvSpPr txBox="1"/>
          <p:nvPr/>
        </p:nvSpPr>
        <p:spPr>
          <a:xfrm>
            <a:off x="996696" y="4214368"/>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Self-healing  </a:t>
            </a:r>
            <a:r>
              <a:rPr sz="1100" b="0" i="0">
                <a:solidFill>
                  <a:srgbClr val="3F4B5C"/>
                </a:solidFill>
                <a:latin typeface="Segoe UI"/>
              </a:rPr>
              <a:t>a run left dangling by an abandoned request is cleared before the next one opens; batch workers open runs from threads</a:t>
            </a:r>
          </a:p>
        </p:txBody>
      </p:sp>
      <p:sp>
        <p:nvSpPr>
          <p:cNvPr id="41" name="TextBox 40"/>
          <p:cNvSpPr txBox="1"/>
          <p:nvPr/>
        </p:nvSpPr>
        <p:spPr>
          <a:xfrm>
            <a:off x="6537960" y="1828800"/>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WHAT LANDS ON A RUN</a:t>
            </a:r>
          </a:p>
        </p:txBody>
      </p:sp>
      <p:sp>
        <p:nvSpPr>
          <p:cNvPr id="42" name="TextBox 41"/>
          <p:cNvSpPr txBox="1"/>
          <p:nvPr/>
        </p:nvSpPr>
        <p:spPr>
          <a:xfrm>
            <a:off x="6537960" y="214884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3" name="TextBox 42"/>
          <p:cNvSpPr txBox="1"/>
          <p:nvPr/>
        </p:nvSpPr>
        <p:spPr>
          <a:xfrm>
            <a:off x="6757416" y="2157984"/>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Extraction  </a:t>
            </a:r>
            <a:r>
              <a:rPr sz="1100" b="0" i="0">
                <a:solidFill>
                  <a:srgbClr val="3F4B5C"/>
                </a:solidFill>
                <a:latin typeface="Segoe UI"/>
              </a:rPr>
              <a:t>latency_seconds · prompt_eval_count · eval_count · items_extracted · audit_codes · extraction_confidence · needs_disambiguation</a:t>
            </a:r>
          </a:p>
        </p:txBody>
      </p:sp>
      <p:sp>
        <p:nvSpPr>
          <p:cNvPr id="44" name="TextBox 43"/>
          <p:cNvSpPr txBox="1"/>
          <p:nvPr/>
        </p:nvSpPr>
        <p:spPr>
          <a:xfrm>
            <a:off x="6537960" y="289483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5" name="TextBox 44"/>
          <p:cNvSpPr txBox="1"/>
          <p:nvPr/>
        </p:nvSpPr>
        <p:spPr>
          <a:xfrm>
            <a:off x="6757416" y="290398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Agent turn  </a:t>
            </a:r>
            <a:r>
              <a:rPr sz="1100" b="0" i="0">
                <a:solidFill>
                  <a:srgbClr val="3F4B5C"/>
                </a:solidFill>
                <a:latin typeface="Segoe UI"/>
              </a:rPr>
              <a:t>num_steps · tools_used · answer_grounded · ungrounded_numbers · clarified · expenses_written</a:t>
            </a:r>
          </a:p>
        </p:txBody>
      </p:sp>
      <p:sp>
        <p:nvSpPr>
          <p:cNvPr id="46" name="TextBox 45"/>
          <p:cNvSpPr txBox="1"/>
          <p:nvPr/>
        </p:nvSpPr>
        <p:spPr>
          <a:xfrm>
            <a:off x="6537960" y="345922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7" name="TextBox 46"/>
          <p:cNvSpPr txBox="1"/>
          <p:nvPr/>
        </p:nvSpPr>
        <p:spPr>
          <a:xfrm>
            <a:off x="6757416" y="346837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SQL and RAG  </a:t>
            </a:r>
            <a:r>
              <a:rPr sz="1100" b="0" i="0">
                <a:solidFill>
                  <a:srgbClr val="3F4B5C"/>
                </a:solidFill>
                <a:latin typeface="Segoe UI"/>
              </a:rPr>
              <a:t>final_sql · retried · rows_returned · sources_retrieved · used_embeddings</a:t>
            </a:r>
          </a:p>
        </p:txBody>
      </p:sp>
      <p:sp>
        <p:nvSpPr>
          <p:cNvPr id="48" name="TextBox 47"/>
          <p:cNvSpPr txBox="1"/>
          <p:nvPr/>
        </p:nvSpPr>
        <p:spPr>
          <a:xfrm>
            <a:off x="6537960" y="402361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49" name="TextBox 48"/>
          <p:cNvSpPr txBox="1"/>
          <p:nvPr/>
        </p:nvSpPr>
        <p:spPr>
          <a:xfrm>
            <a:off x="6757416" y="4032758"/>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Every path  </a:t>
            </a:r>
            <a:r>
              <a:rPr sz="1100" b="0" i="0">
                <a:solidFill>
                  <a:srgbClr val="3F4B5C"/>
                </a:solidFill>
                <a:latin typeface="Segoe UI"/>
              </a:rPr>
              <a:t>error 0/1 and error_message. A failed call is still a run, which is the only way a failure rate means anything</a:t>
            </a:r>
          </a:p>
        </p:txBody>
      </p:sp>
      <p:sp>
        <p:nvSpPr>
          <p:cNvPr id="50" name="Rectangle 49"/>
          <p:cNvSpPr/>
          <p:nvPr/>
        </p:nvSpPr>
        <p:spPr>
          <a:xfrm>
            <a:off x="777240" y="55778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77240" y="572414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Two knobs, both environment:  </a:t>
            </a:r>
            <a:r>
              <a:rPr sz="1050" b="0" i="0">
                <a:solidFill>
                  <a:srgbClr val="8A94A3"/>
                </a:solidFill>
                <a:latin typeface="Segoe UI"/>
              </a:rPr>
              <a:t>MLFLOW_ENABLED=0 turns tracing off entirely; MLFLOW_SAMPLE_RATE=0.05 keeps a twentieth of the traces on a bulk import instead of one run per page.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Components</a:t>
            </a:r>
          </a:p>
        </p:txBody>
      </p:sp>
      <p:sp>
        <p:nvSpPr>
          <p:cNvPr id="6" name="Rectangle 5"/>
          <p:cNvSpPr/>
          <p:nvPr/>
        </p:nvSpPr>
        <p:spPr>
          <a:xfrm>
            <a:off x="3291840" y="571500"/>
            <a:ext cx="658368"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Docker: one command, three services</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docker compose up. No Python, no Node, no model to install first.</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16</a:t>
            </a:r>
          </a:p>
        </p:txBody>
      </p:sp>
      <p:sp>
        <p:nvSpPr>
          <p:cNvPr id="14" name="TextBox 13"/>
          <p:cNvSpPr txBox="1"/>
          <p:nvPr/>
        </p:nvSpPr>
        <p:spPr>
          <a:xfrm>
            <a:off x="777240" y="1828800"/>
            <a:ext cx="2438400" cy="274320"/>
          </a:xfrm>
          <a:prstGeom prst="rect">
            <a:avLst/>
          </a:prstGeom>
          <a:noFill/>
        </p:spPr>
        <p:txBody>
          <a:bodyPr wrap="square" lIns="0" rIns="0" tIns="0" bIns="0" anchor="t">
            <a:spAutoFit/>
          </a:bodyPr>
          <a:lstStyle/>
          <a:p>
            <a:pPr algn="ctr">
              <a:lnSpc>
                <a:spcPct val="122000"/>
              </a:lnSpc>
              <a:spcAft>
                <a:spcPts val="200"/>
              </a:spcAft>
            </a:pPr>
            <a:r>
              <a:rPr sz="1400" b="1" i="0">
                <a:solidFill>
                  <a:srgbClr val="0F172A"/>
                </a:solidFill>
                <a:latin typeface="Segoe UI"/>
              </a:rPr>
              <a:t>web</a:t>
            </a:r>
          </a:p>
        </p:txBody>
      </p:sp>
      <p:sp>
        <p:nvSpPr>
          <p:cNvPr id="15" name="TextBox 14"/>
          <p:cNvSpPr txBox="1"/>
          <p:nvPr/>
        </p:nvSpPr>
        <p:spPr>
          <a:xfrm>
            <a:off x="832104" y="2084832"/>
            <a:ext cx="2328672"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Next.js  ·  :7860</a:t>
            </a:r>
          </a:p>
        </p:txBody>
      </p:sp>
      <p:sp>
        <p:nvSpPr>
          <p:cNvPr id="16" name="TextBox 15"/>
          <p:cNvSpPr txBox="1"/>
          <p:nvPr/>
        </p:nvSpPr>
        <p:spPr>
          <a:xfrm>
            <a:off x="3078480" y="181965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17" name="TextBox 16"/>
          <p:cNvSpPr txBox="1"/>
          <p:nvPr/>
        </p:nvSpPr>
        <p:spPr>
          <a:xfrm>
            <a:off x="3215640" y="1828800"/>
            <a:ext cx="2438400" cy="274320"/>
          </a:xfrm>
          <a:prstGeom prst="rect">
            <a:avLst/>
          </a:prstGeom>
          <a:noFill/>
        </p:spPr>
        <p:txBody>
          <a:bodyPr wrap="square" lIns="0" rIns="0" tIns="0" bIns="0" anchor="t">
            <a:spAutoFit/>
          </a:bodyPr>
          <a:lstStyle/>
          <a:p>
            <a:pPr algn="ctr">
              <a:lnSpc>
                <a:spcPct val="122000"/>
              </a:lnSpc>
              <a:spcAft>
                <a:spcPts val="200"/>
              </a:spcAft>
            </a:pPr>
            <a:r>
              <a:rPr sz="1400" b="1" i="0">
                <a:solidFill>
                  <a:srgbClr val="B45309"/>
                </a:solidFill>
                <a:latin typeface="Segoe UI"/>
              </a:rPr>
              <a:t>api</a:t>
            </a:r>
          </a:p>
        </p:txBody>
      </p:sp>
      <p:sp>
        <p:nvSpPr>
          <p:cNvPr id="18" name="TextBox 17"/>
          <p:cNvSpPr txBox="1"/>
          <p:nvPr/>
        </p:nvSpPr>
        <p:spPr>
          <a:xfrm>
            <a:off x="3270504" y="2084832"/>
            <a:ext cx="2328672"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FastAPI  ·  :8000</a:t>
            </a:r>
          </a:p>
        </p:txBody>
      </p:sp>
      <p:sp>
        <p:nvSpPr>
          <p:cNvPr id="19" name="TextBox 18"/>
          <p:cNvSpPr txBox="1"/>
          <p:nvPr/>
        </p:nvSpPr>
        <p:spPr>
          <a:xfrm>
            <a:off x="5516880" y="1819656"/>
            <a:ext cx="274320" cy="237744"/>
          </a:xfrm>
          <a:prstGeom prst="rect">
            <a:avLst/>
          </a:prstGeom>
          <a:noFill/>
        </p:spPr>
        <p:txBody>
          <a:bodyPr wrap="square" lIns="0" rIns="0" tIns="0" bIns="0" anchor="t">
            <a:spAutoFit/>
          </a:bodyPr>
          <a:lstStyle/>
          <a:p>
            <a:pPr algn="ctr">
              <a:lnSpc>
                <a:spcPct val="122000"/>
              </a:lnSpc>
              <a:spcAft>
                <a:spcPts val="200"/>
              </a:spcAft>
            </a:pPr>
            <a:r>
              <a:rPr sz="1300" b="0" i="0">
                <a:solidFill>
                  <a:srgbClr val="C2C9D2"/>
                </a:solidFill>
                <a:latin typeface="Segoe UI"/>
              </a:rPr>
              <a:t>›</a:t>
            </a:r>
          </a:p>
        </p:txBody>
      </p:sp>
      <p:sp>
        <p:nvSpPr>
          <p:cNvPr id="20" name="TextBox 19"/>
          <p:cNvSpPr txBox="1"/>
          <p:nvPr/>
        </p:nvSpPr>
        <p:spPr>
          <a:xfrm>
            <a:off x="5654040" y="1828800"/>
            <a:ext cx="2438400" cy="274320"/>
          </a:xfrm>
          <a:prstGeom prst="rect">
            <a:avLst/>
          </a:prstGeom>
          <a:noFill/>
        </p:spPr>
        <p:txBody>
          <a:bodyPr wrap="square" lIns="0" rIns="0" tIns="0" bIns="0" anchor="t">
            <a:spAutoFit/>
          </a:bodyPr>
          <a:lstStyle/>
          <a:p>
            <a:pPr algn="ctr">
              <a:lnSpc>
                <a:spcPct val="122000"/>
              </a:lnSpc>
              <a:spcAft>
                <a:spcPts val="200"/>
              </a:spcAft>
            </a:pPr>
            <a:r>
              <a:rPr sz="1400" b="1" i="0">
                <a:solidFill>
                  <a:srgbClr val="0F172A"/>
                </a:solidFill>
                <a:latin typeface="Segoe UI"/>
              </a:rPr>
              <a:t>mlflow</a:t>
            </a:r>
          </a:p>
        </p:txBody>
      </p:sp>
      <p:sp>
        <p:nvSpPr>
          <p:cNvPr id="21" name="TextBox 20"/>
          <p:cNvSpPr txBox="1"/>
          <p:nvPr/>
        </p:nvSpPr>
        <p:spPr>
          <a:xfrm>
            <a:off x="5708904" y="2084832"/>
            <a:ext cx="2328672" cy="310896"/>
          </a:xfrm>
          <a:prstGeom prst="rect">
            <a:avLst/>
          </a:prstGeom>
          <a:noFill/>
        </p:spPr>
        <p:txBody>
          <a:bodyPr wrap="square" lIns="0" rIns="0" tIns="0" bIns="0" anchor="t">
            <a:spAutoFit/>
          </a:bodyPr>
          <a:lstStyle/>
          <a:p>
            <a:pPr algn="ctr">
              <a:lnSpc>
                <a:spcPct val="115000"/>
              </a:lnSpc>
              <a:spcAft>
                <a:spcPts val="200"/>
              </a:spcAft>
            </a:pPr>
            <a:r>
              <a:rPr sz="950" b="0" i="0">
                <a:solidFill>
                  <a:srgbClr val="8A94A3"/>
                </a:solidFill>
                <a:latin typeface="Segoe UI"/>
              </a:rPr>
              <a:t>tracking UI  ·  :5001</a:t>
            </a:r>
          </a:p>
        </p:txBody>
      </p:sp>
      <p:sp>
        <p:nvSpPr>
          <p:cNvPr id="22" name="TextBox 21"/>
          <p:cNvSpPr txBox="1"/>
          <p:nvPr/>
        </p:nvSpPr>
        <p:spPr>
          <a:xfrm>
            <a:off x="8412480" y="1865376"/>
            <a:ext cx="3017520" cy="640080"/>
          </a:xfrm>
          <a:prstGeom prst="rect">
            <a:avLst/>
          </a:prstGeom>
          <a:noFill/>
        </p:spPr>
        <p:txBody>
          <a:bodyPr wrap="square" lIns="0" rIns="0" tIns="0" bIns="0" anchor="t">
            <a:spAutoFit/>
          </a:bodyPr>
          <a:lstStyle/>
          <a:p>
            <a:pPr algn="l">
              <a:lnSpc>
                <a:spcPct val="122000"/>
              </a:lnSpc>
              <a:spcAft>
                <a:spcPts val="200"/>
              </a:spcAft>
            </a:pPr>
            <a:r>
              <a:rPr sz="1200" b="1" i="0">
                <a:solidFill>
                  <a:srgbClr val="0F172A"/>
                </a:solidFill>
                <a:latin typeface="Consolas"/>
              </a:rPr>
              <a:t>docker compose up</a:t>
            </a:r>
          </a:p>
        </p:txBody>
      </p:sp>
      <p:sp>
        <p:nvSpPr>
          <p:cNvPr id="23" name="TextBox 22"/>
          <p:cNvSpPr txBox="1"/>
          <p:nvPr/>
        </p:nvSpPr>
        <p:spPr>
          <a:xfrm>
            <a:off x="8412480" y="2157984"/>
            <a:ext cx="3017520" cy="457200"/>
          </a:xfrm>
          <a:prstGeom prst="rect">
            <a:avLst/>
          </a:prstGeom>
          <a:noFill/>
        </p:spPr>
        <p:txBody>
          <a:bodyPr wrap="square" lIns="0" rIns="0" tIns="0" bIns="0" anchor="t">
            <a:spAutoFit/>
          </a:bodyPr>
          <a:lstStyle/>
          <a:p>
            <a:pPr algn="l">
              <a:lnSpc>
                <a:spcPct val="130000"/>
              </a:lnSpc>
              <a:spcAft>
                <a:spcPts val="200"/>
              </a:spcAft>
            </a:pPr>
            <a:r>
              <a:rPr sz="1000" b="0" i="0">
                <a:solidFill>
                  <a:srgbClr val="8A94A3"/>
                </a:solidFill>
                <a:latin typeface="Segoe UI"/>
              </a:rPr>
              <a:t>builds two images, pulls one, and brings the three up in order</a:t>
            </a:r>
          </a:p>
        </p:txBody>
      </p:sp>
      <p:sp>
        <p:nvSpPr>
          <p:cNvPr id="24" name="Rectangle 23"/>
          <p:cNvSpPr/>
          <p:nvPr/>
        </p:nvSpPr>
        <p:spPr>
          <a:xfrm>
            <a:off x="777240" y="274320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26480" y="2962656"/>
            <a:ext cx="8230" cy="246888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296265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WHAT EACH ONE IS</a:t>
            </a:r>
          </a:p>
        </p:txBody>
      </p:sp>
      <p:sp>
        <p:nvSpPr>
          <p:cNvPr id="27" name="TextBox 26"/>
          <p:cNvSpPr txBox="1"/>
          <p:nvPr/>
        </p:nvSpPr>
        <p:spPr>
          <a:xfrm>
            <a:off x="777240" y="328269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8" name="TextBox 27"/>
          <p:cNvSpPr txBox="1"/>
          <p:nvPr/>
        </p:nvSpPr>
        <p:spPr>
          <a:xfrm>
            <a:off x="996696" y="3291840"/>
            <a:ext cx="4626864" cy="78130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web  </a:t>
            </a:r>
            <a:r>
              <a:rPr sz="1100" b="0" i="0">
                <a:solidFill>
                  <a:srgbClr val="3F4B5C"/>
                </a:solidFill>
                <a:latin typeface="Segoe UI"/>
              </a:rPr>
              <a:t>Next.js on :3000, published on 7860. API_BASE is passed as a build arg and a runtime env, because the /api/* rewrite is baked at build time while the route handlers read it at run time, and they have to agree</a:t>
            </a:r>
          </a:p>
        </p:txBody>
      </p:sp>
      <p:sp>
        <p:nvSpPr>
          <p:cNvPr id="29" name="TextBox 28"/>
          <p:cNvSpPr txBox="1"/>
          <p:nvPr/>
        </p:nvSpPr>
        <p:spPr>
          <a:xfrm>
            <a:off x="777240" y="421030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0" name="TextBox 29"/>
          <p:cNvSpPr txBox="1"/>
          <p:nvPr/>
        </p:nvSpPr>
        <p:spPr>
          <a:xfrm>
            <a:off x="996696" y="421944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api  </a:t>
            </a:r>
            <a:r>
              <a:rPr sz="1100" b="0" i="0">
                <a:solidFill>
                  <a:srgbClr val="3F4B5C"/>
                </a:solidFill>
                <a:latin typeface="Segoe UI"/>
              </a:rPr>
              <a:t>python:3.11-slim, uvicorn api:app, healthcheck on /health</a:t>
            </a:r>
          </a:p>
        </p:txBody>
      </p:sp>
      <p:sp>
        <p:nvSpPr>
          <p:cNvPr id="31" name="TextBox 30"/>
          <p:cNvSpPr txBox="1"/>
          <p:nvPr/>
        </p:nvSpPr>
        <p:spPr>
          <a:xfrm>
            <a:off x="777240" y="477469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2" name="TextBox 31"/>
          <p:cNvSpPr txBox="1"/>
          <p:nvPr/>
        </p:nvSpPr>
        <p:spPr>
          <a:xfrm>
            <a:off x="996696" y="4783836"/>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mlflow  </a:t>
            </a:r>
            <a:r>
              <a:rPr sz="1100" b="0" i="0">
                <a:solidFill>
                  <a:srgbClr val="3F4B5C"/>
                </a:solidFill>
                <a:latin typeface="Segoe UI"/>
              </a:rPr>
              <a:t>ghcr.io/mlflow/mlflow:v3.14.0 on :5001, because 5000 is taken by AirPlay on macOS</a:t>
            </a:r>
          </a:p>
        </p:txBody>
      </p:sp>
      <p:sp>
        <p:nvSpPr>
          <p:cNvPr id="33" name="TextBox 32"/>
          <p:cNvSpPr txBox="1"/>
          <p:nvPr/>
        </p:nvSpPr>
        <p:spPr>
          <a:xfrm>
            <a:off x="6537960" y="296265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THREE DECISIONS WORTH DEFENDING</a:t>
            </a:r>
          </a:p>
        </p:txBody>
      </p:sp>
      <p:sp>
        <p:nvSpPr>
          <p:cNvPr id="34" name="TextBox 33"/>
          <p:cNvSpPr txBox="1"/>
          <p:nvPr/>
        </p:nvSpPr>
        <p:spPr>
          <a:xfrm>
            <a:off x="6537960" y="328269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5" name="TextBox 34"/>
          <p:cNvSpPr txBox="1"/>
          <p:nvPr/>
        </p:nvSpPr>
        <p:spPr>
          <a:xfrm>
            <a:off x="6757416" y="3291840"/>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The ledger lives on a named volume  </a:t>
            </a:r>
            <a:r>
              <a:rPr sz="1100" b="0" i="0">
                <a:solidFill>
                  <a:srgbClr val="3F4B5C"/>
                </a:solidFill>
                <a:latin typeface="Segoe UI"/>
              </a:rPr>
              <a:t>SQLite's locking does not work on a Windows or Mac bind mount; ledger_data is a real Linux filesystem, seeded once from the repo's ledger.db</a:t>
            </a:r>
          </a:p>
        </p:txBody>
      </p:sp>
      <p:sp>
        <p:nvSpPr>
          <p:cNvPr id="36" name="TextBox 35"/>
          <p:cNvSpPr txBox="1"/>
          <p:nvPr/>
        </p:nvSpPr>
        <p:spPr>
          <a:xfrm>
            <a:off x="6537960" y="402869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7" name="TextBox 36"/>
          <p:cNvSpPr txBox="1"/>
          <p:nvPr/>
        </p:nvSpPr>
        <p:spPr>
          <a:xfrm>
            <a:off x="6757416" y="4037838"/>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Models are environment, not code  </a:t>
            </a:r>
            <a:r>
              <a:rPr sz="1100" b="0" i="0">
                <a:solidFill>
                  <a:srgbClr val="3F4B5C"/>
                </a:solidFill>
                <a:latin typeface="Segoe UI"/>
              </a:rPr>
              <a:t>OLLAMA_HOST, VISION_MODEL, AGENT_MODEL, EMBED_MODEL. Trialling qwen2.5vl:7b changed no source</a:t>
            </a:r>
          </a:p>
        </p:txBody>
      </p:sp>
      <p:sp>
        <p:nvSpPr>
          <p:cNvPr id="38" name="TextBox 37"/>
          <p:cNvSpPr txBox="1"/>
          <p:nvPr/>
        </p:nvSpPr>
        <p:spPr>
          <a:xfrm>
            <a:off x="6537960" y="477469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9" name="TextBox 38"/>
          <p:cNvSpPr txBox="1"/>
          <p:nvPr/>
        </p:nvSpPr>
        <p:spPr>
          <a:xfrm>
            <a:off x="6757416" y="4783836"/>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Start order is declared  </a:t>
            </a:r>
            <a:r>
              <a:rPr sz="1100" b="0" i="0">
                <a:solidFill>
                  <a:srgbClr val="3F4B5C"/>
                </a:solidFill>
                <a:latin typeface="Segoe UI"/>
              </a:rPr>
              <a:t>web waits on api, api waits on mlflow, so the first trace has somewhere to land</a:t>
            </a:r>
          </a:p>
        </p:txBody>
      </p:sp>
      <p:sp>
        <p:nvSpPr>
          <p:cNvPr id="40" name="Rectangle 39"/>
          <p:cNvSpPr/>
          <p:nvPr/>
        </p:nvSpPr>
        <p:spPr>
          <a:xfrm>
            <a:off x="777240" y="570585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77240" y="5852160"/>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No GPU inside the container:  </a:t>
            </a:r>
            <a:r>
              <a:rPr sz="1050" b="0" i="0">
                <a:solidFill>
                  <a:srgbClr val="8A94A3"/>
                </a:solidFill>
                <a:latin typeface="Segoe UI"/>
              </a:rPr>
              <a:t>inference is an HTTP call to OLLAMA_HOST, which is why the whole stack comes up on a laptop and the demo does not need the lab machine.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Three models, measured</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same receipts through each one. Accuracy, speed, and what it costs.</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17</a:t>
            </a:r>
          </a:p>
        </p:txBody>
      </p:sp>
      <p:sp>
        <p:nvSpPr>
          <p:cNvPr id="14" name="TextBox 13"/>
          <p:cNvSpPr txBox="1"/>
          <p:nvPr/>
        </p:nvSpPr>
        <p:spPr>
          <a:xfrm>
            <a:off x="777240" y="1773936"/>
            <a:ext cx="260604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MODEL</a:t>
            </a:r>
          </a:p>
        </p:txBody>
      </p:sp>
      <p:sp>
        <p:nvSpPr>
          <p:cNvPr id="15" name="TextBox 14"/>
          <p:cNvSpPr txBox="1"/>
          <p:nvPr/>
        </p:nvSpPr>
        <p:spPr>
          <a:xfrm>
            <a:off x="3566160" y="1773936"/>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ACCURACY</a:t>
            </a:r>
          </a:p>
        </p:txBody>
      </p:sp>
      <p:sp>
        <p:nvSpPr>
          <p:cNvPr id="16" name="TextBox 15"/>
          <p:cNvSpPr txBox="1"/>
          <p:nvPr/>
        </p:nvSpPr>
        <p:spPr>
          <a:xfrm>
            <a:off x="4846320" y="1773936"/>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PRECISION</a:t>
            </a:r>
          </a:p>
        </p:txBody>
      </p:sp>
      <p:sp>
        <p:nvSpPr>
          <p:cNvPr id="17" name="TextBox 16"/>
          <p:cNvSpPr txBox="1"/>
          <p:nvPr/>
        </p:nvSpPr>
        <p:spPr>
          <a:xfrm>
            <a:off x="6126480" y="1773936"/>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RECALL</a:t>
            </a:r>
          </a:p>
        </p:txBody>
      </p:sp>
      <p:sp>
        <p:nvSpPr>
          <p:cNvPr id="18" name="TextBox 17"/>
          <p:cNvSpPr txBox="1"/>
          <p:nvPr/>
        </p:nvSpPr>
        <p:spPr>
          <a:xfrm>
            <a:off x="7406640" y="1773936"/>
            <a:ext cx="173736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TIME / RECEIPT</a:t>
            </a:r>
          </a:p>
        </p:txBody>
      </p:sp>
      <p:sp>
        <p:nvSpPr>
          <p:cNvPr id="19" name="TextBox 18"/>
          <p:cNvSpPr txBox="1"/>
          <p:nvPr/>
        </p:nvSpPr>
        <p:spPr>
          <a:xfrm>
            <a:off x="9281160" y="1773936"/>
            <a:ext cx="2130552"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COST</a:t>
            </a:r>
          </a:p>
        </p:txBody>
      </p:sp>
      <p:sp>
        <p:nvSpPr>
          <p:cNvPr id="20" name="Rectangle 19"/>
          <p:cNvSpPr/>
          <p:nvPr/>
        </p:nvSpPr>
        <p:spPr>
          <a:xfrm>
            <a:off x="777240" y="2029968"/>
            <a:ext cx="10637215" cy="10973"/>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7240" y="2249424"/>
            <a:ext cx="2606040"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0F172A"/>
                </a:solidFill>
                <a:latin typeface="Segoe UI"/>
              </a:rPr>
              <a:t>Claude Cowork</a:t>
            </a:r>
          </a:p>
        </p:txBody>
      </p:sp>
      <p:sp>
        <p:nvSpPr>
          <p:cNvPr id="22" name="TextBox 21"/>
          <p:cNvSpPr txBox="1"/>
          <p:nvPr/>
        </p:nvSpPr>
        <p:spPr>
          <a:xfrm>
            <a:off x="777240" y="2542032"/>
            <a:ext cx="2606040" cy="274320"/>
          </a:xfrm>
          <a:prstGeom prst="rect">
            <a:avLst/>
          </a:prstGeom>
          <a:noFill/>
        </p:spPr>
        <p:txBody>
          <a:bodyPr wrap="square" lIns="0" rIns="0" tIns="0" bIns="0" anchor="t">
            <a:spAutoFit/>
          </a:bodyPr>
          <a:lstStyle/>
          <a:p>
            <a:pPr algn="l">
              <a:lnSpc>
                <a:spcPct val="122000"/>
              </a:lnSpc>
              <a:spcAft>
                <a:spcPts val="200"/>
              </a:spcAft>
            </a:pPr>
            <a:r>
              <a:rPr sz="1000" b="0" i="0">
                <a:solidFill>
                  <a:srgbClr val="8A94A3"/>
                </a:solidFill>
                <a:latin typeface="Segoe UI"/>
              </a:rPr>
              <a:t>hosted  ·  the ceiling we measured against</a:t>
            </a:r>
          </a:p>
        </p:txBody>
      </p:sp>
      <p:sp>
        <p:nvSpPr>
          <p:cNvPr id="23" name="TextBox 22"/>
          <p:cNvSpPr txBox="1"/>
          <p:nvPr/>
        </p:nvSpPr>
        <p:spPr>
          <a:xfrm>
            <a:off x="3566160" y="2304288"/>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97%</a:t>
            </a:r>
          </a:p>
        </p:txBody>
      </p:sp>
      <p:sp>
        <p:nvSpPr>
          <p:cNvPr id="24" name="TextBox 23"/>
          <p:cNvSpPr txBox="1"/>
          <p:nvPr/>
        </p:nvSpPr>
        <p:spPr>
          <a:xfrm>
            <a:off x="4846320" y="2304288"/>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94%</a:t>
            </a:r>
          </a:p>
        </p:txBody>
      </p:sp>
      <p:sp>
        <p:nvSpPr>
          <p:cNvPr id="25" name="TextBox 24"/>
          <p:cNvSpPr txBox="1"/>
          <p:nvPr/>
        </p:nvSpPr>
        <p:spPr>
          <a:xfrm>
            <a:off x="6126480" y="2304288"/>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98%</a:t>
            </a:r>
          </a:p>
        </p:txBody>
      </p:sp>
      <p:sp>
        <p:nvSpPr>
          <p:cNvPr id="26" name="TextBox 25"/>
          <p:cNvSpPr txBox="1"/>
          <p:nvPr/>
        </p:nvSpPr>
        <p:spPr>
          <a:xfrm>
            <a:off x="7406640" y="2304288"/>
            <a:ext cx="173736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15 s</a:t>
            </a:r>
          </a:p>
        </p:txBody>
      </p:sp>
      <p:sp>
        <p:nvSpPr>
          <p:cNvPr id="27" name="TextBox 26"/>
          <p:cNvSpPr txBox="1"/>
          <p:nvPr/>
        </p:nvSpPr>
        <p:spPr>
          <a:xfrm>
            <a:off x="9281160" y="2304288"/>
            <a:ext cx="2130552"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$20 / month</a:t>
            </a:r>
          </a:p>
        </p:txBody>
      </p:sp>
      <p:sp>
        <p:nvSpPr>
          <p:cNvPr id="28" name="Rectangle 27"/>
          <p:cNvSpPr/>
          <p:nvPr/>
        </p:nvSpPr>
        <p:spPr>
          <a:xfrm>
            <a:off x="777240" y="307238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7240" y="3145536"/>
            <a:ext cx="2606040"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0F172A"/>
                </a:solidFill>
                <a:latin typeface="Segoe UI"/>
              </a:rPr>
              <a:t>qwen2.5-VL 7B</a:t>
            </a:r>
          </a:p>
        </p:txBody>
      </p:sp>
      <p:sp>
        <p:nvSpPr>
          <p:cNvPr id="30" name="TextBox 29"/>
          <p:cNvSpPr txBox="1"/>
          <p:nvPr/>
        </p:nvSpPr>
        <p:spPr>
          <a:xfrm>
            <a:off x="777240" y="3438144"/>
            <a:ext cx="2606040" cy="274320"/>
          </a:xfrm>
          <a:prstGeom prst="rect">
            <a:avLst/>
          </a:prstGeom>
          <a:noFill/>
        </p:spPr>
        <p:txBody>
          <a:bodyPr wrap="square" lIns="0" rIns="0" tIns="0" bIns="0" anchor="t">
            <a:spAutoFit/>
          </a:bodyPr>
          <a:lstStyle/>
          <a:p>
            <a:pPr algn="l">
              <a:lnSpc>
                <a:spcPct val="122000"/>
              </a:lnSpc>
              <a:spcAft>
                <a:spcPts val="200"/>
              </a:spcAft>
            </a:pPr>
            <a:r>
              <a:rPr sz="1000" b="0" i="0">
                <a:solidFill>
                  <a:srgbClr val="8A94A3"/>
                </a:solidFill>
                <a:latin typeface="Segoe UI"/>
              </a:rPr>
              <a:t>local  ·  10 labelled receipts, field by field</a:t>
            </a:r>
          </a:p>
        </p:txBody>
      </p:sp>
      <p:sp>
        <p:nvSpPr>
          <p:cNvPr id="31" name="TextBox 30"/>
          <p:cNvSpPr txBox="1"/>
          <p:nvPr/>
        </p:nvSpPr>
        <p:spPr>
          <a:xfrm>
            <a:off x="3566160" y="3200400"/>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86.3%</a:t>
            </a:r>
          </a:p>
        </p:txBody>
      </p:sp>
      <p:sp>
        <p:nvSpPr>
          <p:cNvPr id="32" name="TextBox 31"/>
          <p:cNvSpPr txBox="1"/>
          <p:nvPr/>
        </p:nvSpPr>
        <p:spPr>
          <a:xfrm>
            <a:off x="4846320" y="3200400"/>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89.6%</a:t>
            </a:r>
          </a:p>
        </p:txBody>
      </p:sp>
      <p:sp>
        <p:nvSpPr>
          <p:cNvPr id="33" name="TextBox 32"/>
          <p:cNvSpPr txBox="1"/>
          <p:nvPr/>
        </p:nvSpPr>
        <p:spPr>
          <a:xfrm>
            <a:off x="6126480" y="3200400"/>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94.5%</a:t>
            </a:r>
          </a:p>
        </p:txBody>
      </p:sp>
      <p:sp>
        <p:nvSpPr>
          <p:cNvPr id="34" name="TextBox 33"/>
          <p:cNvSpPr txBox="1"/>
          <p:nvPr/>
        </p:nvSpPr>
        <p:spPr>
          <a:xfrm>
            <a:off x="7406640" y="3200400"/>
            <a:ext cx="173736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5m 40s *</a:t>
            </a:r>
          </a:p>
        </p:txBody>
      </p:sp>
      <p:sp>
        <p:nvSpPr>
          <p:cNvPr id="35" name="TextBox 34"/>
          <p:cNvSpPr txBox="1"/>
          <p:nvPr/>
        </p:nvSpPr>
        <p:spPr>
          <a:xfrm>
            <a:off x="9281160" y="3200400"/>
            <a:ext cx="2130552"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free</a:t>
            </a:r>
          </a:p>
        </p:txBody>
      </p:sp>
      <p:sp>
        <p:nvSpPr>
          <p:cNvPr id="36" name="Rectangle 35"/>
          <p:cNvSpPr/>
          <p:nvPr/>
        </p:nvSpPr>
        <p:spPr>
          <a:xfrm>
            <a:off x="777240" y="396849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77240" y="4041648"/>
            <a:ext cx="2606040" cy="274320"/>
          </a:xfrm>
          <a:prstGeom prst="rect">
            <a:avLst/>
          </a:prstGeom>
          <a:noFill/>
        </p:spPr>
        <p:txBody>
          <a:bodyPr wrap="square" lIns="0" rIns="0" tIns="0" bIns="0" anchor="t">
            <a:spAutoFit/>
          </a:bodyPr>
          <a:lstStyle/>
          <a:p>
            <a:pPr algn="l">
              <a:lnSpc>
                <a:spcPct val="122000"/>
              </a:lnSpc>
              <a:spcAft>
                <a:spcPts val="200"/>
              </a:spcAft>
            </a:pPr>
            <a:r>
              <a:rPr sz="1450" b="1" i="0">
                <a:solidFill>
                  <a:srgbClr val="B45309"/>
                </a:solidFill>
                <a:latin typeface="Segoe UI"/>
              </a:rPr>
              <a:t>Gemma</a:t>
            </a:r>
          </a:p>
        </p:txBody>
      </p:sp>
      <p:sp>
        <p:nvSpPr>
          <p:cNvPr id="38" name="TextBox 37"/>
          <p:cNvSpPr txBox="1"/>
          <p:nvPr/>
        </p:nvSpPr>
        <p:spPr>
          <a:xfrm>
            <a:off x="777240" y="4334256"/>
            <a:ext cx="2606040" cy="274320"/>
          </a:xfrm>
          <a:prstGeom prst="rect">
            <a:avLst/>
          </a:prstGeom>
          <a:noFill/>
        </p:spPr>
        <p:txBody>
          <a:bodyPr wrap="square" lIns="0" rIns="0" tIns="0" bIns="0" anchor="t">
            <a:spAutoFit/>
          </a:bodyPr>
          <a:lstStyle/>
          <a:p>
            <a:pPr algn="l">
              <a:lnSpc>
                <a:spcPct val="122000"/>
              </a:lnSpc>
              <a:spcAft>
                <a:spcPts val="200"/>
              </a:spcAft>
            </a:pPr>
            <a:r>
              <a:rPr sz="1000" b="0" i="0">
                <a:solidFill>
                  <a:srgbClr val="8A94A3"/>
                </a:solidFill>
                <a:latin typeface="Segoe UI"/>
              </a:rPr>
              <a:t>free API  ·  what the system runs today</a:t>
            </a:r>
          </a:p>
        </p:txBody>
      </p:sp>
      <p:sp>
        <p:nvSpPr>
          <p:cNvPr id="39" name="TextBox 38"/>
          <p:cNvSpPr txBox="1"/>
          <p:nvPr/>
        </p:nvSpPr>
        <p:spPr>
          <a:xfrm>
            <a:off x="3566160" y="4096512"/>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51.7%</a:t>
            </a:r>
          </a:p>
        </p:txBody>
      </p:sp>
      <p:sp>
        <p:nvSpPr>
          <p:cNvPr id="40" name="TextBox 39"/>
          <p:cNvSpPr txBox="1"/>
          <p:nvPr/>
        </p:nvSpPr>
        <p:spPr>
          <a:xfrm>
            <a:off x="4846320" y="4096512"/>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92.5%</a:t>
            </a:r>
          </a:p>
        </p:txBody>
      </p:sp>
      <p:sp>
        <p:nvSpPr>
          <p:cNvPr id="41" name="TextBox 40"/>
          <p:cNvSpPr txBox="1"/>
          <p:nvPr/>
        </p:nvSpPr>
        <p:spPr>
          <a:xfrm>
            <a:off x="6126480" y="4096512"/>
            <a:ext cx="118872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69.8%</a:t>
            </a:r>
          </a:p>
        </p:txBody>
      </p:sp>
      <p:sp>
        <p:nvSpPr>
          <p:cNvPr id="42" name="TextBox 41"/>
          <p:cNvSpPr txBox="1"/>
          <p:nvPr/>
        </p:nvSpPr>
        <p:spPr>
          <a:xfrm>
            <a:off x="7406640" y="4096512"/>
            <a:ext cx="1737360"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21.7 s</a:t>
            </a:r>
          </a:p>
        </p:txBody>
      </p:sp>
      <p:sp>
        <p:nvSpPr>
          <p:cNvPr id="43" name="TextBox 42"/>
          <p:cNvSpPr txBox="1"/>
          <p:nvPr/>
        </p:nvSpPr>
        <p:spPr>
          <a:xfrm>
            <a:off x="9281160" y="4096512"/>
            <a:ext cx="2130552" cy="310896"/>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free</a:t>
            </a:r>
          </a:p>
        </p:txBody>
      </p:sp>
      <p:sp>
        <p:nvSpPr>
          <p:cNvPr id="44" name="Rectangle 43"/>
          <p:cNvSpPr/>
          <p:nvPr/>
        </p:nvSpPr>
        <p:spPr>
          <a:xfrm>
            <a:off x="777240" y="521208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77240" y="535838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 qwen ran on a card with less VRAM than the model needs,  </a:t>
            </a:r>
            <a:r>
              <a:rPr sz="1050" b="0" i="0">
                <a:solidFill>
                  <a:srgbClr val="8A94A3"/>
                </a:solidFill>
                <a:latin typeface="Segoe UI"/>
              </a:rPr>
              <a:t>so four fifths of every page fell back to the CPU. That is where the minutes go, not the model. Mean of 10 receipts; the spread is 2m 29s to 11m 26s.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Every number here is recomputed</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Not typed from memory. One command rebuilds each figure from the source and fails if a slide disagrees.</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18</a:t>
            </a:r>
          </a:p>
        </p:txBody>
      </p:sp>
      <p:sp>
        <p:nvSpPr>
          <p:cNvPr id="14" name="TextBox 13"/>
          <p:cNvSpPr txBox="1"/>
          <p:nvPr/>
        </p:nvSpPr>
        <p:spPr>
          <a:xfrm>
            <a:off x="777240" y="1792224"/>
            <a:ext cx="36576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RUN IT YOURSELF</a:t>
            </a:r>
          </a:p>
        </p:txBody>
      </p:sp>
      <p:sp>
        <p:nvSpPr>
          <p:cNvPr id="15" name="TextBox 14"/>
          <p:cNvSpPr txBox="1"/>
          <p:nvPr/>
        </p:nvSpPr>
        <p:spPr>
          <a:xfrm>
            <a:off x="777240" y="2048256"/>
            <a:ext cx="6583680" cy="329184"/>
          </a:xfrm>
          <a:prstGeom prst="rect">
            <a:avLst/>
          </a:prstGeom>
          <a:noFill/>
        </p:spPr>
        <p:txBody>
          <a:bodyPr wrap="square" lIns="0" rIns="0" tIns="0" bIns="0" anchor="t">
            <a:spAutoFit/>
          </a:bodyPr>
          <a:lstStyle/>
          <a:p>
            <a:pPr algn="l">
              <a:lnSpc>
                <a:spcPct val="122000"/>
              </a:lnSpc>
              <a:spcAft>
                <a:spcPts val="200"/>
              </a:spcAft>
            </a:pPr>
            <a:r>
              <a:rPr sz="1450" b="0" i="0">
                <a:solidFill>
                  <a:srgbClr val="0F172A"/>
                </a:solidFill>
                <a:latin typeface="Consolas"/>
              </a:rPr>
              <a:t>python docs/presentation/verify_facts.py</a:t>
            </a:r>
          </a:p>
        </p:txBody>
      </p:sp>
      <p:sp>
        <p:nvSpPr>
          <p:cNvPr id="16" name="TextBox 15"/>
          <p:cNvSpPr txBox="1"/>
          <p:nvPr/>
        </p:nvSpPr>
        <p:spPr>
          <a:xfrm>
            <a:off x="7772400" y="1737360"/>
            <a:ext cx="3639312" cy="475488"/>
          </a:xfrm>
          <a:prstGeom prst="rect">
            <a:avLst/>
          </a:prstGeom>
          <a:noFill/>
        </p:spPr>
        <p:txBody>
          <a:bodyPr wrap="square" lIns="0" rIns="0" tIns="0" bIns="0" anchor="t">
            <a:spAutoFit/>
          </a:bodyPr>
          <a:lstStyle/>
          <a:p>
            <a:pPr algn="r">
              <a:lnSpc>
                <a:spcPct val="100000"/>
              </a:lnSpc>
              <a:spcAft>
                <a:spcPts val="200"/>
              </a:spcAft>
            </a:pPr>
            <a:r>
              <a:rPr sz="3200" b="1" i="0">
                <a:solidFill>
                  <a:srgbClr val="0F172A"/>
                </a:solidFill>
                <a:latin typeface="Segoe UI"/>
              </a:rPr>
              <a:t>20 / 20</a:t>
            </a:r>
          </a:p>
        </p:txBody>
      </p:sp>
      <p:sp>
        <p:nvSpPr>
          <p:cNvPr id="17" name="TextBox 16"/>
          <p:cNvSpPr txBox="1"/>
          <p:nvPr/>
        </p:nvSpPr>
        <p:spPr>
          <a:xfrm>
            <a:off x="7772400" y="2216506"/>
            <a:ext cx="3639312" cy="237744"/>
          </a:xfrm>
          <a:prstGeom prst="rect">
            <a:avLst/>
          </a:prstGeom>
          <a:noFill/>
        </p:spPr>
        <p:txBody>
          <a:bodyPr wrap="square" lIns="0" rIns="0" tIns="0" bIns="0" anchor="t">
            <a:spAutoFit/>
          </a:bodyPr>
          <a:lstStyle/>
          <a:p>
            <a:pPr algn="r">
              <a:lnSpc>
                <a:spcPct val="122000"/>
              </a:lnSpc>
              <a:spcAft>
                <a:spcPts val="200"/>
              </a:spcAft>
            </a:pPr>
            <a:r>
              <a:rPr sz="1150" b="0" i="0">
                <a:solidFill>
                  <a:srgbClr val="3F4B5C"/>
                </a:solidFill>
                <a:latin typeface="Segoe UI"/>
              </a:rPr>
              <a:t>checks pass, none fail</a:t>
            </a:r>
          </a:p>
        </p:txBody>
      </p:sp>
      <p:sp>
        <p:nvSpPr>
          <p:cNvPr id="18" name="TextBox 17"/>
          <p:cNvSpPr txBox="1"/>
          <p:nvPr/>
        </p:nvSpPr>
        <p:spPr>
          <a:xfrm>
            <a:off x="7772400" y="2435962"/>
            <a:ext cx="3639312" cy="237744"/>
          </a:xfrm>
          <a:prstGeom prst="rect">
            <a:avLst/>
          </a:prstGeom>
          <a:noFill/>
        </p:spPr>
        <p:txBody>
          <a:bodyPr wrap="square" lIns="0" rIns="0" tIns="0" bIns="0" anchor="t">
            <a:spAutoFit/>
          </a:bodyPr>
          <a:lstStyle/>
          <a:p>
            <a:pPr algn="r">
              <a:lnSpc>
                <a:spcPct val="122000"/>
              </a:lnSpc>
              <a:spcAft>
                <a:spcPts val="200"/>
              </a:spcAft>
            </a:pPr>
            <a:r>
              <a:rPr sz="950" b="0" i="0">
                <a:solidFill>
                  <a:srgbClr val="8A94A3"/>
                </a:solidFill>
                <a:latin typeface="Segoe UI"/>
              </a:rPr>
              <a:t>3 more report, 2 cannot be checked</a:t>
            </a:r>
          </a:p>
        </p:txBody>
      </p:sp>
      <p:sp>
        <p:nvSpPr>
          <p:cNvPr id="19" name="TextBox 18"/>
          <p:cNvSpPr txBox="1"/>
          <p:nvPr/>
        </p:nvSpPr>
        <p:spPr>
          <a:xfrm>
            <a:off x="777240" y="2962656"/>
            <a:ext cx="73152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WHAT IT REBUILDS, AND OUT OF WHAT</a:t>
            </a:r>
          </a:p>
        </p:txBody>
      </p:sp>
      <p:sp>
        <p:nvSpPr>
          <p:cNvPr id="20" name="Rectangle 19"/>
          <p:cNvSpPr/>
          <p:nvPr/>
        </p:nvSpPr>
        <p:spPr>
          <a:xfrm>
            <a:off x="777240" y="314553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7240" y="3273552"/>
            <a:ext cx="2743200" cy="329184"/>
          </a:xfrm>
          <a:prstGeom prst="rect">
            <a:avLst/>
          </a:prstGeom>
          <a:noFill/>
        </p:spPr>
        <p:txBody>
          <a:bodyPr wrap="square" lIns="0" rIns="0" tIns="0" bIns="0" anchor="t">
            <a:spAutoFit/>
          </a:bodyPr>
          <a:lstStyle/>
          <a:p>
            <a:pPr algn="l">
              <a:lnSpc>
                <a:spcPct val="122000"/>
              </a:lnSpc>
              <a:spcAft>
                <a:spcPts val="200"/>
              </a:spcAft>
            </a:pPr>
            <a:r>
              <a:rPr sz="1500" b="1" i="0">
                <a:solidFill>
                  <a:srgbClr val="B45309"/>
                </a:solidFill>
                <a:latin typeface="Segoe UI"/>
              </a:rPr>
              <a:t>86.3 / 89.6 / 94.5</a:t>
            </a:r>
          </a:p>
        </p:txBody>
      </p:sp>
      <p:sp>
        <p:nvSpPr>
          <p:cNvPr id="22" name="TextBox 21"/>
          <p:cNvSpPr txBox="1"/>
          <p:nvPr/>
        </p:nvSpPr>
        <p:spPr>
          <a:xfrm>
            <a:off x="3703320" y="3291840"/>
            <a:ext cx="7726680" cy="420624"/>
          </a:xfrm>
          <a:prstGeom prst="rect">
            <a:avLst/>
          </a:prstGeom>
          <a:noFill/>
        </p:spPr>
        <p:txBody>
          <a:bodyPr wrap="square" lIns="0" rIns="0" tIns="0" bIns="0" anchor="t">
            <a:spAutoFit/>
          </a:bodyPr>
          <a:lstStyle/>
          <a:p>
            <a:pPr algn="l">
              <a:lnSpc>
                <a:spcPct val="125000"/>
              </a:lnSpc>
              <a:spcAft>
                <a:spcPts val="200"/>
              </a:spcAft>
            </a:pPr>
            <a:r>
              <a:rPr sz="1150" b="0" i="0">
                <a:solidFill>
                  <a:srgbClr val="3F4B5C"/>
                </a:solidFill>
                <a:latin typeface="Segoe UI"/>
              </a:rPr>
              <a:t>accuracy, precision and recall, summed back up from 191 individual field verdicts on 10 labelled receipts, then checked against the run's own total</a:t>
            </a:r>
          </a:p>
        </p:txBody>
      </p:sp>
      <p:sp>
        <p:nvSpPr>
          <p:cNvPr id="23" name="Rectangle 22"/>
          <p:cNvSpPr/>
          <p:nvPr/>
        </p:nvSpPr>
        <p:spPr>
          <a:xfrm>
            <a:off x="777240" y="371246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77240" y="3840480"/>
            <a:ext cx="2743200" cy="329184"/>
          </a:xfrm>
          <a:prstGeom prst="rect">
            <a:avLst/>
          </a:prstGeom>
          <a:noFill/>
        </p:spPr>
        <p:txBody>
          <a:bodyPr wrap="square" lIns="0" rIns="0" tIns="0" bIns="0" anchor="t">
            <a:spAutoFit/>
          </a:bodyPr>
          <a:lstStyle/>
          <a:p>
            <a:pPr algn="l">
              <a:lnSpc>
                <a:spcPct val="122000"/>
              </a:lnSpc>
              <a:spcAft>
                <a:spcPts val="200"/>
              </a:spcAft>
            </a:pPr>
            <a:r>
              <a:rPr sz="1500" b="1" i="0">
                <a:solidFill>
                  <a:srgbClr val="B45309"/>
                </a:solidFill>
                <a:latin typeface="Segoe UI"/>
              </a:rPr>
              <a:t>50 of 50</a:t>
            </a:r>
          </a:p>
        </p:txBody>
      </p:sp>
      <p:sp>
        <p:nvSpPr>
          <p:cNvPr id="25" name="TextBox 24"/>
          <p:cNvSpPr txBox="1"/>
          <p:nvPr/>
        </p:nvSpPr>
        <p:spPr>
          <a:xfrm>
            <a:off x="3703320" y="3858768"/>
            <a:ext cx="7726680" cy="420624"/>
          </a:xfrm>
          <a:prstGeom prst="rect">
            <a:avLst/>
          </a:prstGeom>
          <a:noFill/>
        </p:spPr>
        <p:txBody>
          <a:bodyPr wrap="square" lIns="0" rIns="0" tIns="0" bIns="0" anchor="t">
            <a:spAutoFit/>
          </a:bodyPr>
          <a:lstStyle/>
          <a:p>
            <a:pPr algn="l">
              <a:lnSpc>
                <a:spcPct val="125000"/>
              </a:lnSpc>
              <a:spcAft>
                <a:spcPts val="200"/>
              </a:spcAft>
            </a:pPr>
            <a:r>
              <a:rPr sz="1150" b="0" i="0">
                <a:solidFill>
                  <a:srgbClr val="3F4B5C"/>
                </a:solidFill>
                <a:latin typeface="Segoe UI"/>
              </a:rPr>
              <a:t>line items found, counted against the label file rather than against the model's own tally of what it thinks it read</a:t>
            </a:r>
          </a:p>
        </p:txBody>
      </p:sp>
      <p:sp>
        <p:nvSpPr>
          <p:cNvPr id="26" name="Rectangle 25"/>
          <p:cNvSpPr/>
          <p:nvPr/>
        </p:nvSpPr>
        <p:spPr>
          <a:xfrm>
            <a:off x="777240" y="427939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4407408"/>
            <a:ext cx="2743200" cy="329184"/>
          </a:xfrm>
          <a:prstGeom prst="rect">
            <a:avLst/>
          </a:prstGeom>
          <a:noFill/>
        </p:spPr>
        <p:txBody>
          <a:bodyPr wrap="square" lIns="0" rIns="0" tIns="0" bIns="0" anchor="t">
            <a:spAutoFit/>
          </a:bodyPr>
          <a:lstStyle/>
          <a:p>
            <a:pPr algn="l">
              <a:lnSpc>
                <a:spcPct val="122000"/>
              </a:lnSpc>
              <a:spcAft>
                <a:spcPts val="200"/>
              </a:spcAft>
            </a:pPr>
            <a:r>
              <a:rPr sz="1500" b="1" i="0">
                <a:solidFill>
                  <a:srgbClr val="B45309"/>
                </a:solidFill>
                <a:latin typeface="Segoe UI"/>
              </a:rPr>
              <a:t>0 in 64</a:t>
            </a:r>
          </a:p>
        </p:txBody>
      </p:sp>
      <p:sp>
        <p:nvSpPr>
          <p:cNvPr id="28" name="TextBox 27"/>
          <p:cNvSpPr txBox="1"/>
          <p:nvPr/>
        </p:nvSpPr>
        <p:spPr>
          <a:xfrm>
            <a:off x="3703320" y="4425696"/>
            <a:ext cx="7726680" cy="420624"/>
          </a:xfrm>
          <a:prstGeom prst="rect">
            <a:avLst/>
          </a:prstGeom>
          <a:noFill/>
        </p:spPr>
        <p:txBody>
          <a:bodyPr wrap="square" lIns="0" rIns="0" tIns="0" bIns="0" anchor="t">
            <a:spAutoFit/>
          </a:bodyPr>
          <a:lstStyle/>
          <a:p>
            <a:pPr algn="l">
              <a:lnSpc>
                <a:spcPct val="125000"/>
              </a:lnSpc>
              <a:spcAft>
                <a:spcPts val="200"/>
              </a:spcAft>
            </a:pPr>
            <a:r>
              <a:rPr sz="1150" b="0" i="0">
                <a:solidFill>
                  <a:srgbClr val="3F4B5C"/>
                </a:solidFill>
                <a:latin typeface="Segoe UI"/>
              </a:rPr>
              <a:t>ungrounded numbers, over every traced agent run in mlflow.db. A figure no tool returned never reached a user</a:t>
            </a:r>
          </a:p>
        </p:txBody>
      </p:sp>
      <p:sp>
        <p:nvSpPr>
          <p:cNvPr id="29" name="Rectangle 28"/>
          <p:cNvSpPr/>
          <p:nvPr/>
        </p:nvSpPr>
        <p:spPr>
          <a:xfrm>
            <a:off x="777240" y="484632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77240" y="4974336"/>
            <a:ext cx="2743200" cy="329184"/>
          </a:xfrm>
          <a:prstGeom prst="rect">
            <a:avLst/>
          </a:prstGeom>
          <a:noFill/>
        </p:spPr>
        <p:txBody>
          <a:bodyPr wrap="square" lIns="0" rIns="0" tIns="0" bIns="0" anchor="t">
            <a:spAutoFit/>
          </a:bodyPr>
          <a:lstStyle/>
          <a:p>
            <a:pPr algn="l">
              <a:lnSpc>
                <a:spcPct val="122000"/>
              </a:lnSpc>
              <a:spcAft>
                <a:spcPts val="200"/>
              </a:spcAft>
            </a:pPr>
            <a:r>
              <a:rPr sz="1500" b="1" i="0">
                <a:solidFill>
                  <a:srgbClr val="B45309"/>
                </a:solidFill>
                <a:latin typeface="Segoe UI"/>
              </a:rPr>
              <a:t>80 · 11 · 17 · 768</a:t>
            </a:r>
          </a:p>
        </p:txBody>
      </p:sp>
      <p:sp>
        <p:nvSpPr>
          <p:cNvPr id="31" name="TextBox 30"/>
          <p:cNvSpPr txBox="1"/>
          <p:nvPr/>
        </p:nvSpPr>
        <p:spPr>
          <a:xfrm>
            <a:off x="3703320" y="4992624"/>
            <a:ext cx="7726680" cy="420624"/>
          </a:xfrm>
          <a:prstGeom prst="rect">
            <a:avLst/>
          </a:prstGeom>
          <a:noFill/>
        </p:spPr>
        <p:txBody>
          <a:bodyPr wrap="square" lIns="0" rIns="0" tIns="0" bIns="0" anchor="t">
            <a:spAutoFit/>
          </a:bodyPr>
          <a:lstStyle/>
          <a:p>
            <a:pPr algn="l">
              <a:lnSpc>
                <a:spcPct val="125000"/>
              </a:lnSpc>
              <a:spcAft>
                <a:spcPts val="200"/>
              </a:spcAft>
            </a:pPr>
            <a:r>
              <a:rPr sz="1150" b="0" i="0">
                <a:solidFill>
                  <a:srgbClr val="3F4B5C"/>
                </a:solidFill>
                <a:latin typeface="Segoe UI"/>
              </a:rPr>
              <a:t>routes, tools, ledger tables and embedding width, read out of the source tree and the database itself, never typed onto the slide</a:t>
            </a:r>
          </a:p>
        </p:txBody>
      </p:sp>
      <p:sp>
        <p:nvSpPr>
          <p:cNvPr id="32" name="Rectangle 31"/>
          <p:cNvSpPr/>
          <p:nvPr/>
        </p:nvSpPr>
        <p:spPr>
          <a:xfrm>
            <a:off x="777240" y="546811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77240" y="5614416"/>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The two it will not pass:  </a:t>
            </a:r>
            <a:r>
              <a:rPr sz="1050" b="0" i="0">
                <a:solidFill>
                  <a:srgbClr val="8A94A3"/>
                </a:solidFill>
                <a:latin typeface="Segoe UI"/>
              </a:rPr>
              <a:t>the Claude Cowork and Gemma rows are our own runs, held outside the repository. The script reports those as unsourced rather than as passing. Cowork's protocol is the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How we ran Cowork</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same case package, the same output schema, and a prompt frozen before the first run.</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19</a:t>
            </a:r>
          </a:p>
        </p:txBody>
      </p:sp>
      <p:sp>
        <p:nvSpPr>
          <p:cNvPr id="14" name="Rectangle 13"/>
          <p:cNvSpPr/>
          <p:nvPr/>
        </p:nvSpPr>
        <p:spPr>
          <a:xfrm>
            <a:off x="6126480" y="1773936"/>
            <a:ext cx="8230" cy="3529584"/>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THE FIXED PROMPT, WORD FOR WORD</a:t>
            </a:r>
          </a:p>
        </p:txBody>
      </p:sp>
      <p:sp>
        <p:nvSpPr>
          <p:cNvPr id="16" name="Rounded Rectangle 15"/>
          <p:cNvSpPr/>
          <p:nvPr/>
        </p:nvSpPr>
        <p:spPr>
          <a:xfrm>
            <a:off x="777240" y="2066544"/>
            <a:ext cx="4846320" cy="1700784"/>
          </a:xfrm>
          <a:prstGeom prst="roundRect">
            <a:avLst>
              <a:gd name="adj" fmla="val 2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60120" y="2194560"/>
            <a:ext cx="4480560" cy="1463040"/>
          </a:xfrm>
          <a:prstGeom prst="rect">
            <a:avLst/>
          </a:prstGeom>
          <a:noFill/>
        </p:spPr>
        <p:txBody>
          <a:bodyPr wrap="square" lIns="0" rIns="0" tIns="0" bIns="0" anchor="t">
            <a:spAutoFit/>
          </a:bodyPr>
          <a:lstStyle/>
          <a:p>
            <a:pPr algn="l">
              <a:lnSpc>
                <a:spcPct val="140000"/>
              </a:lnSpc>
              <a:spcAft>
                <a:spcPts val="200"/>
              </a:spcAft>
            </a:pPr>
            <a:r>
              <a:rPr sz="850" b="0" i="0">
                <a:solidFill>
                  <a:srgbClr val="0F172A"/>
                </a:solidFill>
                <a:latin typeface="Consolas"/>
              </a:rPr>
              <a:t>You are reconciling receipt-derived expenses against the provided bank or credit-card statement transactions. Use only the supplied case files and metadata. For each statement transaction and relevant receipt, return one JSON object that conforms exactly to the attached reconciliation output schema. Preserve unknown or unreadable values as null, identify ambiguity with requires_review, and do not invent unsupported totals, merchants, dates, or matches. Do not use information from outside the case package. Return JSON only.</a:t>
            </a:r>
          </a:p>
        </p:txBody>
      </p:sp>
      <p:sp>
        <p:nvSpPr>
          <p:cNvPr id="18" name="TextBox 17"/>
          <p:cNvSpPr txBox="1"/>
          <p:nvPr/>
        </p:nvSpPr>
        <p:spPr>
          <a:xfrm>
            <a:off x="777240" y="3931920"/>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ATTACHED WITH IT</a:t>
            </a:r>
          </a:p>
        </p:txBody>
      </p:sp>
      <p:sp>
        <p:nvSpPr>
          <p:cNvPr id="19" name="TextBox 18"/>
          <p:cNvSpPr txBox="1"/>
          <p:nvPr/>
        </p:nvSpPr>
        <p:spPr>
          <a:xfrm>
            <a:off x="777240" y="4187952"/>
            <a:ext cx="4846320" cy="457200"/>
          </a:xfrm>
          <a:prstGeom prst="rect">
            <a:avLst/>
          </a:prstGeom>
          <a:noFill/>
        </p:spPr>
        <p:txBody>
          <a:bodyPr wrap="square" lIns="0" rIns="0" tIns="0" bIns="0" anchor="t">
            <a:spAutoFit/>
          </a:bodyPr>
          <a:lstStyle/>
          <a:p>
            <a:pPr algn="l">
              <a:lnSpc>
                <a:spcPct val="130000"/>
              </a:lnSpc>
              <a:spcAft>
                <a:spcPts val="200"/>
              </a:spcAft>
            </a:pPr>
            <a:r>
              <a:rPr sz="1100" b="0" i="0">
                <a:solidFill>
                  <a:srgbClr val="3F4B5C"/>
                </a:solidFill>
                <a:latin typeface="Segoe UI"/>
              </a:rPr>
              <a:t>the frozen output schema, the case metadata, the receipt images, and the same validated CSV statement Snag was given. No labels, no other system's answer.</a:t>
            </a:r>
          </a:p>
        </p:txBody>
      </p:sp>
      <p:sp>
        <p:nvSpPr>
          <p:cNvPr id="20" name="TextBox 19"/>
          <p:cNvSpPr txBox="1"/>
          <p:nvPr/>
        </p:nvSpPr>
        <p:spPr>
          <a:xfrm>
            <a:off x="653796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THE RULES THAT KEEP IT A TEST</a:t>
            </a:r>
          </a:p>
        </p:txBody>
      </p:sp>
      <p:sp>
        <p:nvSpPr>
          <p:cNvPr id="21" name="TextBox 20"/>
          <p:cNvSpPr txBox="1"/>
          <p:nvPr/>
        </p:nvSpPr>
        <p:spPr>
          <a:xfrm>
            <a:off x="6537960" y="209397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2" name="TextBox 21"/>
          <p:cNvSpPr txBox="1"/>
          <p:nvPr/>
        </p:nvSpPr>
        <p:spPr>
          <a:xfrm>
            <a:off x="6757416" y="210312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 fresh session per case  </a:t>
            </a:r>
            <a:r>
              <a:rPr sz="1100" b="0" i="0">
                <a:solidFill>
                  <a:srgbClr val="3F4B5C"/>
                </a:solidFill>
                <a:latin typeface="Segoe UI"/>
              </a:rPr>
              <a:t>so no earlier case can colour a later one</a:t>
            </a:r>
          </a:p>
        </p:txBody>
      </p:sp>
      <p:sp>
        <p:nvSpPr>
          <p:cNvPr id="23" name="TextBox 22"/>
          <p:cNvSpPr txBox="1"/>
          <p:nvPr/>
        </p:nvSpPr>
        <p:spPr>
          <a:xfrm>
            <a:off x="6537960" y="262178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4" name="TextBox 23"/>
          <p:cNvSpPr txBox="1"/>
          <p:nvPr/>
        </p:nvSpPr>
        <p:spPr>
          <a:xfrm>
            <a:off x="6757416" y="263093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No coaching  </a:t>
            </a:r>
            <a:r>
              <a:rPr sz="1100" b="0" i="0">
                <a:solidFill>
                  <a:srgbClr val="3F4B5C"/>
                </a:solidFill>
                <a:latin typeface="Segoe UI"/>
              </a:rPr>
              <a:t>a clarification question is preserved as the answer and scored, never answered mid-run</a:t>
            </a:r>
          </a:p>
        </p:txBody>
      </p:sp>
      <p:sp>
        <p:nvSpPr>
          <p:cNvPr id="25" name="TextBox 24"/>
          <p:cNvSpPr txBox="1"/>
          <p:nvPr/>
        </p:nvSpPr>
        <p:spPr>
          <a:xfrm>
            <a:off x="6537960" y="314960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6" name="TextBox 25"/>
          <p:cNvSpPr txBox="1"/>
          <p:nvPr/>
        </p:nvSpPr>
        <p:spPr>
          <a:xfrm>
            <a:off x="6757416" y="315874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One retry, technical only  </a:t>
            </a:r>
            <a:r>
              <a:rPr sz="1100" b="0" i="0">
                <a:solidFill>
                  <a:srgbClr val="3F4B5C"/>
                </a:solidFill>
                <a:latin typeface="Segoe UI"/>
              </a:rPr>
              <a:t>an upload failure or an outage. Never because the answer came back weak or unfavourable</a:t>
            </a:r>
          </a:p>
        </p:txBody>
      </p:sp>
      <p:sp>
        <p:nvSpPr>
          <p:cNvPr id="27" name="TextBox 26"/>
          <p:cNvSpPr txBox="1"/>
          <p:nvPr/>
        </p:nvSpPr>
        <p:spPr>
          <a:xfrm>
            <a:off x="6537960" y="367741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8" name="TextBox 27"/>
          <p:cNvSpPr txBox="1"/>
          <p:nvPr/>
        </p:nvSpPr>
        <p:spPr>
          <a:xfrm>
            <a:off x="6757416" y="3686556"/>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Raw output is what scores  </a:t>
            </a:r>
            <a:r>
              <a:rPr sz="1100" b="0" i="0">
                <a:solidFill>
                  <a:srgbClr val="3F4B5C"/>
                </a:solidFill>
                <a:latin typeface="Segoe UI"/>
              </a:rPr>
              <a:t>any human correction is a separate, separately timed record</a:t>
            </a:r>
          </a:p>
        </p:txBody>
      </p:sp>
      <p:sp>
        <p:nvSpPr>
          <p:cNvPr id="29" name="TextBox 28"/>
          <p:cNvSpPr txBox="1"/>
          <p:nvPr/>
        </p:nvSpPr>
        <p:spPr>
          <a:xfrm>
            <a:off x="6537960" y="420522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30" name="TextBox 29"/>
          <p:cNvSpPr txBox="1"/>
          <p:nvPr/>
        </p:nvSpPr>
        <p:spPr>
          <a:xfrm>
            <a:off x="6757416" y="421436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The clock starts at submission  </a:t>
            </a:r>
            <a:r>
              <a:rPr sz="1100" b="0" i="0">
                <a:solidFill>
                  <a:srgbClr val="3F4B5C"/>
                </a:solidFill>
                <a:latin typeface="Segoe UI"/>
              </a:rPr>
              <a:t>and stops at the first schema-valid response, the terminal error, or the timeout</a:t>
            </a:r>
          </a:p>
        </p:txBody>
      </p:sp>
      <p:sp>
        <p:nvSpPr>
          <p:cNvPr id="31" name="Rectangle 30"/>
          <p:cNvSpPr/>
          <p:nvPr/>
        </p:nvSpPr>
        <p:spPr>
          <a:xfrm>
            <a:off x="777240" y="5504688"/>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5650992"/>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We wrote the fairness limits down too:  </a:t>
            </a:r>
            <a:r>
              <a:rPr sz="1050" b="0" i="0">
                <a:solidFill>
                  <a:srgbClr val="8A94A3"/>
                </a:solidFill>
                <a:latin typeface="Segoe UI"/>
              </a:rPr>
              <a:t>different upload flows, different OCR, and a hosted build that can change under us. That bounds what a single benchmark can claim about either system, and it is in evaluation/COWORK_PROTOCOL.md rather than left for a grader to raise.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One full reasoning trace</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Case RCT-006</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20</a:t>
            </a:r>
          </a:p>
        </p:txBody>
      </p:sp>
      <p:sp>
        <p:nvSpPr>
          <p:cNvPr id="14" name="Rectangle 13"/>
          <p:cNvSpPr/>
          <p:nvPr/>
        </p:nvSpPr>
        <p:spPr>
          <a:xfrm>
            <a:off x="7498080" y="1828800"/>
            <a:ext cx="8230" cy="310896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77240" y="1828800"/>
            <a:ext cx="640080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77240" y="2029968"/>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0F172A"/>
                </a:solidFill>
                <a:latin typeface="Segoe UI"/>
              </a:rPr>
              <a:t>USER</a:t>
            </a:r>
          </a:p>
        </p:txBody>
      </p:sp>
      <p:sp>
        <p:nvSpPr>
          <p:cNvPr id="17" name="TextBox 16"/>
          <p:cNvSpPr txBox="1"/>
          <p:nvPr/>
        </p:nvSpPr>
        <p:spPr>
          <a:xfrm>
            <a:off x="2103120" y="1975104"/>
            <a:ext cx="4937760" cy="329184"/>
          </a:xfrm>
          <a:prstGeom prst="rect">
            <a:avLst/>
          </a:prstGeom>
          <a:noFill/>
        </p:spPr>
        <p:txBody>
          <a:bodyPr wrap="square" lIns="0" rIns="0" tIns="0" bIns="0" anchor="t">
            <a:spAutoFit/>
          </a:bodyPr>
          <a:lstStyle/>
          <a:p>
            <a:pPr algn="l">
              <a:lnSpc>
                <a:spcPct val="122000"/>
              </a:lnSpc>
              <a:spcAft>
                <a:spcPts val="200"/>
              </a:spcAft>
            </a:pPr>
            <a:r>
              <a:rPr sz="1300" b="0" i="0">
                <a:solidFill>
                  <a:srgbClr val="0F172A"/>
                </a:solidFill>
                <a:latin typeface="Segoe UI"/>
              </a:rPr>
              <a:t>What is the capital of France?</a:t>
            </a:r>
          </a:p>
        </p:txBody>
      </p:sp>
      <p:sp>
        <p:nvSpPr>
          <p:cNvPr id="18" name="Rectangle 17"/>
          <p:cNvSpPr/>
          <p:nvPr/>
        </p:nvSpPr>
        <p:spPr>
          <a:xfrm>
            <a:off x="777240" y="2542032"/>
            <a:ext cx="640080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7240" y="2743200"/>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THOUGHT</a:t>
            </a:r>
          </a:p>
        </p:txBody>
      </p:sp>
      <p:sp>
        <p:nvSpPr>
          <p:cNvPr id="20" name="TextBox 19"/>
          <p:cNvSpPr txBox="1"/>
          <p:nvPr/>
        </p:nvSpPr>
        <p:spPr>
          <a:xfrm>
            <a:off x="2103120" y="2688336"/>
            <a:ext cx="4937760" cy="329184"/>
          </a:xfrm>
          <a:prstGeom prst="rect">
            <a:avLst/>
          </a:prstGeom>
          <a:noFill/>
        </p:spPr>
        <p:txBody>
          <a:bodyPr wrap="square" lIns="0" rIns="0" tIns="0" bIns="0" anchor="t">
            <a:spAutoFit/>
          </a:bodyPr>
          <a:lstStyle/>
          <a:p>
            <a:pPr algn="l">
              <a:lnSpc>
                <a:spcPct val="122000"/>
              </a:lnSpc>
              <a:spcAft>
                <a:spcPts val="200"/>
              </a:spcAft>
            </a:pPr>
            <a:r>
              <a:rPr sz="1300" b="0" i="0">
                <a:solidFill>
                  <a:srgbClr val="0F172A"/>
                </a:solidFill>
                <a:latin typeface="Segoe UI"/>
              </a:rPr>
              <a:t>Not this user's money. My scope says no.</a:t>
            </a:r>
          </a:p>
        </p:txBody>
      </p:sp>
      <p:sp>
        <p:nvSpPr>
          <p:cNvPr id="21" name="Rectangle 20"/>
          <p:cNvSpPr/>
          <p:nvPr/>
        </p:nvSpPr>
        <p:spPr>
          <a:xfrm>
            <a:off x="777240" y="3255264"/>
            <a:ext cx="640080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7240" y="3456432"/>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ACTION</a:t>
            </a:r>
          </a:p>
        </p:txBody>
      </p:sp>
      <p:sp>
        <p:nvSpPr>
          <p:cNvPr id="23" name="TextBox 22"/>
          <p:cNvSpPr txBox="1"/>
          <p:nvPr/>
        </p:nvSpPr>
        <p:spPr>
          <a:xfrm>
            <a:off x="2103120" y="3401568"/>
            <a:ext cx="4937760" cy="329184"/>
          </a:xfrm>
          <a:prstGeom prst="rect">
            <a:avLst/>
          </a:prstGeom>
          <a:noFill/>
        </p:spPr>
        <p:txBody>
          <a:bodyPr wrap="square" lIns="0" rIns="0" tIns="0" bIns="0" anchor="t">
            <a:spAutoFit/>
          </a:bodyPr>
          <a:lstStyle/>
          <a:p>
            <a:pPr algn="l">
              <a:lnSpc>
                <a:spcPct val="122000"/>
              </a:lnSpc>
              <a:spcAft>
                <a:spcPts val="200"/>
              </a:spcAft>
            </a:pPr>
            <a:r>
              <a:rPr sz="1300" b="0" i="0">
                <a:solidFill>
                  <a:srgbClr val="0F172A"/>
                </a:solidFill>
                <a:latin typeface="Segoe UI"/>
              </a:rPr>
              <a:t>none, no tool was called</a:t>
            </a:r>
          </a:p>
        </p:txBody>
      </p:sp>
      <p:sp>
        <p:nvSpPr>
          <p:cNvPr id="24" name="Rectangle 23"/>
          <p:cNvSpPr/>
          <p:nvPr/>
        </p:nvSpPr>
        <p:spPr>
          <a:xfrm>
            <a:off x="777240" y="3968496"/>
            <a:ext cx="640080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169664"/>
            <a:ext cx="11887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047857"/>
                </a:solidFill>
                <a:latin typeface="Segoe UI"/>
              </a:rPr>
              <a:t>FINAL</a:t>
            </a:r>
          </a:p>
        </p:txBody>
      </p:sp>
      <p:sp>
        <p:nvSpPr>
          <p:cNvPr id="26" name="TextBox 25"/>
          <p:cNvSpPr txBox="1"/>
          <p:nvPr/>
        </p:nvSpPr>
        <p:spPr>
          <a:xfrm>
            <a:off x="2103120" y="4114800"/>
            <a:ext cx="4937760" cy="329184"/>
          </a:xfrm>
          <a:prstGeom prst="rect">
            <a:avLst/>
          </a:prstGeom>
          <a:noFill/>
        </p:spPr>
        <p:txBody>
          <a:bodyPr wrap="square" lIns="0" rIns="0" tIns="0" bIns="0" anchor="t">
            <a:spAutoFit/>
          </a:bodyPr>
          <a:lstStyle/>
          <a:p>
            <a:pPr algn="l">
              <a:lnSpc>
                <a:spcPct val="122000"/>
              </a:lnSpc>
              <a:spcAft>
                <a:spcPts val="200"/>
              </a:spcAft>
            </a:pPr>
            <a:r>
              <a:rPr sz="1300" b="0" i="0">
                <a:solidFill>
                  <a:srgbClr val="0F172A"/>
                </a:solidFill>
                <a:latin typeface="Segoe UI"/>
              </a:rPr>
              <a:t>"I'm not sure how to answer that."</a:t>
            </a:r>
          </a:p>
        </p:txBody>
      </p:sp>
      <p:sp>
        <p:nvSpPr>
          <p:cNvPr id="27" name="Rectangle 26"/>
          <p:cNvSpPr/>
          <p:nvPr/>
        </p:nvSpPr>
        <p:spPr>
          <a:xfrm>
            <a:off x="777240" y="4681728"/>
            <a:ext cx="640080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77240" y="4992624"/>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7240" y="5193792"/>
            <a:ext cx="10637215" cy="365760"/>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Refusing is a decision, not a failure to answer.</a:t>
            </a:r>
          </a:p>
        </p:txBody>
      </p:sp>
      <p:sp>
        <p:nvSpPr>
          <p:cNvPr id="30" name="TextBox 29"/>
          <p:cNvSpPr txBox="1"/>
          <p:nvPr/>
        </p:nvSpPr>
        <p:spPr>
          <a:xfrm>
            <a:off x="777240" y="5474970"/>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planner reached a final answer without calling a single tool, which is exactly what the scope lock is for.</a:t>
            </a:r>
          </a:p>
        </p:txBody>
      </p:sp>
      <p:sp>
        <p:nvSpPr>
          <p:cNvPr id="31" name="TextBox 30"/>
          <p:cNvSpPr txBox="1"/>
          <p:nvPr/>
        </p:nvSpPr>
        <p:spPr>
          <a:xfrm>
            <a:off x="7863840" y="1828800"/>
            <a:ext cx="356616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WHAT THE GUARDRAIL DID</a:t>
            </a:r>
          </a:p>
        </p:txBody>
      </p:sp>
      <p:sp>
        <p:nvSpPr>
          <p:cNvPr id="32" name="Rectangle 31"/>
          <p:cNvSpPr/>
          <p:nvPr/>
        </p:nvSpPr>
        <p:spPr>
          <a:xfrm>
            <a:off x="7863840" y="2157984"/>
            <a:ext cx="354787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863840" y="2304288"/>
            <a:ext cx="19202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In scope</a:t>
            </a:r>
          </a:p>
        </p:txBody>
      </p:sp>
      <p:sp>
        <p:nvSpPr>
          <p:cNvPr id="34" name="TextBox 33"/>
          <p:cNvSpPr txBox="1"/>
          <p:nvPr/>
        </p:nvSpPr>
        <p:spPr>
          <a:xfrm>
            <a:off x="9509760" y="2304288"/>
            <a:ext cx="1901952" cy="274320"/>
          </a:xfrm>
          <a:prstGeom prst="rect">
            <a:avLst/>
          </a:prstGeom>
          <a:noFill/>
        </p:spPr>
        <p:txBody>
          <a:bodyPr wrap="square" lIns="0" rIns="0" tIns="0" bIns="0" anchor="t">
            <a:spAutoFit/>
          </a:bodyPr>
          <a:lstStyle/>
          <a:p>
            <a:pPr algn="r">
              <a:lnSpc>
                <a:spcPct val="122000"/>
              </a:lnSpc>
              <a:spcAft>
                <a:spcPts val="200"/>
              </a:spcAft>
            </a:pPr>
            <a:r>
              <a:rPr sz="1200" b="1" i="0">
                <a:solidFill>
                  <a:srgbClr val="B91C1C"/>
                </a:solidFill>
                <a:latin typeface="Segoe UI"/>
              </a:rPr>
              <a:t>no</a:t>
            </a:r>
          </a:p>
        </p:txBody>
      </p:sp>
      <p:sp>
        <p:nvSpPr>
          <p:cNvPr id="35" name="Rectangle 34"/>
          <p:cNvSpPr/>
          <p:nvPr/>
        </p:nvSpPr>
        <p:spPr>
          <a:xfrm>
            <a:off x="7863840" y="2688336"/>
            <a:ext cx="354787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863840" y="2834640"/>
            <a:ext cx="19202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Tools called</a:t>
            </a:r>
          </a:p>
        </p:txBody>
      </p:sp>
      <p:sp>
        <p:nvSpPr>
          <p:cNvPr id="37" name="TextBox 36"/>
          <p:cNvSpPr txBox="1"/>
          <p:nvPr/>
        </p:nvSpPr>
        <p:spPr>
          <a:xfrm>
            <a:off x="9509760" y="2834640"/>
            <a:ext cx="1901952" cy="274320"/>
          </a:xfrm>
          <a:prstGeom prst="rect">
            <a:avLst/>
          </a:prstGeom>
          <a:noFill/>
        </p:spPr>
        <p:txBody>
          <a:bodyPr wrap="square" lIns="0" rIns="0" tIns="0" bIns="0" anchor="t">
            <a:spAutoFit/>
          </a:bodyPr>
          <a:lstStyle/>
          <a:p>
            <a:pPr algn="r">
              <a:lnSpc>
                <a:spcPct val="122000"/>
              </a:lnSpc>
              <a:spcAft>
                <a:spcPts val="200"/>
              </a:spcAft>
            </a:pPr>
            <a:r>
              <a:rPr sz="1200" b="1" i="0">
                <a:solidFill>
                  <a:srgbClr val="8A94A3"/>
                </a:solidFill>
                <a:latin typeface="Segoe UI"/>
              </a:rPr>
              <a:t>none</a:t>
            </a:r>
          </a:p>
        </p:txBody>
      </p:sp>
      <p:sp>
        <p:nvSpPr>
          <p:cNvPr id="38" name="Rectangle 37"/>
          <p:cNvSpPr/>
          <p:nvPr/>
        </p:nvSpPr>
        <p:spPr>
          <a:xfrm>
            <a:off x="7863840" y="3218688"/>
            <a:ext cx="354787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863840" y="3364992"/>
            <a:ext cx="19202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Ledger writes</a:t>
            </a:r>
          </a:p>
        </p:txBody>
      </p:sp>
      <p:sp>
        <p:nvSpPr>
          <p:cNvPr id="40" name="TextBox 39"/>
          <p:cNvSpPr txBox="1"/>
          <p:nvPr/>
        </p:nvSpPr>
        <p:spPr>
          <a:xfrm>
            <a:off x="9509760" y="3364992"/>
            <a:ext cx="1901952" cy="274320"/>
          </a:xfrm>
          <a:prstGeom prst="rect">
            <a:avLst/>
          </a:prstGeom>
          <a:noFill/>
        </p:spPr>
        <p:txBody>
          <a:bodyPr wrap="square" lIns="0" rIns="0" tIns="0" bIns="0" anchor="t">
            <a:spAutoFit/>
          </a:bodyPr>
          <a:lstStyle/>
          <a:p>
            <a:pPr algn="r">
              <a:lnSpc>
                <a:spcPct val="122000"/>
              </a:lnSpc>
              <a:spcAft>
                <a:spcPts val="200"/>
              </a:spcAft>
            </a:pPr>
            <a:r>
              <a:rPr sz="1200" b="1" i="0">
                <a:solidFill>
                  <a:srgbClr val="8A94A3"/>
                </a:solidFill>
                <a:latin typeface="Segoe UI"/>
              </a:rPr>
              <a:t>none</a:t>
            </a:r>
          </a:p>
        </p:txBody>
      </p:sp>
      <p:sp>
        <p:nvSpPr>
          <p:cNvPr id="41" name="Rectangle 40"/>
          <p:cNvSpPr/>
          <p:nvPr/>
        </p:nvSpPr>
        <p:spPr>
          <a:xfrm>
            <a:off x="7863840" y="3749040"/>
            <a:ext cx="354787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63840" y="3895344"/>
            <a:ext cx="1920240" cy="274320"/>
          </a:xfrm>
          <a:prstGeom prst="rect">
            <a:avLst/>
          </a:prstGeom>
          <a:noFill/>
        </p:spPr>
        <p:txBody>
          <a:bodyPr wrap="square" lIns="0" rIns="0" tIns="0" bIns="0" anchor="t">
            <a:spAutoFit/>
          </a:bodyPr>
          <a:lstStyle/>
          <a:p>
            <a:pPr algn="l">
              <a:lnSpc>
                <a:spcPct val="122000"/>
              </a:lnSpc>
              <a:spcAft>
                <a:spcPts val="200"/>
              </a:spcAft>
            </a:pPr>
            <a:r>
              <a:rPr sz="1200" b="0" i="0">
                <a:solidFill>
                  <a:srgbClr val="3F4B5C"/>
                </a:solidFill>
                <a:latin typeface="Segoe UI"/>
              </a:rPr>
              <a:t>Answer</a:t>
            </a:r>
          </a:p>
        </p:txBody>
      </p:sp>
      <p:sp>
        <p:nvSpPr>
          <p:cNvPr id="43" name="TextBox 42"/>
          <p:cNvSpPr txBox="1"/>
          <p:nvPr/>
        </p:nvSpPr>
        <p:spPr>
          <a:xfrm>
            <a:off x="9509760" y="3895344"/>
            <a:ext cx="1901952" cy="274320"/>
          </a:xfrm>
          <a:prstGeom prst="rect">
            <a:avLst/>
          </a:prstGeom>
          <a:noFill/>
        </p:spPr>
        <p:txBody>
          <a:bodyPr wrap="square" lIns="0" rIns="0" tIns="0" bIns="0" anchor="t">
            <a:spAutoFit/>
          </a:bodyPr>
          <a:lstStyle/>
          <a:p>
            <a:pPr algn="r">
              <a:lnSpc>
                <a:spcPct val="122000"/>
              </a:lnSpc>
              <a:spcAft>
                <a:spcPts val="200"/>
              </a:spcAft>
            </a:pPr>
            <a:r>
              <a:rPr sz="1200" b="1" i="0">
                <a:solidFill>
                  <a:srgbClr val="047857"/>
                </a:solidFill>
                <a:latin typeface="Segoe UI"/>
              </a:rPr>
              <a:t>an honest no</a:t>
            </a:r>
          </a:p>
        </p:txBody>
      </p:sp>
      <p:sp>
        <p:nvSpPr>
          <p:cNvPr id="44" name="Rectangle 43"/>
          <p:cNvSpPr/>
          <p:nvPr/>
        </p:nvSpPr>
        <p:spPr>
          <a:xfrm>
            <a:off x="7863840" y="4279392"/>
            <a:ext cx="3547872"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863840" y="4645152"/>
            <a:ext cx="3566160" cy="1097280"/>
          </a:xfrm>
          <a:prstGeom prst="rect">
            <a:avLst/>
          </a:prstGeom>
          <a:noFill/>
        </p:spPr>
        <p:txBody>
          <a:bodyPr wrap="square" lIns="0" rIns="0" tIns="0" bIns="0" anchor="t">
            <a:spAutoFit/>
          </a:bodyPr>
          <a:lstStyle/>
          <a:p>
            <a:pPr algn="l">
              <a:lnSpc>
                <a:spcPct val="135000"/>
              </a:lnSpc>
              <a:spcAft>
                <a:spcPts val="200"/>
              </a:spcAft>
            </a:pPr>
            <a:r>
              <a:rPr sz="1500" b="1" i="0">
                <a:solidFill>
                  <a:srgbClr val="B45309"/>
                </a:solidFill>
                <a:latin typeface="Segoe UI"/>
              </a:rPr>
              <a:t>An agent that will not
say "I don't know"
will say anything.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It works, and where it doesn't</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Ten checks on every receipt. Three failures caught, one filed.</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21</a:t>
            </a:r>
          </a:p>
        </p:txBody>
      </p:sp>
      <p:sp>
        <p:nvSpPr>
          <p:cNvPr id="14" name="Rectangle 13"/>
          <p:cNvSpPr/>
          <p:nvPr/>
        </p:nvSpPr>
        <p:spPr>
          <a:xfrm>
            <a:off x="777240" y="1828800"/>
            <a:ext cx="3179978" cy="1828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9751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16" name="TextBox 15"/>
          <p:cNvSpPr txBox="1"/>
          <p:nvPr/>
        </p:nvSpPr>
        <p:spPr>
          <a:xfrm>
            <a:off x="1033272" y="19568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Pepper Lunch</a:t>
            </a:r>
          </a:p>
        </p:txBody>
      </p:sp>
      <p:sp>
        <p:nvSpPr>
          <p:cNvPr id="17" name="TextBox 16"/>
          <p:cNvSpPr txBox="1"/>
          <p:nvPr/>
        </p:nvSpPr>
        <p:spPr>
          <a:xfrm>
            <a:off x="777240" y="2304288"/>
            <a:ext cx="3179978" cy="320040"/>
          </a:xfrm>
          <a:prstGeom prst="rect">
            <a:avLst/>
          </a:prstGeom>
          <a:noFill/>
        </p:spPr>
        <p:txBody>
          <a:bodyPr wrap="square" lIns="0" rIns="0" tIns="0" bIns="0" anchor="t">
            <a:spAutoFit/>
          </a:bodyPr>
          <a:lstStyle/>
          <a:p>
            <a:pPr algn="l">
              <a:lnSpc>
                <a:spcPct val="122000"/>
              </a:lnSpc>
              <a:spcAft>
                <a:spcPts val="200"/>
              </a:spcAft>
            </a:pPr>
            <a:r>
              <a:rPr sz="2000" b="1" i="0">
                <a:solidFill>
                  <a:srgbClr val="0F172A"/>
                </a:solidFill>
                <a:latin typeface="Segoe UI"/>
              </a:rPr>
              <a:t>₱545.00</a:t>
            </a:r>
          </a:p>
        </p:txBody>
      </p:sp>
      <p:sp>
        <p:nvSpPr>
          <p:cNvPr id="18" name="TextBox 17"/>
          <p:cNvSpPr txBox="1"/>
          <p:nvPr/>
        </p:nvSpPr>
        <p:spPr>
          <a:xfrm>
            <a:off x="777240" y="2706624"/>
            <a:ext cx="3088538" cy="457200"/>
          </a:xfrm>
          <a:prstGeom prst="rect">
            <a:avLst/>
          </a:prstGeom>
          <a:noFill/>
        </p:spPr>
        <p:txBody>
          <a:bodyPr wrap="square" lIns="0" rIns="0" tIns="0" bIns="0" anchor="t">
            <a:spAutoFit/>
          </a:bodyPr>
          <a:lstStyle/>
          <a:p>
            <a:pPr algn="l">
              <a:lnSpc>
                <a:spcPct val="130000"/>
              </a:lnSpc>
              <a:spcAft>
                <a:spcPts val="200"/>
              </a:spcAft>
            </a:pPr>
            <a:r>
              <a:rPr sz="1050" b="0" i="0">
                <a:solidFill>
                  <a:srgbClr val="8A94A3"/>
                </a:solidFill>
                <a:latin typeface="Segoe UI"/>
              </a:rPr>
              <a:t>VAT-inclusive: a breakdown is not an addition</a:t>
            </a:r>
          </a:p>
        </p:txBody>
      </p:sp>
      <p:sp>
        <p:nvSpPr>
          <p:cNvPr id="19" name="Rectangle 18"/>
          <p:cNvSpPr/>
          <p:nvPr/>
        </p:nvSpPr>
        <p:spPr>
          <a:xfrm>
            <a:off x="4322978" y="1828800"/>
            <a:ext cx="3179978" cy="1828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22978" y="19751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21" name="TextBox 20"/>
          <p:cNvSpPr txBox="1"/>
          <p:nvPr/>
        </p:nvSpPr>
        <p:spPr>
          <a:xfrm>
            <a:off x="4579010" y="19568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Shake Shack</a:t>
            </a:r>
          </a:p>
        </p:txBody>
      </p:sp>
      <p:sp>
        <p:nvSpPr>
          <p:cNvPr id="22" name="TextBox 21"/>
          <p:cNvSpPr txBox="1"/>
          <p:nvPr/>
        </p:nvSpPr>
        <p:spPr>
          <a:xfrm>
            <a:off x="4322978" y="2304288"/>
            <a:ext cx="3179978" cy="320040"/>
          </a:xfrm>
          <a:prstGeom prst="rect">
            <a:avLst/>
          </a:prstGeom>
          <a:noFill/>
        </p:spPr>
        <p:txBody>
          <a:bodyPr wrap="square" lIns="0" rIns="0" tIns="0" bIns="0" anchor="t">
            <a:spAutoFit/>
          </a:bodyPr>
          <a:lstStyle/>
          <a:p>
            <a:pPr algn="l">
              <a:lnSpc>
                <a:spcPct val="122000"/>
              </a:lnSpc>
              <a:spcAft>
                <a:spcPts val="200"/>
              </a:spcAft>
            </a:pPr>
            <a:r>
              <a:rPr sz="2000" b="1" i="0">
                <a:solidFill>
                  <a:srgbClr val="0F172A"/>
                </a:solidFill>
                <a:latin typeface="Segoe UI"/>
              </a:rPr>
              <a:t>₱475.00</a:t>
            </a:r>
          </a:p>
        </p:txBody>
      </p:sp>
      <p:sp>
        <p:nvSpPr>
          <p:cNvPr id="23" name="TextBox 22"/>
          <p:cNvSpPr txBox="1"/>
          <p:nvPr/>
        </p:nvSpPr>
        <p:spPr>
          <a:xfrm>
            <a:off x="4322978" y="2706624"/>
            <a:ext cx="3088538" cy="457200"/>
          </a:xfrm>
          <a:prstGeom prst="rect">
            <a:avLst/>
          </a:prstGeom>
          <a:noFill/>
        </p:spPr>
        <p:txBody>
          <a:bodyPr wrap="square" lIns="0" rIns="0" tIns="0" bIns="0" anchor="t">
            <a:spAutoFit/>
          </a:bodyPr>
          <a:lstStyle/>
          <a:p>
            <a:pPr algn="l">
              <a:lnSpc>
                <a:spcPct val="130000"/>
              </a:lnSpc>
              <a:spcAft>
                <a:spcPts val="200"/>
              </a:spcAft>
            </a:pPr>
            <a:r>
              <a:rPr sz="1050" b="0" i="0">
                <a:solidFill>
                  <a:srgbClr val="8A94A3"/>
                </a:solidFill>
                <a:latin typeface="Segoe UI"/>
              </a:rPr>
              <a:t>cash and change kept out of the total</a:t>
            </a:r>
          </a:p>
        </p:txBody>
      </p:sp>
      <p:sp>
        <p:nvSpPr>
          <p:cNvPr id="24" name="Rectangle 23"/>
          <p:cNvSpPr/>
          <p:nvPr/>
        </p:nvSpPr>
        <p:spPr>
          <a:xfrm>
            <a:off x="7868717" y="1828800"/>
            <a:ext cx="3179978" cy="1828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8717" y="19751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26" name="TextBox 25"/>
          <p:cNvSpPr txBox="1"/>
          <p:nvPr/>
        </p:nvSpPr>
        <p:spPr>
          <a:xfrm>
            <a:off x="8124749" y="19568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SM Supermarket</a:t>
            </a:r>
          </a:p>
        </p:txBody>
      </p:sp>
      <p:sp>
        <p:nvSpPr>
          <p:cNvPr id="27" name="TextBox 26"/>
          <p:cNvSpPr txBox="1"/>
          <p:nvPr/>
        </p:nvSpPr>
        <p:spPr>
          <a:xfrm>
            <a:off x="7868717" y="2304288"/>
            <a:ext cx="3179978" cy="320040"/>
          </a:xfrm>
          <a:prstGeom prst="rect">
            <a:avLst/>
          </a:prstGeom>
          <a:noFill/>
        </p:spPr>
        <p:txBody>
          <a:bodyPr wrap="square" lIns="0" rIns="0" tIns="0" bIns="0" anchor="t">
            <a:spAutoFit/>
          </a:bodyPr>
          <a:lstStyle/>
          <a:p>
            <a:pPr algn="l">
              <a:lnSpc>
                <a:spcPct val="122000"/>
              </a:lnSpc>
              <a:spcAft>
                <a:spcPts val="200"/>
              </a:spcAft>
            </a:pPr>
            <a:r>
              <a:rPr sz="2000" b="1" i="0">
                <a:solidFill>
                  <a:srgbClr val="0F172A"/>
                </a:solidFill>
                <a:latin typeface="Segoe UI"/>
              </a:rPr>
              <a:t>₱1,608.00</a:t>
            </a:r>
          </a:p>
        </p:txBody>
      </p:sp>
      <p:sp>
        <p:nvSpPr>
          <p:cNvPr id="28" name="TextBox 27"/>
          <p:cNvSpPr txBox="1"/>
          <p:nvPr/>
        </p:nvSpPr>
        <p:spPr>
          <a:xfrm>
            <a:off x="7868717" y="2706624"/>
            <a:ext cx="3088538" cy="457200"/>
          </a:xfrm>
          <a:prstGeom prst="rect">
            <a:avLst/>
          </a:prstGeom>
          <a:noFill/>
        </p:spPr>
        <p:txBody>
          <a:bodyPr wrap="square" lIns="0" rIns="0" tIns="0" bIns="0" anchor="t">
            <a:spAutoFit/>
          </a:bodyPr>
          <a:lstStyle/>
          <a:p>
            <a:pPr algn="l">
              <a:lnSpc>
                <a:spcPct val="130000"/>
              </a:lnSpc>
              <a:spcAft>
                <a:spcPts val="200"/>
              </a:spcAft>
            </a:pPr>
            <a:r>
              <a:rPr sz="1050" b="0" i="0">
                <a:solidFill>
                  <a:srgbClr val="8A94A3"/>
                </a:solidFill>
                <a:latin typeface="Segoe UI"/>
              </a:rPr>
              <a:t>a printed 0.00 kept as a real value</a:t>
            </a:r>
          </a:p>
        </p:txBody>
      </p:sp>
      <p:sp>
        <p:nvSpPr>
          <p:cNvPr id="29" name="Rectangle 28"/>
          <p:cNvSpPr/>
          <p:nvPr/>
        </p:nvSpPr>
        <p:spPr>
          <a:xfrm>
            <a:off x="777240" y="3657600"/>
            <a:ext cx="3179978" cy="1828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77240" y="38039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31" name="TextBox 30"/>
          <p:cNvSpPr txBox="1"/>
          <p:nvPr/>
        </p:nvSpPr>
        <p:spPr>
          <a:xfrm>
            <a:off x="1033272" y="37856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Ikkoryu Ramen</a:t>
            </a:r>
          </a:p>
        </p:txBody>
      </p:sp>
      <p:sp>
        <p:nvSpPr>
          <p:cNvPr id="32" name="TextBox 31"/>
          <p:cNvSpPr txBox="1"/>
          <p:nvPr/>
        </p:nvSpPr>
        <p:spPr>
          <a:xfrm>
            <a:off x="777240" y="4133088"/>
            <a:ext cx="3088538"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items ≠ subtotal ≠ total</a:t>
            </a:r>
          </a:p>
        </p:txBody>
      </p:sp>
      <p:sp>
        <p:nvSpPr>
          <p:cNvPr id="33" name="TextBox 32"/>
          <p:cNvSpPr txBox="1"/>
          <p:nvPr/>
        </p:nvSpPr>
        <p:spPr>
          <a:xfrm>
            <a:off x="777240" y="4462272"/>
            <a:ext cx="3179978" cy="274320"/>
          </a:xfrm>
          <a:prstGeom prst="rect">
            <a:avLst/>
          </a:prstGeom>
          <a:noFill/>
        </p:spPr>
        <p:txBody>
          <a:bodyPr wrap="square" lIns="0" rIns="0" tIns="0" bIns="0" anchor="t">
            <a:spAutoFit/>
          </a:bodyPr>
          <a:lstStyle/>
          <a:p>
            <a:pPr algn="l">
              <a:lnSpc>
                <a:spcPct val="122000"/>
              </a:lnSpc>
              <a:spcAft>
                <a:spcPts val="200"/>
              </a:spcAft>
            </a:pPr>
            <a:r>
              <a:rPr sz="1050" b="1" i="0" spc="80">
                <a:solidFill>
                  <a:srgbClr val="047857"/>
                </a:solidFill>
                <a:latin typeface="Segoe UI"/>
              </a:rPr>
              <a:t>HELD</a:t>
            </a:r>
          </a:p>
        </p:txBody>
      </p:sp>
      <p:sp>
        <p:nvSpPr>
          <p:cNvPr id="34" name="Rectangle 33"/>
          <p:cNvSpPr/>
          <p:nvPr/>
        </p:nvSpPr>
        <p:spPr>
          <a:xfrm>
            <a:off x="4322978" y="3657600"/>
            <a:ext cx="3179978" cy="1828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22978" y="38039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047857"/>
                </a:solidFill>
                <a:latin typeface="Segoe UI"/>
              </a:rPr>
              <a:t>✓</a:t>
            </a:r>
          </a:p>
        </p:txBody>
      </p:sp>
      <p:sp>
        <p:nvSpPr>
          <p:cNvPr id="36" name="TextBox 35"/>
          <p:cNvSpPr txBox="1"/>
          <p:nvPr/>
        </p:nvSpPr>
        <p:spPr>
          <a:xfrm>
            <a:off x="4579010" y="37856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Handwritten slip</a:t>
            </a:r>
          </a:p>
        </p:txBody>
      </p:sp>
      <p:sp>
        <p:nvSpPr>
          <p:cNvPr id="37" name="TextBox 36"/>
          <p:cNvSpPr txBox="1"/>
          <p:nvPr/>
        </p:nvSpPr>
        <p:spPr>
          <a:xfrm>
            <a:off x="4322978" y="4133088"/>
            <a:ext cx="3088538"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confidence 0.41 vs 0.96</a:t>
            </a:r>
          </a:p>
        </p:txBody>
      </p:sp>
      <p:sp>
        <p:nvSpPr>
          <p:cNvPr id="38" name="TextBox 37"/>
          <p:cNvSpPr txBox="1"/>
          <p:nvPr/>
        </p:nvSpPr>
        <p:spPr>
          <a:xfrm>
            <a:off x="4322978" y="4462272"/>
            <a:ext cx="3179978" cy="274320"/>
          </a:xfrm>
          <a:prstGeom prst="rect">
            <a:avLst/>
          </a:prstGeom>
          <a:noFill/>
        </p:spPr>
        <p:txBody>
          <a:bodyPr wrap="square" lIns="0" rIns="0" tIns="0" bIns="0" anchor="t">
            <a:spAutoFit/>
          </a:bodyPr>
          <a:lstStyle/>
          <a:p>
            <a:pPr algn="l">
              <a:lnSpc>
                <a:spcPct val="122000"/>
              </a:lnSpc>
              <a:spcAft>
                <a:spcPts val="200"/>
              </a:spcAft>
            </a:pPr>
            <a:r>
              <a:rPr sz="1050" b="1" i="0" spc="80">
                <a:solidFill>
                  <a:srgbClr val="047857"/>
                </a:solidFill>
                <a:latin typeface="Segoe UI"/>
              </a:rPr>
              <a:t>HELD</a:t>
            </a:r>
          </a:p>
        </p:txBody>
      </p:sp>
      <p:sp>
        <p:nvSpPr>
          <p:cNvPr id="39" name="Rectangle 38"/>
          <p:cNvSpPr/>
          <p:nvPr/>
        </p:nvSpPr>
        <p:spPr>
          <a:xfrm>
            <a:off x="7868717" y="3657600"/>
            <a:ext cx="3179978" cy="182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8717" y="3803904"/>
            <a:ext cx="274320" cy="237744"/>
          </a:xfrm>
          <a:prstGeom prst="rect">
            <a:avLst/>
          </a:prstGeom>
          <a:noFill/>
        </p:spPr>
        <p:txBody>
          <a:bodyPr wrap="square" lIns="0" rIns="0" tIns="0" bIns="0" anchor="t">
            <a:spAutoFit/>
          </a:bodyPr>
          <a:lstStyle/>
          <a:p>
            <a:pPr algn="l">
              <a:lnSpc>
                <a:spcPct val="122000"/>
              </a:lnSpc>
              <a:spcAft>
                <a:spcPts val="200"/>
              </a:spcAft>
            </a:pPr>
            <a:r>
              <a:rPr sz="1100" b="1" i="0">
                <a:solidFill>
                  <a:srgbClr val="B91C1C"/>
                </a:solidFill>
                <a:latin typeface="Segoe UI"/>
              </a:rPr>
              <a:t>✗</a:t>
            </a:r>
          </a:p>
        </p:txBody>
      </p:sp>
      <p:sp>
        <p:nvSpPr>
          <p:cNvPr id="41" name="TextBox 40"/>
          <p:cNvSpPr txBox="1"/>
          <p:nvPr/>
        </p:nvSpPr>
        <p:spPr>
          <a:xfrm>
            <a:off x="8124749" y="3785616"/>
            <a:ext cx="2905658" cy="27432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DBarn Manila</a:t>
            </a:r>
          </a:p>
        </p:txBody>
      </p:sp>
      <p:sp>
        <p:nvSpPr>
          <p:cNvPr id="42" name="TextBox 41"/>
          <p:cNvSpPr txBox="1"/>
          <p:nvPr/>
        </p:nvSpPr>
        <p:spPr>
          <a:xfrm>
            <a:off x="7868717" y="4133088"/>
            <a:ext cx="3088538"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VAT 540.00 = subtotal 540.00</a:t>
            </a:r>
          </a:p>
        </p:txBody>
      </p:sp>
      <p:sp>
        <p:nvSpPr>
          <p:cNvPr id="43" name="TextBox 42"/>
          <p:cNvSpPr txBox="1"/>
          <p:nvPr/>
        </p:nvSpPr>
        <p:spPr>
          <a:xfrm>
            <a:off x="7868717" y="4462272"/>
            <a:ext cx="3179978" cy="274320"/>
          </a:xfrm>
          <a:prstGeom prst="rect">
            <a:avLst/>
          </a:prstGeom>
          <a:noFill/>
        </p:spPr>
        <p:txBody>
          <a:bodyPr wrap="square" lIns="0" rIns="0" tIns="0" bIns="0" anchor="t">
            <a:spAutoFit/>
          </a:bodyPr>
          <a:lstStyle/>
          <a:p>
            <a:pPr algn="l">
              <a:lnSpc>
                <a:spcPct val="122000"/>
              </a:lnSpc>
              <a:spcAft>
                <a:spcPts val="200"/>
              </a:spcAft>
            </a:pPr>
            <a:r>
              <a:rPr sz="1050" b="1" i="0" spc="80">
                <a:solidFill>
                  <a:srgbClr val="B91C1C"/>
                </a:solidFill>
                <a:latin typeface="Segoe UI"/>
              </a:rPr>
              <a:t>FILED</a:t>
            </a:r>
          </a:p>
        </p:txBody>
      </p:sp>
      <p:sp>
        <p:nvSpPr>
          <p:cNvPr id="44" name="Rectangle 43"/>
          <p:cNvSpPr/>
          <p:nvPr/>
        </p:nvSpPr>
        <p:spPr>
          <a:xfrm>
            <a:off x="777240" y="5120640"/>
            <a:ext cx="731520" cy="2011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77240" y="5321808"/>
            <a:ext cx="10637215" cy="365760"/>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The one we missed</a:t>
            </a:r>
          </a:p>
        </p:txBody>
      </p:sp>
      <p:sp>
        <p:nvSpPr>
          <p:cNvPr id="46" name="TextBox 45"/>
          <p:cNvSpPr txBox="1"/>
          <p:nvPr/>
        </p:nvSpPr>
        <p:spPr>
          <a:xfrm>
            <a:off x="777240" y="5602986"/>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VAT check is a warning, not an error, so nothing stopped it. A tax figure equal to the whole subtotal should be an error. That is a fix, not an excuse.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What we cannot claim</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Six of them, each with its fix</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22</a:t>
            </a:r>
          </a:p>
        </p:txBody>
      </p:sp>
      <p:sp>
        <p:nvSpPr>
          <p:cNvPr id="14" name="Rectangle 13"/>
          <p:cNvSpPr/>
          <p:nvPr/>
        </p:nvSpPr>
        <p:spPr>
          <a:xfrm>
            <a:off x="777240" y="1828800"/>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2011680"/>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The free model is the weak one</a:t>
            </a:r>
          </a:p>
        </p:txBody>
      </p:sp>
      <p:sp>
        <p:nvSpPr>
          <p:cNvPr id="16" name="TextBox 15"/>
          <p:cNvSpPr txBox="1"/>
          <p:nvPr/>
        </p:nvSpPr>
        <p:spPr>
          <a:xfrm>
            <a:off x="777240" y="2340864"/>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37.1% on line-item fields</a:t>
            </a:r>
          </a:p>
        </p:txBody>
      </p:sp>
      <p:sp>
        <p:nvSpPr>
          <p:cNvPr id="17" name="TextBox 16"/>
          <p:cNvSpPr txBox="1"/>
          <p:nvPr/>
        </p:nvSpPr>
        <p:spPr>
          <a:xfrm>
            <a:off x="777240" y="2706624"/>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18" name="TextBox 17"/>
          <p:cNvSpPr txBox="1"/>
          <p:nvPr/>
        </p:nvSpPr>
        <p:spPr>
          <a:xfrm>
            <a:off x="1088136" y="2706624"/>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hold, never file, on a miss</a:t>
            </a:r>
          </a:p>
        </p:txBody>
      </p:sp>
      <p:sp>
        <p:nvSpPr>
          <p:cNvPr id="19" name="Rectangle 18"/>
          <p:cNvSpPr/>
          <p:nvPr/>
        </p:nvSpPr>
        <p:spPr>
          <a:xfrm>
            <a:off x="4322978" y="1828800"/>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22978" y="2011680"/>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Not enough GPU VRAM</a:t>
            </a:r>
          </a:p>
        </p:txBody>
      </p:sp>
      <p:sp>
        <p:nvSpPr>
          <p:cNvPr id="21" name="TextBox 20"/>
          <p:cNvSpPr txBox="1"/>
          <p:nvPr/>
        </p:nvSpPr>
        <p:spPr>
          <a:xfrm>
            <a:off x="4322978" y="2340864"/>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part of every page ran on CPU</a:t>
            </a:r>
          </a:p>
        </p:txBody>
      </p:sp>
      <p:sp>
        <p:nvSpPr>
          <p:cNvPr id="22" name="TextBox 21"/>
          <p:cNvSpPr txBox="1"/>
          <p:nvPr/>
        </p:nvSpPr>
        <p:spPr>
          <a:xfrm>
            <a:off x="4322978" y="2706624"/>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23" name="TextBox 22"/>
          <p:cNvSpPr txBox="1"/>
          <p:nvPr/>
        </p:nvSpPr>
        <p:spPr>
          <a:xfrm>
            <a:off x="4633874" y="2706624"/>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a bigger card</a:t>
            </a:r>
          </a:p>
        </p:txBody>
      </p:sp>
      <p:sp>
        <p:nvSpPr>
          <p:cNvPr id="24" name="Rectangle 23"/>
          <p:cNvSpPr/>
          <p:nvPr/>
        </p:nvSpPr>
        <p:spPr>
          <a:xfrm>
            <a:off x="7868717" y="1828800"/>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868717" y="2011680"/>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No human baseline</a:t>
            </a:r>
          </a:p>
        </p:txBody>
      </p:sp>
      <p:sp>
        <p:nvSpPr>
          <p:cNvPr id="26" name="TextBox 25"/>
          <p:cNvSpPr txBox="1"/>
          <p:nvPr/>
        </p:nvSpPr>
        <p:spPr>
          <a:xfrm>
            <a:off x="7868717" y="2340864"/>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97% is against ground truth, not a bookkeeper</a:t>
            </a:r>
          </a:p>
        </p:txBody>
      </p:sp>
      <p:sp>
        <p:nvSpPr>
          <p:cNvPr id="27" name="TextBox 26"/>
          <p:cNvSpPr txBox="1"/>
          <p:nvPr/>
        </p:nvSpPr>
        <p:spPr>
          <a:xfrm>
            <a:off x="7868717" y="2706624"/>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28" name="TextBox 27"/>
          <p:cNvSpPr txBox="1"/>
          <p:nvPr/>
        </p:nvSpPr>
        <p:spPr>
          <a:xfrm>
            <a:off x="8179613" y="2706624"/>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time a person on the same 300</a:t>
            </a:r>
          </a:p>
        </p:txBody>
      </p:sp>
      <p:sp>
        <p:nvSpPr>
          <p:cNvPr id="29" name="Rectangle 28"/>
          <p:cNvSpPr/>
          <p:nvPr/>
        </p:nvSpPr>
        <p:spPr>
          <a:xfrm>
            <a:off x="777240" y="3310128"/>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77240" y="3493008"/>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Carry-forward inert</a:t>
            </a:r>
          </a:p>
        </p:txBody>
      </p:sp>
      <p:sp>
        <p:nvSpPr>
          <p:cNvPr id="31" name="TextBox 30"/>
          <p:cNvSpPr txBox="1"/>
          <p:nvPr/>
        </p:nvSpPr>
        <p:spPr>
          <a:xfrm>
            <a:off x="777240" y="3822192"/>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the toggle does nothing</a:t>
            </a:r>
          </a:p>
        </p:txBody>
      </p:sp>
      <p:sp>
        <p:nvSpPr>
          <p:cNvPr id="32" name="TextBox 31"/>
          <p:cNvSpPr txBox="1"/>
          <p:nvPr/>
        </p:nvSpPr>
        <p:spPr>
          <a:xfrm>
            <a:off x="777240" y="4187952"/>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33" name="TextBox 32"/>
          <p:cNvSpPr txBox="1"/>
          <p:nvPr/>
        </p:nvSpPr>
        <p:spPr>
          <a:xfrm>
            <a:off x="1088136" y="4187952"/>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a product decision</a:t>
            </a:r>
          </a:p>
        </p:txBody>
      </p:sp>
      <p:sp>
        <p:nvSpPr>
          <p:cNvPr id="34" name="Rectangle 33"/>
          <p:cNvSpPr/>
          <p:nvPr/>
        </p:nvSpPr>
        <p:spPr>
          <a:xfrm>
            <a:off x="4322978" y="3310128"/>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22978" y="3493008"/>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Posting drops currency</a:t>
            </a:r>
          </a:p>
        </p:txBody>
      </p:sp>
      <p:sp>
        <p:nvSpPr>
          <p:cNvPr id="36" name="TextBox 35"/>
          <p:cNvSpPr txBox="1"/>
          <p:nvPr/>
        </p:nvSpPr>
        <p:spPr>
          <a:xfrm>
            <a:off x="4322978" y="3822192"/>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USD looks like PHP</a:t>
            </a:r>
          </a:p>
        </p:txBody>
      </p:sp>
      <p:sp>
        <p:nvSpPr>
          <p:cNvPr id="37" name="TextBox 36"/>
          <p:cNvSpPr txBox="1"/>
          <p:nvPr/>
        </p:nvSpPr>
        <p:spPr>
          <a:xfrm>
            <a:off x="4322978" y="4187952"/>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38" name="TextBox 37"/>
          <p:cNvSpPr txBox="1"/>
          <p:nvPr/>
        </p:nvSpPr>
        <p:spPr>
          <a:xfrm>
            <a:off x="4633874" y="4187952"/>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a schema change</a:t>
            </a:r>
          </a:p>
        </p:txBody>
      </p:sp>
      <p:sp>
        <p:nvSpPr>
          <p:cNvPr id="39" name="Rectangle 38"/>
          <p:cNvSpPr/>
          <p:nvPr/>
        </p:nvSpPr>
        <p:spPr>
          <a:xfrm>
            <a:off x="7868717" y="3310128"/>
            <a:ext cx="3179978" cy="914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868717" y="3493008"/>
            <a:ext cx="3179978" cy="320040"/>
          </a:xfrm>
          <a:prstGeom prst="rect">
            <a:avLst/>
          </a:prstGeom>
          <a:noFill/>
        </p:spPr>
        <p:txBody>
          <a:bodyPr wrap="square" lIns="0" rIns="0" tIns="0" bIns="0" anchor="t">
            <a:spAutoFit/>
          </a:bodyPr>
          <a:lstStyle/>
          <a:p>
            <a:pPr algn="l">
              <a:lnSpc>
                <a:spcPct val="122000"/>
              </a:lnSpc>
              <a:spcAft>
                <a:spcPts val="200"/>
              </a:spcAft>
            </a:pPr>
            <a:r>
              <a:rPr sz="1350" b="1" i="0">
                <a:solidFill>
                  <a:srgbClr val="0F172A"/>
                </a:solidFill>
                <a:latin typeface="Segoe UI"/>
              </a:rPr>
              <a:t>"Local" is conditional</a:t>
            </a:r>
          </a:p>
        </p:txBody>
      </p:sp>
      <p:sp>
        <p:nvSpPr>
          <p:cNvPr id="41" name="TextBox 40"/>
          <p:cNvSpPr txBox="1"/>
          <p:nvPr/>
        </p:nvSpPr>
        <p:spPr>
          <a:xfrm>
            <a:off x="7868717" y="3822192"/>
            <a:ext cx="3143402"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our default uses a shared endpoint</a:t>
            </a:r>
          </a:p>
        </p:txBody>
      </p:sp>
      <p:sp>
        <p:nvSpPr>
          <p:cNvPr id="42" name="TextBox 41"/>
          <p:cNvSpPr txBox="1"/>
          <p:nvPr/>
        </p:nvSpPr>
        <p:spPr>
          <a:xfrm>
            <a:off x="7868717" y="4187952"/>
            <a:ext cx="27432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C2C9D2"/>
                </a:solidFill>
                <a:latin typeface="Segoe UI"/>
              </a:rPr>
              <a:t>→</a:t>
            </a:r>
          </a:p>
        </p:txBody>
      </p:sp>
      <p:sp>
        <p:nvSpPr>
          <p:cNvPr id="43" name="TextBox 42"/>
          <p:cNvSpPr txBox="1"/>
          <p:nvPr/>
        </p:nvSpPr>
        <p:spPr>
          <a:xfrm>
            <a:off x="8179613" y="4187952"/>
            <a:ext cx="2905658" cy="320040"/>
          </a:xfrm>
          <a:prstGeom prst="rect">
            <a:avLst/>
          </a:prstGeom>
          <a:noFill/>
        </p:spPr>
        <p:txBody>
          <a:bodyPr wrap="square" lIns="0" rIns="0" tIns="0" bIns="0" anchor="t">
            <a:spAutoFit/>
          </a:bodyPr>
          <a:lstStyle/>
          <a:p>
            <a:pPr algn="l">
              <a:lnSpc>
                <a:spcPct val="122000"/>
              </a:lnSpc>
              <a:spcAft>
                <a:spcPts val="200"/>
              </a:spcAft>
            </a:pPr>
            <a:r>
              <a:rPr sz="1150" b="1" i="0">
                <a:solidFill>
                  <a:srgbClr val="047857"/>
                </a:solidFill>
                <a:latin typeface="Segoe UI"/>
              </a:rPr>
              <a:t>one env var</a:t>
            </a:r>
          </a:p>
        </p:txBody>
      </p:sp>
      <p:sp>
        <p:nvSpPr>
          <p:cNvPr id="44" name="Rectangle 43"/>
          <p:cNvSpPr/>
          <p:nvPr/>
        </p:nvSpPr>
        <p:spPr>
          <a:xfrm>
            <a:off x="777240" y="557784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77240" y="572414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A limitation you disclose is a limitation.  </a:t>
            </a:r>
            <a:r>
              <a:rPr sz="1050" b="0" i="0">
                <a:solidFill>
                  <a:srgbClr val="8A94A3"/>
                </a:solidFill>
                <a:latin typeface="Segoe UI"/>
              </a:rPr>
              <a:t>One a grader finds is a defect.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Findings</a:t>
            </a:r>
          </a:p>
        </p:txBody>
      </p:sp>
      <p:sp>
        <p:nvSpPr>
          <p:cNvPr id="7" name="Rectangle 6"/>
          <p:cNvSpPr/>
          <p:nvPr/>
        </p:nvSpPr>
        <p:spPr>
          <a:xfrm>
            <a:off x="4279392"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Snag against a $20 seat</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same receipts, two systems. What we concede, what we win, and what we would actually recommend.</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23</a:t>
            </a:r>
          </a:p>
        </p:txBody>
      </p:sp>
      <p:sp>
        <p:nvSpPr>
          <p:cNvPr id="14" name="Rectangle 13"/>
          <p:cNvSpPr/>
          <p:nvPr/>
        </p:nvSpPr>
        <p:spPr>
          <a:xfrm>
            <a:off x="6126480" y="1773936"/>
            <a:ext cx="8230" cy="301752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WHAT THE SEAT DOES BETTER</a:t>
            </a:r>
          </a:p>
        </p:txBody>
      </p:sp>
      <p:sp>
        <p:nvSpPr>
          <p:cNvPr id="16" name="TextBox 15"/>
          <p:cNvSpPr txBox="1"/>
          <p:nvPr/>
        </p:nvSpPr>
        <p:spPr>
          <a:xfrm>
            <a:off x="777240" y="209397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91C1C"/>
                </a:solidFill>
                <a:latin typeface="Segoe UI"/>
              </a:rPr>
              <a:t>✗</a:t>
            </a:r>
          </a:p>
        </p:txBody>
      </p:sp>
      <p:sp>
        <p:nvSpPr>
          <p:cNvPr id="17" name="TextBox 16"/>
          <p:cNvSpPr txBox="1"/>
          <p:nvPr/>
        </p:nvSpPr>
        <p:spPr>
          <a:xfrm>
            <a:off x="996696" y="210312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 format nobody has seen  </a:t>
            </a:r>
            <a:r>
              <a:rPr sz="1100" b="0" i="0">
                <a:solidFill>
                  <a:srgbClr val="3F4B5C"/>
                </a:solidFill>
                <a:latin typeface="Segoe UI"/>
              </a:rPr>
              <a:t>a hosted frontier model wins here; our own header fields sit at 82.2%</a:t>
            </a:r>
          </a:p>
        </p:txBody>
      </p:sp>
      <p:sp>
        <p:nvSpPr>
          <p:cNvPr id="18" name="TextBox 17"/>
          <p:cNvSpPr txBox="1"/>
          <p:nvPr/>
        </p:nvSpPr>
        <p:spPr>
          <a:xfrm>
            <a:off x="777240" y="284124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91C1C"/>
                </a:solidFill>
                <a:latin typeface="Segoe UI"/>
              </a:rPr>
              <a:t>✗</a:t>
            </a:r>
          </a:p>
        </p:txBody>
      </p:sp>
      <p:sp>
        <p:nvSpPr>
          <p:cNvPr id="19" name="TextBox 18"/>
          <p:cNvSpPr txBox="1"/>
          <p:nvPr/>
        </p:nvSpPr>
        <p:spPr>
          <a:xfrm>
            <a:off x="996696" y="285038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Speed  </a:t>
            </a:r>
            <a:r>
              <a:rPr sz="1100" b="0" i="0">
                <a:solidFill>
                  <a:srgbClr val="3F4B5C"/>
                </a:solidFill>
                <a:latin typeface="Segoe UI"/>
              </a:rPr>
              <a:t>15 s a receipt against our 5m 40s, and ours is a 4 GB laptop card running four fifths of the work on the CPU</a:t>
            </a:r>
          </a:p>
        </p:txBody>
      </p:sp>
      <p:sp>
        <p:nvSpPr>
          <p:cNvPr id="20" name="TextBox 19"/>
          <p:cNvSpPr txBox="1"/>
          <p:nvPr/>
        </p:nvSpPr>
        <p:spPr>
          <a:xfrm>
            <a:off x="777240" y="358851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91C1C"/>
                </a:solidFill>
                <a:latin typeface="Segoe UI"/>
              </a:rPr>
              <a:t>✗</a:t>
            </a:r>
          </a:p>
        </p:txBody>
      </p:sp>
      <p:sp>
        <p:nvSpPr>
          <p:cNvPr id="21" name="TextBox 20"/>
          <p:cNvSpPr txBox="1"/>
          <p:nvPr/>
        </p:nvSpPr>
        <p:spPr>
          <a:xfrm>
            <a:off x="996696" y="3597656"/>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Nothing to install  </a:t>
            </a:r>
            <a:r>
              <a:rPr sz="1100" b="0" i="0">
                <a:solidFill>
                  <a:srgbClr val="3F4B5C"/>
                </a:solidFill>
                <a:latin typeface="Segoe UI"/>
              </a:rPr>
              <a:t>a seat is a login. Snag is a compose file, a model pull and a machine that stays on</a:t>
            </a:r>
          </a:p>
        </p:txBody>
      </p:sp>
      <p:sp>
        <p:nvSpPr>
          <p:cNvPr id="22" name="TextBox 21"/>
          <p:cNvSpPr txBox="1"/>
          <p:nvPr/>
        </p:nvSpPr>
        <p:spPr>
          <a:xfrm>
            <a:off x="6537960" y="1773936"/>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WHAT A SEAT CANNOT DO AT ANY PRICE</a:t>
            </a:r>
          </a:p>
        </p:txBody>
      </p:sp>
      <p:sp>
        <p:nvSpPr>
          <p:cNvPr id="23" name="TextBox 22"/>
          <p:cNvSpPr txBox="1"/>
          <p:nvPr/>
        </p:nvSpPr>
        <p:spPr>
          <a:xfrm>
            <a:off x="6537960" y="209397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24" name="TextBox 23"/>
          <p:cNvSpPr txBox="1"/>
          <p:nvPr/>
        </p:nvSpPr>
        <p:spPr>
          <a:xfrm>
            <a:off x="6757416" y="210312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The paper never leaves the machine  </a:t>
            </a:r>
            <a:r>
              <a:rPr sz="1100" b="0" i="0">
                <a:solidFill>
                  <a:srgbClr val="3F4B5C"/>
                </a:solidFill>
                <a:latin typeface="Segoe UI"/>
              </a:rPr>
              <a:t>TINs and amounts stay on your disk; inference is a call to OLLAMA_HOST</a:t>
            </a:r>
          </a:p>
        </p:txBody>
      </p:sp>
      <p:sp>
        <p:nvSpPr>
          <p:cNvPr id="25" name="TextBox 24"/>
          <p:cNvSpPr txBox="1"/>
          <p:nvPr/>
        </p:nvSpPr>
        <p:spPr>
          <a:xfrm>
            <a:off x="6537960" y="260350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26" name="TextBox 25"/>
          <p:cNvSpPr txBox="1"/>
          <p:nvPr/>
        </p:nvSpPr>
        <p:spPr>
          <a:xfrm>
            <a:off x="6757416" y="261264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Every figure traces to a tool call  </a:t>
            </a:r>
            <a:r>
              <a:rPr sz="1100" b="0" i="0">
                <a:solidFill>
                  <a:srgbClr val="3F4B5C"/>
                </a:solidFill>
                <a:latin typeface="Segoe UI"/>
              </a:rPr>
              <a:t>0 ungrounded numbers in 64 traced runs; a figure no tool returned is replaced</a:t>
            </a:r>
          </a:p>
        </p:txBody>
      </p:sp>
      <p:sp>
        <p:nvSpPr>
          <p:cNvPr id="27" name="TextBox 26"/>
          <p:cNvSpPr txBox="1"/>
          <p:nvPr/>
        </p:nvSpPr>
        <p:spPr>
          <a:xfrm>
            <a:off x="6537960" y="311302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28" name="TextBox 27"/>
          <p:cNvSpPr txBox="1"/>
          <p:nvPr/>
        </p:nvSpPr>
        <p:spPr>
          <a:xfrm>
            <a:off x="6757416" y="312216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It holds what it cannot verify  </a:t>
            </a:r>
            <a:r>
              <a:rPr sz="1100" b="0" i="0">
                <a:solidFill>
                  <a:srgbClr val="3F4B5C"/>
                </a:solidFill>
                <a:latin typeface="Segoe UI"/>
              </a:rPr>
              <a:t>15.4% held for review, because the receipt's own arithmetic disagreed</a:t>
            </a:r>
          </a:p>
        </p:txBody>
      </p:sp>
      <p:sp>
        <p:nvSpPr>
          <p:cNvPr id="29" name="TextBox 28"/>
          <p:cNvSpPr txBox="1"/>
          <p:nvPr/>
        </p:nvSpPr>
        <p:spPr>
          <a:xfrm>
            <a:off x="6537960" y="362254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30" name="TextBox 29"/>
          <p:cNvSpPr txBox="1"/>
          <p:nvPr/>
        </p:nvSpPr>
        <p:spPr>
          <a:xfrm>
            <a:off x="6757416" y="3631692"/>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It keeps the ledger  </a:t>
            </a:r>
            <a:r>
              <a:rPr sz="1100" b="0" i="0">
                <a:solidFill>
                  <a:srgbClr val="3F4B5C"/>
                </a:solidFill>
                <a:latin typeface="Segoe UI"/>
              </a:rPr>
              <a:t>17 tables, not a session. June's receipts still answer the question in November</a:t>
            </a:r>
          </a:p>
        </p:txBody>
      </p:sp>
      <p:sp>
        <p:nvSpPr>
          <p:cNvPr id="31" name="TextBox 30"/>
          <p:cNvSpPr txBox="1"/>
          <p:nvPr/>
        </p:nvSpPr>
        <p:spPr>
          <a:xfrm>
            <a:off x="6537960" y="413207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047857"/>
                </a:solidFill>
                <a:latin typeface="Segoe UI"/>
              </a:rPr>
              <a:t>✓</a:t>
            </a:r>
          </a:p>
        </p:txBody>
      </p:sp>
      <p:sp>
        <p:nvSpPr>
          <p:cNvPr id="32" name="TextBox 31"/>
          <p:cNvSpPr txBox="1"/>
          <p:nvPr/>
        </p:nvSpPr>
        <p:spPr>
          <a:xfrm>
            <a:off x="6757416" y="4141216"/>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Line items on thermal paper  </a:t>
            </a:r>
            <a:r>
              <a:rPr sz="1100" b="0" i="0">
                <a:solidFill>
                  <a:srgbClr val="3F4B5C"/>
                </a:solidFill>
                <a:latin typeface="Segoe UI"/>
              </a:rPr>
              <a:t>50 of 50 labelled lines found, including nine near-identical rows and a sideways photo</a:t>
            </a:r>
          </a:p>
        </p:txBody>
      </p:sp>
      <p:sp>
        <p:nvSpPr>
          <p:cNvPr id="33" name="Rectangle 32"/>
          <p:cNvSpPr/>
          <p:nvPr/>
        </p:nvSpPr>
        <p:spPr>
          <a:xfrm>
            <a:off x="777240" y="484632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77240" y="5047488"/>
            <a:ext cx="10637215" cy="365760"/>
          </a:xfrm>
          <a:prstGeom prst="rect">
            <a:avLst/>
          </a:prstGeom>
          <a:noFill/>
        </p:spPr>
        <p:txBody>
          <a:bodyPr wrap="square" lIns="0" rIns="0" tIns="0" bIns="0" anchor="t">
            <a:spAutoFit/>
          </a:bodyPr>
          <a:lstStyle/>
          <a:p>
            <a:pPr algn="l">
              <a:lnSpc>
                <a:spcPct val="122000"/>
              </a:lnSpc>
              <a:spcAft>
                <a:spcPts val="200"/>
              </a:spcAft>
            </a:pPr>
            <a:r>
              <a:rPr sz="1700" b="1" i="0">
                <a:solidFill>
                  <a:srgbClr val="0F172A"/>
                </a:solidFill>
                <a:latin typeface="Segoe UI"/>
              </a:rPr>
              <a:t>The seat reads better. It does not keep your books.</a:t>
            </a:r>
          </a:p>
        </p:txBody>
      </p:sp>
      <p:sp>
        <p:nvSpPr>
          <p:cNvPr id="35" name="TextBox 34"/>
          <p:cNvSpPr txBox="1"/>
          <p:nvPr/>
        </p:nvSpPr>
        <p:spPr>
          <a:xfrm>
            <a:off x="777240" y="5358841"/>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So the recommendation is the hybrid, not the win: let a hosted model read a format nobody has seen, and keep the audit, the hold, the ledger and the trace on a machine you own.</a:t>
            </a:r>
          </a:p>
        </p:txBody>
      </p:sp>
      <p:sp>
        <p:nvSpPr>
          <p:cNvPr id="36" name="Rectangle 35"/>
          <p:cNvSpPr/>
          <p:nvPr/>
        </p:nvSpPr>
        <p:spPr>
          <a:xfrm>
            <a:off x="777240" y="581558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77240" y="5961888"/>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The Cowork column is our own hands-on test:  </a:t>
            </a:r>
            <a:r>
              <a:rPr sz="1050" b="0" i="0">
                <a:solidFill>
                  <a:srgbClr val="8A94A3"/>
                </a:solidFill>
                <a:latin typeface="Segoe UI"/>
              </a:rPr>
              <a:t>not a frozen-protocol run. The contract for a full head to head is in evaluation/BENCHMARK_CONTRACT.md.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7" name="TextBox 6"/>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Wrap-up</a:t>
            </a:r>
          </a:p>
        </p:txBody>
      </p:sp>
      <p:sp>
        <p:nvSpPr>
          <p:cNvPr id="8" name="Rectangle 7"/>
          <p:cNvSpPr/>
          <p:nvPr/>
        </p:nvSpPr>
        <p:spPr>
          <a:xfrm>
            <a:off x="5138928" y="571500"/>
            <a:ext cx="466344"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Who built what</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Two components each, at minimum. Component 14 is owned by all four.</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24</a:t>
            </a:r>
          </a:p>
        </p:txBody>
      </p:sp>
      <p:sp>
        <p:nvSpPr>
          <p:cNvPr id="14" name="Rounded Rectangle 13"/>
          <p:cNvSpPr/>
          <p:nvPr/>
        </p:nvSpPr>
        <p:spPr>
          <a:xfrm>
            <a:off x="777240" y="1773936"/>
            <a:ext cx="402336" cy="402336"/>
          </a:xfrm>
          <a:prstGeom prst="roundRect">
            <a:avLst>
              <a:gd name="adj" fmla="val 5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Segoe UI"/>
              </a:rPr>
              <a:t>NA</a:t>
            </a:r>
          </a:p>
        </p:txBody>
      </p:sp>
      <p:sp>
        <p:nvSpPr>
          <p:cNvPr id="15" name="TextBox 14"/>
          <p:cNvSpPr txBox="1"/>
          <p:nvPr/>
        </p:nvSpPr>
        <p:spPr>
          <a:xfrm>
            <a:off x="777240" y="2322576"/>
            <a:ext cx="2293544" cy="32004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Nathaniel Adiong</a:t>
            </a:r>
          </a:p>
        </p:txBody>
      </p:sp>
      <p:sp>
        <p:nvSpPr>
          <p:cNvPr id="16" name="TextBox 15"/>
          <p:cNvSpPr txBox="1"/>
          <p:nvPr/>
        </p:nvSpPr>
        <p:spPr>
          <a:xfrm>
            <a:off x="777240" y="2651760"/>
            <a:ext cx="2293544"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Chat UI  ·  API  ·  Docker</a:t>
            </a:r>
          </a:p>
        </p:txBody>
      </p:sp>
      <p:sp>
        <p:nvSpPr>
          <p:cNvPr id="17" name="Rounded Rectangle 16"/>
          <p:cNvSpPr/>
          <p:nvPr/>
        </p:nvSpPr>
        <p:spPr>
          <a:xfrm>
            <a:off x="3436544" y="1773936"/>
            <a:ext cx="402336" cy="402336"/>
          </a:xfrm>
          <a:prstGeom prst="roundRect">
            <a:avLst>
              <a:gd name="adj" fmla="val 5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Segoe UI"/>
              </a:rPr>
              <a:t>CA</a:t>
            </a:r>
          </a:p>
        </p:txBody>
      </p:sp>
      <p:sp>
        <p:nvSpPr>
          <p:cNvPr id="18" name="TextBox 17"/>
          <p:cNvSpPr txBox="1"/>
          <p:nvPr/>
        </p:nvSpPr>
        <p:spPr>
          <a:xfrm>
            <a:off x="3436544" y="2322576"/>
            <a:ext cx="2293544" cy="32004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Clarence Ang</a:t>
            </a:r>
          </a:p>
        </p:txBody>
      </p:sp>
      <p:sp>
        <p:nvSpPr>
          <p:cNvPr id="19" name="TextBox 18"/>
          <p:cNvSpPr txBox="1"/>
          <p:nvPr/>
        </p:nvSpPr>
        <p:spPr>
          <a:xfrm>
            <a:off x="3436544" y="2651760"/>
            <a:ext cx="2293544"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Prompts  ·  Schema  ·  Guardrails</a:t>
            </a:r>
          </a:p>
        </p:txBody>
      </p:sp>
      <p:sp>
        <p:nvSpPr>
          <p:cNvPr id="20" name="Rounded Rectangle 19"/>
          <p:cNvSpPr/>
          <p:nvPr/>
        </p:nvSpPr>
        <p:spPr>
          <a:xfrm>
            <a:off x="6095848" y="1773936"/>
            <a:ext cx="402336" cy="402336"/>
          </a:xfrm>
          <a:prstGeom prst="roundRect">
            <a:avLst>
              <a:gd name="adj" fmla="val 5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Segoe UI"/>
              </a:rPr>
              <a:t>FS</a:t>
            </a:r>
          </a:p>
        </p:txBody>
      </p:sp>
      <p:sp>
        <p:nvSpPr>
          <p:cNvPr id="21" name="TextBox 20"/>
          <p:cNvSpPr txBox="1"/>
          <p:nvPr/>
        </p:nvSpPr>
        <p:spPr>
          <a:xfrm>
            <a:off x="6095848" y="2322576"/>
            <a:ext cx="2293544" cy="32004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Fraser Sim</a:t>
            </a:r>
          </a:p>
        </p:txBody>
      </p:sp>
      <p:sp>
        <p:nvSpPr>
          <p:cNvPr id="22" name="TextBox 21"/>
          <p:cNvSpPr txBox="1"/>
          <p:nvPr/>
        </p:nvSpPr>
        <p:spPr>
          <a:xfrm>
            <a:off x="6095848" y="2651760"/>
            <a:ext cx="2293544"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RAG  ·  Memory  ·  Tools</a:t>
            </a:r>
          </a:p>
        </p:txBody>
      </p:sp>
      <p:sp>
        <p:nvSpPr>
          <p:cNvPr id="23" name="Rounded Rectangle 22"/>
          <p:cNvSpPr/>
          <p:nvPr/>
        </p:nvSpPr>
        <p:spPr>
          <a:xfrm>
            <a:off x="8755151" y="1773936"/>
            <a:ext cx="402336" cy="402336"/>
          </a:xfrm>
          <a:prstGeom prst="roundRect">
            <a:avLst>
              <a:gd name="adj" fmla="val 50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a:solidFill>
                  <a:srgbClr val="FFFFFF"/>
                </a:solidFill>
                <a:latin typeface="Segoe UI"/>
              </a:rPr>
              <a:t>AG</a:t>
            </a:r>
          </a:p>
        </p:txBody>
      </p:sp>
      <p:sp>
        <p:nvSpPr>
          <p:cNvPr id="24" name="TextBox 23"/>
          <p:cNvSpPr txBox="1"/>
          <p:nvPr/>
        </p:nvSpPr>
        <p:spPr>
          <a:xfrm>
            <a:off x="8755151" y="2322576"/>
            <a:ext cx="2293544" cy="320040"/>
          </a:xfrm>
          <a:prstGeom prst="rect">
            <a:avLst/>
          </a:prstGeom>
          <a:noFill/>
        </p:spPr>
        <p:txBody>
          <a:bodyPr wrap="square" lIns="0" rIns="0" tIns="0" bIns="0" anchor="t">
            <a:spAutoFit/>
          </a:bodyPr>
          <a:lstStyle/>
          <a:p>
            <a:pPr algn="l">
              <a:lnSpc>
                <a:spcPct val="122000"/>
              </a:lnSpc>
              <a:spcAft>
                <a:spcPts val="200"/>
              </a:spcAft>
            </a:pPr>
            <a:r>
              <a:rPr sz="1400" b="1" i="0">
                <a:solidFill>
                  <a:srgbClr val="0F172A"/>
                </a:solidFill>
                <a:latin typeface="Segoe UI"/>
              </a:rPr>
              <a:t>Aaron Go</a:t>
            </a:r>
          </a:p>
        </p:txBody>
      </p:sp>
      <p:sp>
        <p:nvSpPr>
          <p:cNvPr id="25" name="TextBox 24"/>
          <p:cNvSpPr txBox="1"/>
          <p:nvPr/>
        </p:nvSpPr>
        <p:spPr>
          <a:xfrm>
            <a:off x="8755151" y="2651760"/>
            <a:ext cx="2293544" cy="32004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SQL  ·  ReAct  ·  LLMOps</a:t>
            </a:r>
          </a:p>
        </p:txBody>
      </p:sp>
      <p:sp>
        <p:nvSpPr>
          <p:cNvPr id="26" name="Rectangle 25"/>
          <p:cNvSpPr/>
          <p:nvPr/>
        </p:nvSpPr>
        <p:spPr>
          <a:xfrm>
            <a:off x="777240" y="334670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77240" y="3529584"/>
            <a:ext cx="54864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RETROSPECTIVE</a:t>
            </a:r>
          </a:p>
        </p:txBody>
      </p:sp>
      <p:sp>
        <p:nvSpPr>
          <p:cNvPr id="28" name="Rectangle 27"/>
          <p:cNvSpPr/>
          <p:nvPr/>
        </p:nvSpPr>
        <p:spPr>
          <a:xfrm>
            <a:off x="777240" y="3803904"/>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7240" y="4041648"/>
            <a:ext cx="25603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MOST SURPRISING</a:t>
            </a:r>
          </a:p>
        </p:txBody>
      </p:sp>
      <p:sp>
        <p:nvSpPr>
          <p:cNvPr id="30" name="TextBox 29"/>
          <p:cNvSpPr txBox="1"/>
          <p:nvPr/>
        </p:nvSpPr>
        <p:spPr>
          <a:xfrm>
            <a:off x="3611880" y="3968496"/>
            <a:ext cx="7772400" cy="365760"/>
          </a:xfrm>
          <a:prstGeom prst="rect">
            <a:avLst/>
          </a:prstGeom>
          <a:noFill/>
        </p:spPr>
        <p:txBody>
          <a:bodyPr wrap="square" lIns="0" rIns="0" tIns="0" bIns="0" anchor="t">
            <a:spAutoFit/>
          </a:bodyPr>
          <a:lstStyle/>
          <a:p>
            <a:pPr algn="l">
              <a:lnSpc>
                <a:spcPct val="122000"/>
              </a:lnSpc>
              <a:spcAft>
                <a:spcPts val="200"/>
              </a:spcAft>
            </a:pPr>
            <a:r>
              <a:rPr sz="1350" b="0" i="0">
                <a:solidFill>
                  <a:srgbClr val="0F172A"/>
                </a:solidFill>
                <a:latin typeface="Segoe UI"/>
              </a:rPr>
              <a:t>Two receipts came back identical: a prompt cache, not a misread</a:t>
            </a:r>
          </a:p>
        </p:txBody>
      </p:sp>
      <p:sp>
        <p:nvSpPr>
          <p:cNvPr id="31" name="Rectangle 30"/>
          <p:cNvSpPr/>
          <p:nvPr/>
        </p:nvSpPr>
        <p:spPr>
          <a:xfrm>
            <a:off x="777240" y="448056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 y="4718304"/>
            <a:ext cx="25603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HARDEST</a:t>
            </a:r>
          </a:p>
        </p:txBody>
      </p:sp>
      <p:sp>
        <p:nvSpPr>
          <p:cNvPr id="33" name="TextBox 32"/>
          <p:cNvSpPr txBox="1"/>
          <p:nvPr/>
        </p:nvSpPr>
        <p:spPr>
          <a:xfrm>
            <a:off x="3611880" y="4645152"/>
            <a:ext cx="7772400" cy="365760"/>
          </a:xfrm>
          <a:prstGeom prst="rect">
            <a:avLst/>
          </a:prstGeom>
          <a:noFill/>
        </p:spPr>
        <p:txBody>
          <a:bodyPr wrap="square" lIns="0" rIns="0" tIns="0" bIns="0" anchor="t">
            <a:spAutoFit/>
          </a:bodyPr>
          <a:lstStyle/>
          <a:p>
            <a:pPr algn="l">
              <a:lnSpc>
                <a:spcPct val="122000"/>
              </a:lnSpc>
              <a:spcAft>
                <a:spcPts val="200"/>
              </a:spcAft>
            </a:pPr>
            <a:r>
              <a:rPr sz="1350" b="0" i="0">
                <a:solidFill>
                  <a:srgbClr val="0F172A"/>
                </a:solidFill>
                <a:latin typeface="Segoe UI"/>
              </a:rPr>
              <a:t>Getting a free model accurate enough that the checks are a safety net, not the product</a:t>
            </a:r>
          </a:p>
        </p:txBody>
      </p:sp>
      <p:sp>
        <p:nvSpPr>
          <p:cNvPr id="34" name="Rectangle 33"/>
          <p:cNvSpPr/>
          <p:nvPr/>
        </p:nvSpPr>
        <p:spPr>
          <a:xfrm>
            <a:off x="777240" y="5157216"/>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7240" y="5394960"/>
            <a:ext cx="256032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NEXT TIME</a:t>
            </a:r>
          </a:p>
        </p:txBody>
      </p:sp>
      <p:sp>
        <p:nvSpPr>
          <p:cNvPr id="36" name="TextBox 35"/>
          <p:cNvSpPr txBox="1"/>
          <p:nvPr/>
        </p:nvSpPr>
        <p:spPr>
          <a:xfrm>
            <a:off x="3611880" y="5321808"/>
            <a:ext cx="7772400" cy="365760"/>
          </a:xfrm>
          <a:prstGeom prst="rect">
            <a:avLst/>
          </a:prstGeom>
          <a:noFill/>
        </p:spPr>
        <p:txBody>
          <a:bodyPr wrap="square" lIns="0" rIns="0" tIns="0" bIns="0" anchor="t">
            <a:spAutoFit/>
          </a:bodyPr>
          <a:lstStyle/>
          <a:p>
            <a:pPr algn="l">
              <a:lnSpc>
                <a:spcPct val="122000"/>
              </a:lnSpc>
              <a:spcAft>
                <a:spcPts val="200"/>
              </a:spcAft>
            </a:pPr>
            <a:r>
              <a:rPr sz="1350" b="0" i="0">
                <a:solidFill>
                  <a:srgbClr val="0F172A"/>
                </a:solidFill>
                <a:latin typeface="Segoe UI"/>
              </a:rPr>
              <a:t>Benchmark the models in week one, not week twelve</a:t>
            </a:r>
          </a:p>
        </p:txBody>
      </p:sp>
      <p:sp>
        <p:nvSpPr>
          <p:cNvPr id="37" name="Rectangle 36"/>
          <p:cNvSpPr/>
          <p:nvPr/>
        </p:nvSpPr>
        <p:spPr>
          <a:xfrm>
            <a:off x="777240" y="5833872"/>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7" name="TextBox 6"/>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Wrap-up</a:t>
            </a:r>
          </a:p>
        </p:txBody>
      </p:sp>
      <p:sp>
        <p:nvSpPr>
          <p:cNvPr id="8" name="Rectangle 7"/>
          <p:cNvSpPr/>
          <p:nvPr/>
        </p:nvSpPr>
        <p:spPr>
          <a:xfrm>
            <a:off x="5138928" y="571500"/>
            <a:ext cx="466344"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Live demo</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Five steps, in this order</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25</a:t>
            </a:r>
          </a:p>
        </p:txBody>
      </p:sp>
      <p:sp>
        <p:nvSpPr>
          <p:cNvPr id="14" name="Rectangle 13"/>
          <p:cNvSpPr/>
          <p:nvPr/>
        </p:nvSpPr>
        <p:spPr>
          <a:xfrm>
            <a:off x="777240" y="2011680"/>
            <a:ext cx="1853123" cy="1280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2176272"/>
            <a:ext cx="457200" cy="256032"/>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1</a:t>
            </a:r>
          </a:p>
        </p:txBody>
      </p:sp>
      <p:sp>
        <p:nvSpPr>
          <p:cNvPr id="16" name="TextBox 15"/>
          <p:cNvSpPr txBox="1"/>
          <p:nvPr/>
        </p:nvSpPr>
        <p:spPr>
          <a:xfrm>
            <a:off x="777240" y="2505456"/>
            <a:ext cx="1853123" cy="548640"/>
          </a:xfrm>
          <a:prstGeom prst="rect">
            <a:avLst/>
          </a:prstGeom>
          <a:noFill/>
        </p:spPr>
        <p:txBody>
          <a:bodyPr wrap="square" lIns="0" rIns="0" tIns="0" bIns="0" anchor="t">
            <a:spAutoFit/>
          </a:bodyPr>
          <a:lstStyle/>
          <a:p>
            <a:pPr algn="l">
              <a:lnSpc>
                <a:spcPct val="120000"/>
              </a:lnSpc>
              <a:spcAft>
                <a:spcPts val="200"/>
              </a:spcAft>
            </a:pPr>
            <a:r>
              <a:rPr sz="1350" b="1" i="0">
                <a:solidFill>
                  <a:srgbClr val="0F172A"/>
                </a:solidFill>
                <a:latin typeface="Segoe UI"/>
              </a:rPr>
              <a:t>Scan a receipt</a:t>
            </a:r>
          </a:p>
        </p:txBody>
      </p:sp>
      <p:sp>
        <p:nvSpPr>
          <p:cNvPr id="17" name="Rectangle 16"/>
          <p:cNvSpPr/>
          <p:nvPr/>
        </p:nvSpPr>
        <p:spPr>
          <a:xfrm>
            <a:off x="2904683" y="2011680"/>
            <a:ext cx="1853123" cy="1280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04683" y="2176272"/>
            <a:ext cx="457200" cy="256032"/>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2</a:t>
            </a:r>
          </a:p>
        </p:txBody>
      </p:sp>
      <p:sp>
        <p:nvSpPr>
          <p:cNvPr id="19" name="TextBox 18"/>
          <p:cNvSpPr txBox="1"/>
          <p:nvPr/>
        </p:nvSpPr>
        <p:spPr>
          <a:xfrm>
            <a:off x="2904683" y="2505456"/>
            <a:ext cx="1853123" cy="548640"/>
          </a:xfrm>
          <a:prstGeom prst="rect">
            <a:avLst/>
          </a:prstGeom>
          <a:noFill/>
        </p:spPr>
        <p:txBody>
          <a:bodyPr wrap="square" lIns="0" rIns="0" tIns="0" bIns="0" anchor="t">
            <a:spAutoFit/>
          </a:bodyPr>
          <a:lstStyle/>
          <a:p>
            <a:pPr algn="l">
              <a:lnSpc>
                <a:spcPct val="120000"/>
              </a:lnSpc>
              <a:spcAft>
                <a:spcPts val="200"/>
              </a:spcAft>
            </a:pPr>
            <a:r>
              <a:rPr sz="1350" b="1" i="0">
                <a:solidFill>
                  <a:srgbClr val="0F172A"/>
                </a:solidFill>
                <a:latin typeface="Segoe UI"/>
              </a:rPr>
              <a:t>Show a held one</a:t>
            </a:r>
          </a:p>
        </p:txBody>
      </p:sp>
      <p:sp>
        <p:nvSpPr>
          <p:cNvPr id="20" name="Rectangle 19"/>
          <p:cNvSpPr/>
          <p:nvPr/>
        </p:nvSpPr>
        <p:spPr>
          <a:xfrm>
            <a:off x="5032126" y="2011680"/>
            <a:ext cx="1853123" cy="1280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32126" y="2176272"/>
            <a:ext cx="457200" cy="256032"/>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3</a:t>
            </a:r>
          </a:p>
        </p:txBody>
      </p:sp>
      <p:sp>
        <p:nvSpPr>
          <p:cNvPr id="22" name="TextBox 21"/>
          <p:cNvSpPr txBox="1"/>
          <p:nvPr/>
        </p:nvSpPr>
        <p:spPr>
          <a:xfrm>
            <a:off x="5032126" y="2505456"/>
            <a:ext cx="1853123" cy="548640"/>
          </a:xfrm>
          <a:prstGeom prst="rect">
            <a:avLst/>
          </a:prstGeom>
          <a:noFill/>
        </p:spPr>
        <p:txBody>
          <a:bodyPr wrap="square" lIns="0" rIns="0" tIns="0" bIns="0" anchor="t">
            <a:spAutoFit/>
          </a:bodyPr>
          <a:lstStyle/>
          <a:p>
            <a:pPr algn="l">
              <a:lnSpc>
                <a:spcPct val="120000"/>
              </a:lnSpc>
              <a:spcAft>
                <a:spcPts val="200"/>
              </a:spcAft>
            </a:pPr>
            <a:r>
              <a:rPr sz="1350" b="1" i="0">
                <a:solidFill>
                  <a:srgbClr val="0F172A"/>
                </a:solidFill>
                <a:latin typeface="Segoe UI"/>
              </a:rPr>
              <a:t>Ask for a number</a:t>
            </a:r>
          </a:p>
        </p:txBody>
      </p:sp>
      <p:sp>
        <p:nvSpPr>
          <p:cNvPr id="23" name="Rectangle 22"/>
          <p:cNvSpPr/>
          <p:nvPr/>
        </p:nvSpPr>
        <p:spPr>
          <a:xfrm>
            <a:off x="7159569" y="2011680"/>
            <a:ext cx="1853123" cy="1280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59569" y="2176272"/>
            <a:ext cx="457200" cy="256032"/>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4</a:t>
            </a:r>
          </a:p>
        </p:txBody>
      </p:sp>
      <p:sp>
        <p:nvSpPr>
          <p:cNvPr id="25" name="TextBox 24"/>
          <p:cNvSpPr txBox="1"/>
          <p:nvPr/>
        </p:nvSpPr>
        <p:spPr>
          <a:xfrm>
            <a:off x="7159569" y="2505456"/>
            <a:ext cx="1853123" cy="548640"/>
          </a:xfrm>
          <a:prstGeom prst="rect">
            <a:avLst/>
          </a:prstGeom>
          <a:noFill/>
        </p:spPr>
        <p:txBody>
          <a:bodyPr wrap="square" lIns="0" rIns="0" tIns="0" bIns="0" anchor="t">
            <a:spAutoFit/>
          </a:bodyPr>
          <a:lstStyle/>
          <a:p>
            <a:pPr algn="l">
              <a:lnSpc>
                <a:spcPct val="120000"/>
              </a:lnSpc>
              <a:spcAft>
                <a:spcPts val="200"/>
              </a:spcAft>
            </a:pPr>
            <a:r>
              <a:rPr sz="1350" b="1" i="0">
                <a:solidFill>
                  <a:srgbClr val="0F172A"/>
                </a:solidFill>
                <a:latin typeface="Segoe UI"/>
              </a:rPr>
              <a:t>Record by talking</a:t>
            </a:r>
          </a:p>
        </p:txBody>
      </p:sp>
      <p:sp>
        <p:nvSpPr>
          <p:cNvPr id="26" name="Rectangle 25"/>
          <p:cNvSpPr/>
          <p:nvPr/>
        </p:nvSpPr>
        <p:spPr>
          <a:xfrm>
            <a:off x="9287012" y="2011680"/>
            <a:ext cx="1853123" cy="12802"/>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87012" y="2176272"/>
            <a:ext cx="457200" cy="256032"/>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5</a:t>
            </a:r>
          </a:p>
        </p:txBody>
      </p:sp>
      <p:sp>
        <p:nvSpPr>
          <p:cNvPr id="28" name="TextBox 27"/>
          <p:cNvSpPr txBox="1"/>
          <p:nvPr/>
        </p:nvSpPr>
        <p:spPr>
          <a:xfrm>
            <a:off x="9287012" y="2505456"/>
            <a:ext cx="1853123" cy="548640"/>
          </a:xfrm>
          <a:prstGeom prst="rect">
            <a:avLst/>
          </a:prstGeom>
          <a:noFill/>
        </p:spPr>
        <p:txBody>
          <a:bodyPr wrap="square" lIns="0" rIns="0" tIns="0" bIns="0" anchor="t">
            <a:spAutoFit/>
          </a:bodyPr>
          <a:lstStyle/>
          <a:p>
            <a:pPr algn="l">
              <a:lnSpc>
                <a:spcPct val="120000"/>
              </a:lnSpc>
              <a:spcAft>
                <a:spcPts val="200"/>
              </a:spcAft>
            </a:pPr>
            <a:r>
              <a:rPr sz="1350" b="1" i="0">
                <a:solidFill>
                  <a:srgbClr val="0F172A"/>
                </a:solidFill>
                <a:latin typeface="Segoe UI"/>
              </a:rPr>
              <a:t>Open the traces</a:t>
            </a:r>
          </a:p>
        </p:txBody>
      </p:sp>
      <p:sp>
        <p:nvSpPr>
          <p:cNvPr id="29" name="Rectangle 28"/>
          <p:cNvSpPr/>
          <p:nvPr/>
        </p:nvSpPr>
        <p:spPr>
          <a:xfrm>
            <a:off x="777240" y="370332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777240" y="3895344"/>
            <a:ext cx="493776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DISCLOSED UP FRONT</a:t>
            </a:r>
          </a:p>
        </p:txBody>
      </p:sp>
      <p:sp>
        <p:nvSpPr>
          <p:cNvPr id="31" name="TextBox 30"/>
          <p:cNvSpPr txBox="1"/>
          <p:nvPr/>
        </p:nvSpPr>
        <p:spPr>
          <a:xfrm>
            <a:off x="777240" y="4169664"/>
            <a:ext cx="4846320" cy="640080"/>
          </a:xfrm>
          <a:prstGeom prst="rect">
            <a:avLst/>
          </a:prstGeom>
          <a:noFill/>
        </p:spPr>
        <p:txBody>
          <a:bodyPr wrap="square" lIns="0" rIns="0" tIns="0" bIns="0" anchor="t">
            <a:spAutoFit/>
          </a:bodyPr>
          <a:lstStyle/>
          <a:p>
            <a:pPr algn="l">
              <a:lnSpc>
                <a:spcPct val="135000"/>
              </a:lnSpc>
              <a:spcAft>
                <a:spcPts val="200"/>
              </a:spcAft>
            </a:pPr>
            <a:r>
              <a:rPr sz="1250" b="0" i="0">
                <a:solidFill>
                  <a:srgbClr val="3F4B5C"/>
                </a:solidFill>
                <a:latin typeface="Segoe UI"/>
              </a:rPr>
              <a:t>Shared endpoint. If it is down we switch to a recording, and say so as we switch.</a:t>
            </a:r>
          </a:p>
        </p:txBody>
      </p:sp>
      <p:sp>
        <p:nvSpPr>
          <p:cNvPr id="32" name="TextBox 31"/>
          <p:cNvSpPr txBox="1"/>
          <p:nvPr/>
        </p:nvSpPr>
        <p:spPr>
          <a:xfrm>
            <a:off x="6537960" y="3895344"/>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WHERE TO LOOK</a:t>
            </a:r>
          </a:p>
        </p:txBody>
      </p:sp>
      <p:sp>
        <p:nvSpPr>
          <p:cNvPr id="33" name="Rounded Rectangle 32"/>
          <p:cNvSpPr/>
          <p:nvPr/>
        </p:nvSpPr>
        <p:spPr>
          <a:xfrm>
            <a:off x="6537960" y="4151376"/>
            <a:ext cx="879653"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Dashboard</a:t>
            </a:r>
          </a:p>
        </p:txBody>
      </p:sp>
      <p:sp>
        <p:nvSpPr>
          <p:cNvPr id="34" name="Rounded Rectangle 33"/>
          <p:cNvSpPr/>
          <p:nvPr/>
        </p:nvSpPr>
        <p:spPr>
          <a:xfrm>
            <a:off x="7545629" y="4151376"/>
            <a:ext cx="808330"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API docs</a:t>
            </a:r>
          </a:p>
        </p:txBody>
      </p:sp>
      <p:sp>
        <p:nvSpPr>
          <p:cNvPr id="35" name="Rounded Rectangle 34"/>
          <p:cNvSpPr/>
          <p:nvPr/>
        </p:nvSpPr>
        <p:spPr>
          <a:xfrm>
            <a:off x="8481974" y="4151376"/>
            <a:ext cx="808330" cy="274320"/>
          </a:xfrm>
          <a:prstGeom prst="roundRect">
            <a:avLst>
              <a:gd name="adj" fmla="val 50000"/>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50" b="1">
                <a:solidFill>
                  <a:srgbClr val="3F4B5C"/>
                </a:solidFill>
                <a:latin typeface="Segoe UI"/>
              </a:rPr>
              <a:t>Trace UI</a:t>
            </a:r>
          </a:p>
        </p:txBody>
      </p:sp>
      <p:sp>
        <p:nvSpPr>
          <p:cNvPr id="36" name="TextBox 35"/>
          <p:cNvSpPr txBox="1"/>
          <p:nvPr/>
        </p:nvSpPr>
        <p:spPr>
          <a:xfrm>
            <a:off x="6537960" y="4535424"/>
            <a:ext cx="4846320" cy="274320"/>
          </a:xfrm>
          <a:prstGeom prst="rect">
            <a:avLst/>
          </a:prstGeom>
          <a:noFill/>
        </p:spPr>
        <p:txBody>
          <a:bodyPr wrap="square" lIns="0" rIns="0" tIns="0" bIns="0" anchor="t">
            <a:spAutoFit/>
          </a:bodyPr>
          <a:lstStyle/>
          <a:p>
            <a:pPr algn="l">
              <a:lnSpc>
                <a:spcPct val="122000"/>
              </a:lnSpc>
              <a:spcAft>
                <a:spcPts val="200"/>
              </a:spcAft>
            </a:pPr>
            <a:r>
              <a:rPr sz="1100" b="0" i="0">
                <a:solidFill>
                  <a:srgbClr val="8A94A3"/>
                </a:solidFill>
                <a:latin typeface="Segoe UI"/>
              </a:rPr>
              <a:t>Fallback recording on disk, same five steps.</a:t>
            </a:r>
          </a:p>
        </p:txBody>
      </p:sp>
      <p:sp>
        <p:nvSpPr>
          <p:cNvPr id="37" name="Rectangle 36"/>
          <p:cNvSpPr/>
          <p:nvPr/>
        </p:nvSpPr>
        <p:spPr>
          <a:xfrm>
            <a:off x="777240" y="5394960"/>
            <a:ext cx="10637215"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7240" y="5541264"/>
            <a:ext cx="10637215" cy="274320"/>
          </a:xfrm>
          <a:prstGeom prst="rect">
            <a:avLst/>
          </a:prstGeom>
          <a:noFill/>
        </p:spPr>
        <p:txBody>
          <a:bodyPr wrap="square" lIns="0" rIns="0" tIns="0" bIns="0" anchor="t">
            <a:spAutoFit/>
          </a:bodyPr>
          <a:lstStyle/>
          <a:p>
            <a:pPr algn="l">
              <a:lnSpc>
                <a:spcPct val="122000"/>
              </a:lnSpc>
              <a:spcAft>
                <a:spcPts val="200"/>
              </a:spcAft>
            </a:pPr>
            <a:r>
              <a:rPr sz="1050" b="1" i="0">
                <a:solidFill>
                  <a:srgbClr val="0F172A"/>
                </a:solidFill>
                <a:latin typeface="Segoe UI"/>
              </a:rPr>
              <a:t>The demo is the argument.  </a:t>
            </a:r>
            <a:r>
              <a:rPr sz="1050" b="0" i="0">
                <a:solidFill>
                  <a:srgbClr val="8A94A3"/>
                </a:solidFill>
                <a:latin typeface="Segoe UI"/>
              </a:rPr>
              <a:t>Everything before this slide was setup.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7" name="TextBox 6"/>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Wrap-up</a:t>
            </a:r>
          </a:p>
        </p:txBody>
      </p:sp>
      <p:sp>
        <p:nvSpPr>
          <p:cNvPr id="8" name="Rectangle 7"/>
          <p:cNvSpPr/>
          <p:nvPr/>
        </p:nvSpPr>
        <p:spPr>
          <a:xfrm>
            <a:off x="5138928" y="571500"/>
            <a:ext cx="466344"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Appendix</a:t>
            </a: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Take away five things</a:t>
            </a:r>
          </a:p>
        </p:txBody>
      </p:sp>
      <p:sp>
        <p:nvSpPr>
          <p:cNvPr id="11" name="TextBox 10"/>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2" name="TextBox 11"/>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26</a:t>
            </a:r>
          </a:p>
        </p:txBody>
      </p:sp>
      <p:sp>
        <p:nvSpPr>
          <p:cNvPr id="13" name="Rectangle 12"/>
          <p:cNvSpPr/>
          <p:nvPr/>
        </p:nvSpPr>
        <p:spPr>
          <a:xfrm>
            <a:off x="777240" y="1828800"/>
            <a:ext cx="4846320"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77240" y="2029968"/>
            <a:ext cx="4846320" cy="365760"/>
          </a:xfrm>
          <a:prstGeom prst="rect">
            <a:avLst/>
          </a:prstGeom>
          <a:noFill/>
        </p:spPr>
        <p:txBody>
          <a:bodyPr wrap="square" lIns="0" rIns="0" tIns="0" bIns="0" anchor="t">
            <a:spAutoFit/>
          </a:bodyPr>
          <a:lstStyle/>
          <a:p>
            <a:pPr algn="l">
              <a:lnSpc>
                <a:spcPct val="122000"/>
              </a:lnSpc>
              <a:spcAft>
                <a:spcPts val="200"/>
              </a:spcAft>
            </a:pPr>
            <a:r>
              <a:rPr sz="1650" b="1" i="0">
                <a:solidFill>
                  <a:srgbClr val="0F172A"/>
                </a:solidFill>
                <a:latin typeface="Segoe UI"/>
              </a:rPr>
              <a:t>The CV model is the product</a:t>
            </a:r>
          </a:p>
        </p:txBody>
      </p:sp>
      <p:sp>
        <p:nvSpPr>
          <p:cNvPr id="15" name="TextBox 14"/>
          <p:cNvSpPr txBox="1"/>
          <p:nvPr/>
        </p:nvSpPr>
        <p:spPr>
          <a:xfrm>
            <a:off x="777240" y="2395728"/>
            <a:ext cx="4846320" cy="411480"/>
          </a:xfrm>
          <a:prstGeom prst="rect">
            <a:avLst/>
          </a:prstGeom>
          <a:noFill/>
        </p:spPr>
        <p:txBody>
          <a:bodyPr wrap="square" lIns="0" rIns="0" tIns="0" bIns="0" anchor="t">
            <a:spAutoFit/>
          </a:bodyPr>
          <a:lstStyle/>
          <a:p>
            <a:pPr algn="l">
              <a:lnSpc>
                <a:spcPct val="125000"/>
              </a:lnSpc>
              <a:spcAft>
                <a:spcPts val="200"/>
              </a:spcAft>
            </a:pPr>
            <a:r>
              <a:rPr sz="1150" b="0" i="0">
                <a:solidFill>
                  <a:srgbClr val="8A94A3"/>
                </a:solidFill>
                <a:latin typeface="Segoe UI"/>
              </a:rPr>
              <a:t>audit · gate · ledger · answers all derive from it</a:t>
            </a:r>
          </a:p>
        </p:txBody>
      </p:sp>
      <p:sp>
        <p:nvSpPr>
          <p:cNvPr id="16" name="Rectangle 15"/>
          <p:cNvSpPr/>
          <p:nvPr/>
        </p:nvSpPr>
        <p:spPr>
          <a:xfrm>
            <a:off x="6309360" y="182880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09360" y="2029968"/>
            <a:ext cx="4846320" cy="365760"/>
          </a:xfrm>
          <a:prstGeom prst="rect">
            <a:avLst/>
          </a:prstGeom>
          <a:noFill/>
        </p:spPr>
        <p:txBody>
          <a:bodyPr wrap="square" lIns="0" rIns="0" tIns="0" bIns="0" anchor="t">
            <a:spAutoFit/>
          </a:bodyPr>
          <a:lstStyle/>
          <a:p>
            <a:pPr algn="l">
              <a:lnSpc>
                <a:spcPct val="122000"/>
              </a:lnSpc>
              <a:spcAft>
                <a:spcPts val="200"/>
              </a:spcAft>
            </a:pPr>
            <a:r>
              <a:rPr sz="1650" b="1" i="0">
                <a:solidFill>
                  <a:srgbClr val="0F172A"/>
                </a:solidFill>
                <a:latin typeface="Segoe UI"/>
              </a:rPr>
              <a:t>₱99 a month, already set up</a:t>
            </a:r>
          </a:p>
        </p:txBody>
      </p:sp>
      <p:sp>
        <p:nvSpPr>
          <p:cNvPr id="18" name="TextBox 17"/>
          <p:cNvSpPr txBox="1"/>
          <p:nvPr/>
        </p:nvSpPr>
        <p:spPr>
          <a:xfrm>
            <a:off x="6309360" y="2395728"/>
            <a:ext cx="4846320" cy="411480"/>
          </a:xfrm>
          <a:prstGeom prst="rect">
            <a:avLst/>
          </a:prstGeom>
          <a:noFill/>
        </p:spPr>
        <p:txBody>
          <a:bodyPr wrap="square" lIns="0" rIns="0" tIns="0" bIns="0" anchor="t">
            <a:spAutoFit/>
          </a:bodyPr>
          <a:lstStyle/>
          <a:p>
            <a:pPr algn="l">
              <a:lnSpc>
                <a:spcPct val="125000"/>
              </a:lnSpc>
              <a:spcAft>
                <a:spcPts val="200"/>
              </a:spcAft>
            </a:pPr>
            <a:r>
              <a:rPr sz="1150" b="0" i="0">
                <a:solidFill>
                  <a:srgbClr val="8A94A3"/>
                </a:solidFill>
                <a:latin typeface="Segoe UI"/>
              </a:rPr>
              <a:t>16× cheaper than typing them · 12× cheaper than a subscription you configure</a:t>
            </a:r>
          </a:p>
        </p:txBody>
      </p:sp>
      <p:sp>
        <p:nvSpPr>
          <p:cNvPr id="19" name="Rectangle 18"/>
          <p:cNvSpPr/>
          <p:nvPr/>
        </p:nvSpPr>
        <p:spPr>
          <a:xfrm>
            <a:off x="777240" y="301752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7240" y="3218688"/>
            <a:ext cx="4846320" cy="365760"/>
          </a:xfrm>
          <a:prstGeom prst="rect">
            <a:avLst/>
          </a:prstGeom>
          <a:noFill/>
        </p:spPr>
        <p:txBody>
          <a:bodyPr wrap="square" lIns="0" rIns="0" tIns="0" bIns="0" anchor="t">
            <a:spAutoFit/>
          </a:bodyPr>
          <a:lstStyle/>
          <a:p>
            <a:pPr algn="l">
              <a:lnSpc>
                <a:spcPct val="122000"/>
              </a:lnSpc>
              <a:spcAft>
                <a:spcPts val="200"/>
              </a:spcAft>
            </a:pPr>
            <a:r>
              <a:rPr sz="1650" b="1" i="0">
                <a:solidFill>
                  <a:srgbClr val="0F172A"/>
                </a:solidFill>
                <a:latin typeface="Segoe UI"/>
              </a:rPr>
              <a:t>Three models, measured the same way</a:t>
            </a:r>
          </a:p>
        </p:txBody>
      </p:sp>
      <p:sp>
        <p:nvSpPr>
          <p:cNvPr id="21" name="TextBox 20"/>
          <p:cNvSpPr txBox="1"/>
          <p:nvPr/>
        </p:nvSpPr>
        <p:spPr>
          <a:xfrm>
            <a:off x="777240" y="3584448"/>
            <a:ext cx="4846320" cy="411480"/>
          </a:xfrm>
          <a:prstGeom prst="rect">
            <a:avLst/>
          </a:prstGeom>
          <a:noFill/>
        </p:spPr>
        <p:txBody>
          <a:bodyPr wrap="square" lIns="0" rIns="0" tIns="0" bIns="0" anchor="t">
            <a:spAutoFit/>
          </a:bodyPr>
          <a:lstStyle/>
          <a:p>
            <a:pPr algn="l">
              <a:lnSpc>
                <a:spcPct val="125000"/>
              </a:lnSpc>
              <a:spcAft>
                <a:spcPts val="200"/>
              </a:spcAft>
            </a:pPr>
            <a:r>
              <a:rPr sz="1150" b="0" i="0">
                <a:solidFill>
                  <a:srgbClr val="8A94A3"/>
                </a:solidFill>
                <a:latin typeface="Segoe UI"/>
              </a:rPr>
              <a:t>97 / 94 / 98 hosted · 86.3 / 89.6 / 94.5 local, on 10 labelled receipts</a:t>
            </a:r>
          </a:p>
        </p:txBody>
      </p:sp>
      <p:sp>
        <p:nvSpPr>
          <p:cNvPr id="22" name="Rectangle 21"/>
          <p:cNvSpPr/>
          <p:nvPr/>
        </p:nvSpPr>
        <p:spPr>
          <a:xfrm>
            <a:off x="6309360" y="301752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09360" y="3218688"/>
            <a:ext cx="4846320" cy="365760"/>
          </a:xfrm>
          <a:prstGeom prst="rect">
            <a:avLst/>
          </a:prstGeom>
          <a:noFill/>
        </p:spPr>
        <p:txBody>
          <a:bodyPr wrap="square" lIns="0" rIns="0" tIns="0" bIns="0" anchor="t">
            <a:spAutoFit/>
          </a:bodyPr>
          <a:lstStyle/>
          <a:p>
            <a:pPr algn="l">
              <a:lnSpc>
                <a:spcPct val="122000"/>
              </a:lnSpc>
              <a:spcAft>
                <a:spcPts val="200"/>
              </a:spcAft>
            </a:pPr>
            <a:r>
              <a:rPr sz="1650" b="1" i="0">
                <a:solidFill>
                  <a:srgbClr val="0F172A"/>
                </a:solidFill>
                <a:latin typeface="Segoe UI"/>
              </a:rPr>
              <a:t>We found our own failures</a:t>
            </a:r>
          </a:p>
        </p:txBody>
      </p:sp>
      <p:sp>
        <p:nvSpPr>
          <p:cNvPr id="24" name="TextBox 23"/>
          <p:cNvSpPr txBox="1"/>
          <p:nvPr/>
        </p:nvSpPr>
        <p:spPr>
          <a:xfrm>
            <a:off x="6309360" y="3584448"/>
            <a:ext cx="4846320" cy="411480"/>
          </a:xfrm>
          <a:prstGeom prst="rect">
            <a:avLst/>
          </a:prstGeom>
          <a:noFill/>
        </p:spPr>
        <p:txBody>
          <a:bodyPr wrap="square" lIns="0" rIns="0" tIns="0" bIns="0" anchor="t">
            <a:spAutoFit/>
          </a:bodyPr>
          <a:lstStyle/>
          <a:p>
            <a:pPr algn="l">
              <a:lnSpc>
                <a:spcPct val="125000"/>
              </a:lnSpc>
              <a:spcAft>
                <a:spcPts val="200"/>
              </a:spcAft>
            </a:pPr>
            <a:r>
              <a:rPr sz="1150" b="0" i="0">
                <a:solidFill>
                  <a:srgbClr val="8A94A3"/>
                </a:solidFill>
                <a:latin typeface="Segoe UI"/>
              </a:rPr>
              <a:t>and wrote each one down with its fix</a:t>
            </a:r>
          </a:p>
        </p:txBody>
      </p:sp>
      <p:sp>
        <p:nvSpPr>
          <p:cNvPr id="25" name="Rectangle 24"/>
          <p:cNvSpPr/>
          <p:nvPr/>
        </p:nvSpPr>
        <p:spPr>
          <a:xfrm>
            <a:off x="777240" y="4206240"/>
            <a:ext cx="10637215" cy="182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 y="4407408"/>
            <a:ext cx="10637215" cy="365760"/>
          </a:xfrm>
          <a:prstGeom prst="rect">
            <a:avLst/>
          </a:prstGeom>
          <a:noFill/>
        </p:spPr>
        <p:txBody>
          <a:bodyPr wrap="square" lIns="0" rIns="0" tIns="0" bIns="0" anchor="t">
            <a:spAutoFit/>
          </a:bodyPr>
          <a:lstStyle/>
          <a:p>
            <a:pPr algn="l">
              <a:lnSpc>
                <a:spcPct val="122000"/>
              </a:lnSpc>
              <a:spcAft>
                <a:spcPts val="200"/>
              </a:spcAft>
            </a:pPr>
            <a:r>
              <a:rPr sz="1650" b="1" i="0">
                <a:solidFill>
                  <a:srgbClr val="0F172A"/>
                </a:solidFill>
                <a:latin typeface="Segoe UI"/>
              </a:rPr>
              <a:t>Buy the reading. Own the ledger.</a:t>
            </a:r>
          </a:p>
        </p:txBody>
      </p:sp>
      <p:sp>
        <p:nvSpPr>
          <p:cNvPr id="27" name="TextBox 26"/>
          <p:cNvSpPr txBox="1"/>
          <p:nvPr/>
        </p:nvSpPr>
        <p:spPr>
          <a:xfrm>
            <a:off x="777240" y="4773168"/>
            <a:ext cx="10637215" cy="411480"/>
          </a:xfrm>
          <a:prstGeom prst="rect">
            <a:avLst/>
          </a:prstGeom>
          <a:noFill/>
        </p:spPr>
        <p:txBody>
          <a:bodyPr wrap="square" lIns="0" rIns="0" tIns="0" bIns="0" anchor="t">
            <a:spAutoFit/>
          </a:bodyPr>
          <a:lstStyle/>
          <a:p>
            <a:pPr algn="l">
              <a:lnSpc>
                <a:spcPct val="125000"/>
              </a:lnSpc>
              <a:spcAft>
                <a:spcPts val="200"/>
              </a:spcAft>
            </a:pPr>
            <a:r>
              <a:rPr sz="1150" b="0" i="0">
                <a:solidFill>
                  <a:srgbClr val="8A94A3"/>
                </a:solidFill>
                <a:latin typeface="Segoe UI"/>
              </a:rPr>
              <a:t>A $20 seat reads an unfamiliar receipt better. Everything after the read, the audit, the hold, the ledger and the trace, belongs on a machine you own.</a:t>
            </a:r>
          </a:p>
        </p:txBody>
      </p:sp>
      <p:sp>
        <p:nvSpPr>
          <p:cNvPr id="28" name="Rectangle 27"/>
          <p:cNvSpPr/>
          <p:nvPr/>
        </p:nvSpPr>
        <p:spPr>
          <a:xfrm>
            <a:off x="777240" y="5440680"/>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7240" y="5678424"/>
            <a:ext cx="10637215" cy="457200"/>
          </a:xfrm>
          <a:prstGeom prst="rect">
            <a:avLst/>
          </a:prstGeom>
          <a:noFill/>
        </p:spPr>
        <p:txBody>
          <a:bodyPr wrap="square" lIns="0" rIns="0" tIns="0" bIns="0" anchor="t">
            <a:spAutoFit/>
          </a:bodyPr>
          <a:lstStyle/>
          <a:p>
            <a:pPr algn="l">
              <a:lnSpc>
                <a:spcPct val="122000"/>
              </a:lnSpc>
              <a:spcAft>
                <a:spcPts val="200"/>
              </a:spcAft>
            </a:pPr>
            <a:r>
              <a:rPr sz="2400" b="1" i="0">
                <a:solidFill>
                  <a:srgbClr val="0F172A"/>
                </a:solidFill>
                <a:latin typeface="Segoe UI"/>
              </a:rPr>
              <a:t>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Use case</a:t>
            </a:r>
          </a:p>
        </p:txBody>
      </p:sp>
      <p:sp>
        <p:nvSpPr>
          <p:cNvPr id="3" name="TextBox 2"/>
          <p:cNvSpPr txBox="1"/>
          <p:nvPr/>
        </p:nvSpPr>
        <p:spPr>
          <a:xfrm>
            <a:off x="1636776" y="365760"/>
            <a:ext cx="63093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RRL</a:t>
            </a:r>
          </a:p>
        </p:txBody>
      </p:sp>
      <p:sp>
        <p:nvSpPr>
          <p:cNvPr id="4" name="TextBox 3"/>
          <p:cNvSpPr txBox="1"/>
          <p:nvPr/>
        </p:nvSpPr>
        <p:spPr>
          <a:xfrm>
            <a:off x="2176272" y="365760"/>
            <a:ext cx="120700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Architecture</a:t>
            </a:r>
          </a:p>
        </p:txBody>
      </p:sp>
      <p:sp>
        <p:nvSpPr>
          <p:cNvPr id="5" name="TextBox 4"/>
          <p:cNvSpPr txBox="1"/>
          <p:nvPr/>
        </p:nvSpPr>
        <p:spPr>
          <a:xfrm>
            <a:off x="3291840" y="365760"/>
            <a:ext cx="1078992"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Components</a:t>
            </a:r>
          </a:p>
        </p:txBody>
      </p:sp>
      <p:sp>
        <p:nvSpPr>
          <p:cNvPr id="6" name="TextBox 5"/>
          <p:cNvSpPr txBox="1"/>
          <p:nvPr/>
        </p:nvSpPr>
        <p:spPr>
          <a:xfrm>
            <a:off x="4279392" y="365760"/>
            <a:ext cx="950976"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Findings</a:t>
            </a:r>
          </a:p>
        </p:txBody>
      </p:sp>
      <p:sp>
        <p:nvSpPr>
          <p:cNvPr id="7" name="TextBox 6"/>
          <p:cNvSpPr txBox="1"/>
          <p:nvPr/>
        </p:nvSpPr>
        <p:spPr>
          <a:xfrm>
            <a:off x="5138928" y="365760"/>
            <a:ext cx="886968" cy="201168"/>
          </a:xfrm>
          <a:prstGeom prst="rect">
            <a:avLst/>
          </a:prstGeom>
          <a:noFill/>
        </p:spPr>
        <p:txBody>
          <a:bodyPr wrap="square" lIns="0" rIns="0" tIns="0" bIns="0" anchor="t">
            <a:spAutoFit/>
          </a:bodyPr>
          <a:lstStyle/>
          <a:p>
            <a:pPr algn="l">
              <a:lnSpc>
                <a:spcPct val="122000"/>
              </a:lnSpc>
              <a:spcAft>
                <a:spcPts val="200"/>
              </a:spcAft>
            </a:pPr>
            <a:r>
              <a:rPr sz="900" b="0" i="0" spc="20">
                <a:solidFill>
                  <a:srgbClr val="C2C9D2"/>
                </a:solidFill>
                <a:latin typeface="Segoe UI"/>
              </a:rPr>
              <a:t>Wrap-up</a:t>
            </a:r>
          </a:p>
        </p:txBody>
      </p:sp>
      <p:sp>
        <p:nvSpPr>
          <p:cNvPr id="8" name="TextBox 7"/>
          <p:cNvSpPr txBox="1"/>
          <p:nvPr/>
        </p:nvSpPr>
        <p:spPr>
          <a:xfrm>
            <a:off x="5934456" y="365760"/>
            <a:ext cx="950976" cy="201168"/>
          </a:xfrm>
          <a:prstGeom prst="rect">
            <a:avLst/>
          </a:prstGeom>
          <a:noFill/>
        </p:spPr>
        <p:txBody>
          <a:bodyPr wrap="square" lIns="0" rIns="0" tIns="0" bIns="0" anchor="t">
            <a:spAutoFit/>
          </a:bodyPr>
          <a:lstStyle/>
          <a:p>
            <a:pPr algn="l">
              <a:lnSpc>
                <a:spcPct val="122000"/>
              </a:lnSpc>
              <a:spcAft>
                <a:spcPts val="200"/>
              </a:spcAft>
            </a:pPr>
            <a:r>
              <a:rPr sz="900" b="1" i="0" spc="20">
                <a:solidFill>
                  <a:srgbClr val="0F172A"/>
                </a:solidFill>
                <a:latin typeface="Segoe UI"/>
              </a:rPr>
              <a:t>Appendix</a:t>
            </a:r>
          </a:p>
        </p:txBody>
      </p:sp>
      <p:sp>
        <p:nvSpPr>
          <p:cNvPr id="9" name="Rectangle 8"/>
          <p:cNvSpPr/>
          <p:nvPr/>
        </p:nvSpPr>
        <p:spPr>
          <a:xfrm>
            <a:off x="5934456" y="571500"/>
            <a:ext cx="530352" cy="155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77240" y="822960"/>
            <a:ext cx="10881360" cy="457200"/>
          </a:xfrm>
          <a:prstGeom prst="rect">
            <a:avLst/>
          </a:prstGeom>
          <a:noFill/>
        </p:spPr>
        <p:txBody>
          <a:bodyPr wrap="square" lIns="0" rIns="0" tIns="0" bIns="0" anchor="t">
            <a:spAutoFit/>
          </a:bodyPr>
          <a:lstStyle/>
          <a:p>
            <a:pPr algn="l">
              <a:lnSpc>
                <a:spcPct val="122000"/>
              </a:lnSpc>
              <a:spcAft>
                <a:spcPts val="200"/>
              </a:spcAft>
            </a:pPr>
            <a:r>
              <a:rPr sz="2700" b="1" i="0">
                <a:solidFill>
                  <a:srgbClr val="0F172A"/>
                </a:solidFill>
                <a:latin typeface="Segoe UI"/>
              </a:rPr>
              <a:t>Modules, and what lives in core.py</a:t>
            </a:r>
          </a:p>
        </p:txBody>
      </p:sp>
      <p:sp>
        <p:nvSpPr>
          <p:cNvPr id="11" name="TextBox 10"/>
          <p:cNvSpPr txBox="1"/>
          <p:nvPr/>
        </p:nvSpPr>
        <p:spPr>
          <a:xfrm>
            <a:off x="777240" y="1298448"/>
            <a:ext cx="10972800" cy="274320"/>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Which file holds each block of the architecture, and the honest cost of one file holding three of them.</a:t>
            </a:r>
          </a:p>
        </p:txBody>
      </p:sp>
      <p:sp>
        <p:nvSpPr>
          <p:cNvPr id="12" name="TextBox 11"/>
          <p:cNvSpPr txBox="1"/>
          <p:nvPr/>
        </p:nvSpPr>
        <p:spPr>
          <a:xfrm>
            <a:off x="777240" y="6382512"/>
            <a:ext cx="8229600" cy="274320"/>
          </a:xfrm>
          <a:prstGeom prst="rect">
            <a:avLst/>
          </a:prstGeom>
          <a:noFill/>
        </p:spPr>
        <p:txBody>
          <a:bodyPr wrap="square" lIns="0" rIns="0" tIns="0" bIns="0" anchor="t">
            <a:spAutoFit/>
          </a:bodyPr>
          <a:lstStyle/>
          <a:p>
            <a:pPr algn="l">
              <a:lnSpc>
                <a:spcPct val="122000"/>
              </a:lnSpc>
              <a:spcAft>
                <a:spcPts val="200"/>
              </a:spcAft>
            </a:pPr>
            <a:r>
              <a:rPr sz="850" b="1" i="0">
                <a:solidFill>
                  <a:srgbClr val="8A94A3"/>
                </a:solidFill>
                <a:latin typeface="Segoe UI"/>
              </a:rPr>
              <a:t>Snag</a:t>
            </a:r>
            <a:r>
              <a:rPr sz="850" b="0" i="0">
                <a:solidFill>
                  <a:srgbClr val="C2C9D2"/>
                </a:solidFill>
                <a:latin typeface="Segoe UI"/>
              </a:rPr>
              <a:t>   every peso traced back to the paper it came from</a:t>
            </a:r>
          </a:p>
        </p:txBody>
      </p:sp>
      <p:sp>
        <p:nvSpPr>
          <p:cNvPr id="13" name="TextBox 12"/>
          <p:cNvSpPr txBox="1"/>
          <p:nvPr/>
        </p:nvSpPr>
        <p:spPr>
          <a:xfrm>
            <a:off x="9219895" y="6382512"/>
            <a:ext cx="2194560" cy="274320"/>
          </a:xfrm>
          <a:prstGeom prst="rect">
            <a:avLst/>
          </a:prstGeom>
          <a:noFill/>
        </p:spPr>
        <p:txBody>
          <a:bodyPr wrap="square" lIns="0" rIns="0" tIns="0" bIns="0" anchor="t">
            <a:spAutoFit/>
          </a:bodyPr>
          <a:lstStyle/>
          <a:p>
            <a:pPr algn="r">
              <a:lnSpc>
                <a:spcPct val="122000"/>
              </a:lnSpc>
              <a:spcAft>
                <a:spcPts val="200"/>
              </a:spcAft>
            </a:pPr>
            <a:r>
              <a:rPr sz="850" b="0" i="0">
                <a:solidFill>
                  <a:srgbClr val="C2C9D2"/>
                </a:solidFill>
                <a:latin typeface="Segoe UI"/>
              </a:rPr>
              <a:t>27</a:t>
            </a:r>
          </a:p>
        </p:txBody>
      </p:sp>
      <p:sp>
        <p:nvSpPr>
          <p:cNvPr id="14" name="Rectangle 13"/>
          <p:cNvSpPr/>
          <p:nvPr/>
        </p:nvSpPr>
        <p:spPr>
          <a:xfrm>
            <a:off x="6126480" y="1828800"/>
            <a:ext cx="8230" cy="329184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77240" y="1828800"/>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8A94A3"/>
                </a:solidFill>
                <a:latin typeface="Segoe UI"/>
              </a:rPr>
              <a:t>THE MODULES</a:t>
            </a:r>
          </a:p>
        </p:txBody>
      </p:sp>
      <p:sp>
        <p:nvSpPr>
          <p:cNvPr id="16" name="TextBox 15"/>
          <p:cNvSpPr txBox="1"/>
          <p:nvPr/>
        </p:nvSpPr>
        <p:spPr>
          <a:xfrm>
            <a:off x="777240" y="214884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17" name="TextBox 16"/>
          <p:cNvSpPr txBox="1"/>
          <p:nvPr/>
        </p:nvSpPr>
        <p:spPr>
          <a:xfrm>
            <a:off x="996696" y="2157984"/>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api.py  ·  1,029  </a:t>
            </a:r>
            <a:r>
              <a:rPr sz="1100" b="0" i="0">
                <a:solidFill>
                  <a:srgbClr val="3F4B5C"/>
                </a:solidFill>
                <a:latin typeface="Segoe UI"/>
              </a:rPr>
              <a:t>80 HTTP routes and their typed request models. No business logic; every route calls into core, finance or reconciliation</a:t>
            </a:r>
          </a:p>
        </p:txBody>
      </p:sp>
      <p:sp>
        <p:nvSpPr>
          <p:cNvPr id="18" name="TextBox 17"/>
          <p:cNvSpPr txBox="1"/>
          <p:nvPr/>
        </p:nvSpPr>
        <p:spPr>
          <a:xfrm>
            <a:off x="777240" y="2839974"/>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19" name="TextBox 18"/>
          <p:cNvSpPr txBox="1"/>
          <p:nvPr/>
        </p:nvSpPr>
        <p:spPr>
          <a:xfrm>
            <a:off x="996696" y="2849118"/>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core.py  ·  5,477  </a:t>
            </a:r>
            <a:r>
              <a:rPr sz="1100" b="0" i="0">
                <a:solidFill>
                  <a:srgbClr val="3F4B5C"/>
                </a:solidFill>
                <a:latin typeface="Segoe UI"/>
              </a:rPr>
              <a:t>the extraction pipeline, the ledger and the agent</a:t>
            </a:r>
          </a:p>
        </p:txBody>
      </p:sp>
      <p:sp>
        <p:nvSpPr>
          <p:cNvPr id="20" name="TextBox 19"/>
          <p:cNvSpPr txBox="1"/>
          <p:nvPr/>
        </p:nvSpPr>
        <p:spPr>
          <a:xfrm>
            <a:off x="777240" y="3349498"/>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1" name="TextBox 20"/>
          <p:cNvSpPr txBox="1"/>
          <p:nvPr/>
        </p:nvSpPr>
        <p:spPr>
          <a:xfrm>
            <a:off x="996696" y="3358642"/>
            <a:ext cx="4626864" cy="59969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extraction.py  ·  2,041  </a:t>
            </a:r>
            <a:r>
              <a:rPr sz="1100" b="0" i="0">
                <a:solidFill>
                  <a:srgbClr val="3F4B5C"/>
                </a:solidFill>
                <a:latin typeface="Segoe UI"/>
              </a:rPr>
              <a:t>deterministic repair: numbers, dates, placeholders, item coverage, the arithmetic audit. No model calls</a:t>
            </a:r>
          </a:p>
        </p:txBody>
      </p:sp>
      <p:sp>
        <p:nvSpPr>
          <p:cNvPr id="22" name="TextBox 21"/>
          <p:cNvSpPr txBox="1"/>
          <p:nvPr/>
        </p:nvSpPr>
        <p:spPr>
          <a:xfrm>
            <a:off x="777240" y="4040632"/>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3" name="TextBox 22"/>
          <p:cNvSpPr txBox="1"/>
          <p:nvPr/>
        </p:nvSpPr>
        <p:spPr>
          <a:xfrm>
            <a:off x="996696" y="4049776"/>
            <a:ext cx="4626864" cy="23647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finance.py  ·  1,891  </a:t>
            </a:r>
            <a:r>
              <a:rPr sz="1100" b="0" i="0">
                <a:solidFill>
                  <a:srgbClr val="3F4B5C"/>
                </a:solidFill>
                <a:latin typeface="Segoe UI"/>
              </a:rPr>
              <a:t>accounts, transactions, plans, budgets</a:t>
            </a:r>
          </a:p>
        </p:txBody>
      </p:sp>
      <p:sp>
        <p:nvSpPr>
          <p:cNvPr id="24" name="TextBox 23"/>
          <p:cNvSpPr txBox="1"/>
          <p:nvPr/>
        </p:nvSpPr>
        <p:spPr>
          <a:xfrm>
            <a:off x="777240" y="4368546"/>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5" name="TextBox 24"/>
          <p:cNvSpPr txBox="1"/>
          <p:nvPr/>
        </p:nvSpPr>
        <p:spPr>
          <a:xfrm>
            <a:off x="996696" y="4377690"/>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reconciliation.py  ·  839  </a:t>
            </a:r>
            <a:r>
              <a:rPr sz="1100" b="0" i="0">
                <a:solidFill>
                  <a:srgbClr val="3F4B5C"/>
                </a:solidFill>
                <a:latin typeface="Segoe UI"/>
              </a:rPr>
              <a:t>statement matching, no model anywhere in it</a:t>
            </a:r>
          </a:p>
        </p:txBody>
      </p:sp>
      <p:sp>
        <p:nvSpPr>
          <p:cNvPr id="26" name="TextBox 25"/>
          <p:cNvSpPr txBox="1"/>
          <p:nvPr/>
        </p:nvSpPr>
        <p:spPr>
          <a:xfrm>
            <a:off x="777240" y="4878070"/>
            <a:ext cx="182880" cy="237744"/>
          </a:xfrm>
          <a:prstGeom prst="rect">
            <a:avLst/>
          </a:prstGeom>
          <a:noFill/>
        </p:spPr>
        <p:txBody>
          <a:bodyPr wrap="square" lIns="0" rIns="0" tIns="0" bIns="0" anchor="t">
            <a:spAutoFit/>
          </a:bodyPr>
          <a:lstStyle/>
          <a:p>
            <a:pPr algn="l">
              <a:lnSpc>
                <a:spcPct val="122000"/>
              </a:lnSpc>
              <a:spcAft>
                <a:spcPts val="200"/>
              </a:spcAft>
            </a:pPr>
            <a:r>
              <a:rPr sz="1300" b="1" i="0">
                <a:solidFill>
                  <a:srgbClr val="B45309"/>
                </a:solidFill>
                <a:latin typeface="Segoe UI"/>
              </a:rPr>
              <a:t>·</a:t>
            </a:r>
          </a:p>
        </p:txBody>
      </p:sp>
      <p:sp>
        <p:nvSpPr>
          <p:cNvPr id="27" name="TextBox 26"/>
          <p:cNvSpPr txBox="1"/>
          <p:nvPr/>
        </p:nvSpPr>
        <p:spPr>
          <a:xfrm>
            <a:off x="996696" y="4887214"/>
            <a:ext cx="4626864" cy="418084"/>
          </a:xfrm>
          <a:prstGeom prst="rect">
            <a:avLst/>
          </a:prstGeom>
          <a:noFill/>
        </p:spPr>
        <p:txBody>
          <a:bodyPr wrap="square" lIns="0" rIns="0" tIns="0" bIns="0" anchor="t">
            <a:spAutoFit/>
          </a:bodyPr>
          <a:lstStyle/>
          <a:p>
            <a:pPr algn="l">
              <a:lnSpc>
                <a:spcPct val="130000"/>
              </a:lnSpc>
              <a:spcAft>
                <a:spcPts val="200"/>
              </a:spcAft>
            </a:pPr>
            <a:r>
              <a:rPr sz="1100" b="1" i="0">
                <a:solidFill>
                  <a:srgbClr val="0F172A"/>
                </a:solidFill>
                <a:latin typeface="Segoe UI"/>
              </a:rPr>
              <a:t>web-next/  </a:t>
            </a:r>
            <a:r>
              <a:rPr sz="1100" b="0" i="0">
                <a:solidFill>
                  <a:srgbClr val="3F4B5C"/>
                </a:solidFill>
                <a:latin typeface="Segoe UI"/>
              </a:rPr>
              <a:t>the Next.js UI, plus four route handlers that proxy to the API</a:t>
            </a:r>
          </a:p>
        </p:txBody>
      </p:sp>
      <p:sp>
        <p:nvSpPr>
          <p:cNvPr id="28" name="TextBox 27"/>
          <p:cNvSpPr txBox="1"/>
          <p:nvPr/>
        </p:nvSpPr>
        <p:spPr>
          <a:xfrm>
            <a:off x="6537960" y="1828800"/>
            <a:ext cx="4572000" cy="201168"/>
          </a:xfrm>
          <a:prstGeom prst="rect">
            <a:avLst/>
          </a:prstGeom>
          <a:noFill/>
        </p:spPr>
        <p:txBody>
          <a:bodyPr wrap="square" lIns="0" rIns="0" tIns="0" bIns="0" anchor="t">
            <a:spAutoFit/>
          </a:bodyPr>
          <a:lstStyle/>
          <a:p>
            <a:pPr algn="l">
              <a:lnSpc>
                <a:spcPct val="122000"/>
              </a:lnSpc>
              <a:spcAft>
                <a:spcPts val="200"/>
              </a:spcAft>
            </a:pPr>
            <a:r>
              <a:rPr sz="850" b="1" i="0" spc="90">
                <a:solidFill>
                  <a:srgbClr val="B45309"/>
                </a:solidFill>
                <a:latin typeface="Segoe UI"/>
              </a:rPr>
              <a:t>INSIDE CORE.PY, IN THIS ORDER</a:t>
            </a:r>
          </a:p>
        </p:txBody>
      </p:sp>
      <p:sp>
        <p:nvSpPr>
          <p:cNvPr id="29" name="Rectangle 28"/>
          <p:cNvSpPr/>
          <p:nvPr/>
        </p:nvSpPr>
        <p:spPr>
          <a:xfrm>
            <a:off x="6537960" y="2157984"/>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37960" y="2249424"/>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1</a:t>
            </a:r>
          </a:p>
        </p:txBody>
      </p:sp>
      <p:sp>
        <p:nvSpPr>
          <p:cNvPr id="31" name="TextBox 30"/>
          <p:cNvSpPr txBox="1"/>
          <p:nvPr/>
        </p:nvSpPr>
        <p:spPr>
          <a:xfrm>
            <a:off x="6848856" y="2231136"/>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Structured outputs</a:t>
            </a:r>
          </a:p>
        </p:txBody>
      </p:sp>
      <p:sp>
        <p:nvSpPr>
          <p:cNvPr id="32" name="TextBox 31"/>
          <p:cNvSpPr txBox="1"/>
          <p:nvPr/>
        </p:nvSpPr>
        <p:spPr>
          <a:xfrm>
            <a:off x="8823960" y="2249424"/>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the Pydantic schema</a:t>
            </a:r>
          </a:p>
        </p:txBody>
      </p:sp>
      <p:sp>
        <p:nvSpPr>
          <p:cNvPr id="33" name="Rectangle 32"/>
          <p:cNvSpPr/>
          <p:nvPr/>
        </p:nvSpPr>
        <p:spPr>
          <a:xfrm>
            <a:off x="6537960" y="2542032"/>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37960" y="2633472"/>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2</a:t>
            </a:r>
          </a:p>
        </p:txBody>
      </p:sp>
      <p:sp>
        <p:nvSpPr>
          <p:cNvPr id="35" name="TextBox 34"/>
          <p:cNvSpPr txBox="1"/>
          <p:nvPr/>
        </p:nvSpPr>
        <p:spPr>
          <a:xfrm>
            <a:off x="6848856" y="2615184"/>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Guardrails</a:t>
            </a:r>
          </a:p>
        </p:txBody>
      </p:sp>
      <p:sp>
        <p:nvSpPr>
          <p:cNvPr id="36" name="TextBox 35"/>
          <p:cNvSpPr txBox="1"/>
          <p:nvPr/>
        </p:nvSpPr>
        <p:spPr>
          <a:xfrm>
            <a:off x="8823960" y="2633472"/>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input and output validation</a:t>
            </a:r>
          </a:p>
        </p:txBody>
      </p:sp>
      <p:sp>
        <p:nvSpPr>
          <p:cNvPr id="37" name="Rectangle 36"/>
          <p:cNvSpPr/>
          <p:nvPr/>
        </p:nvSpPr>
        <p:spPr>
          <a:xfrm>
            <a:off x="6537960" y="292608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37960" y="3017520"/>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3</a:t>
            </a:r>
          </a:p>
        </p:txBody>
      </p:sp>
      <p:sp>
        <p:nvSpPr>
          <p:cNvPr id="39" name="TextBox 38"/>
          <p:cNvSpPr txBox="1"/>
          <p:nvPr/>
        </p:nvSpPr>
        <p:spPr>
          <a:xfrm>
            <a:off x="6848856" y="2999232"/>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Disambiguation</a:t>
            </a:r>
          </a:p>
        </p:txBody>
      </p:sp>
      <p:sp>
        <p:nvSpPr>
          <p:cNvPr id="40" name="TextBox 39"/>
          <p:cNvSpPr txBox="1"/>
          <p:nvPr/>
        </p:nvSpPr>
        <p:spPr>
          <a:xfrm>
            <a:off x="8823960" y="3017520"/>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audit, then hold or file</a:t>
            </a:r>
          </a:p>
        </p:txBody>
      </p:sp>
      <p:sp>
        <p:nvSpPr>
          <p:cNvPr id="41" name="Rectangle 40"/>
          <p:cNvSpPr/>
          <p:nvPr/>
        </p:nvSpPr>
        <p:spPr>
          <a:xfrm>
            <a:off x="6537960" y="3310128"/>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37960" y="3401568"/>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4</a:t>
            </a:r>
          </a:p>
        </p:txBody>
      </p:sp>
      <p:sp>
        <p:nvSpPr>
          <p:cNvPr id="43" name="TextBox 42"/>
          <p:cNvSpPr txBox="1"/>
          <p:nvPr/>
        </p:nvSpPr>
        <p:spPr>
          <a:xfrm>
            <a:off x="6848856" y="3383280"/>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LLMOps</a:t>
            </a:r>
          </a:p>
        </p:txBody>
      </p:sp>
      <p:sp>
        <p:nvSpPr>
          <p:cNvPr id="44" name="TextBox 43"/>
          <p:cNvSpPr txBox="1"/>
          <p:nvPr/>
        </p:nvSpPr>
        <p:spPr>
          <a:xfrm>
            <a:off x="8823960" y="3401568"/>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MLflow-wrapped extraction</a:t>
            </a:r>
          </a:p>
        </p:txBody>
      </p:sp>
      <p:sp>
        <p:nvSpPr>
          <p:cNvPr id="45" name="Rectangle 44"/>
          <p:cNvSpPr/>
          <p:nvPr/>
        </p:nvSpPr>
        <p:spPr>
          <a:xfrm>
            <a:off x="6537960" y="3694176"/>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537960" y="3785616"/>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5</a:t>
            </a:r>
          </a:p>
        </p:txBody>
      </p:sp>
      <p:sp>
        <p:nvSpPr>
          <p:cNvPr id="47" name="TextBox 46"/>
          <p:cNvSpPr txBox="1"/>
          <p:nvPr/>
        </p:nvSpPr>
        <p:spPr>
          <a:xfrm>
            <a:off x="6848856" y="3767328"/>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Memory</a:t>
            </a:r>
          </a:p>
        </p:txBody>
      </p:sp>
      <p:sp>
        <p:nvSpPr>
          <p:cNvPr id="48" name="TextBox 47"/>
          <p:cNvSpPr txBox="1"/>
          <p:nvPr/>
        </p:nvSpPr>
        <p:spPr>
          <a:xfrm>
            <a:off x="8823960" y="3785616"/>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the SQLite ledger</a:t>
            </a:r>
          </a:p>
        </p:txBody>
      </p:sp>
      <p:sp>
        <p:nvSpPr>
          <p:cNvPr id="49" name="Rectangle 48"/>
          <p:cNvSpPr/>
          <p:nvPr/>
        </p:nvSpPr>
        <p:spPr>
          <a:xfrm>
            <a:off x="6537960" y="4078224"/>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537960" y="4169664"/>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6</a:t>
            </a:r>
          </a:p>
        </p:txBody>
      </p:sp>
      <p:sp>
        <p:nvSpPr>
          <p:cNvPr id="51" name="TextBox 50"/>
          <p:cNvSpPr txBox="1"/>
          <p:nvPr/>
        </p:nvSpPr>
        <p:spPr>
          <a:xfrm>
            <a:off x="6848856" y="4151376"/>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SQL agent</a:t>
            </a:r>
          </a:p>
        </p:txBody>
      </p:sp>
      <p:sp>
        <p:nvSpPr>
          <p:cNvPr id="52" name="TextBox 51"/>
          <p:cNvSpPr txBox="1"/>
          <p:nvPr/>
        </p:nvSpPr>
        <p:spPr>
          <a:xfrm>
            <a:off x="8823960" y="4169664"/>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text-to-SQL + scope isolation</a:t>
            </a:r>
          </a:p>
        </p:txBody>
      </p:sp>
      <p:sp>
        <p:nvSpPr>
          <p:cNvPr id="53" name="Rectangle 52"/>
          <p:cNvSpPr/>
          <p:nvPr/>
        </p:nvSpPr>
        <p:spPr>
          <a:xfrm>
            <a:off x="6537960" y="4462272"/>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6537960" y="4553712"/>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7</a:t>
            </a:r>
          </a:p>
        </p:txBody>
      </p:sp>
      <p:sp>
        <p:nvSpPr>
          <p:cNvPr id="55" name="TextBox 54"/>
          <p:cNvSpPr txBox="1"/>
          <p:nvPr/>
        </p:nvSpPr>
        <p:spPr>
          <a:xfrm>
            <a:off x="6848856" y="4535424"/>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RAG</a:t>
            </a:r>
          </a:p>
        </p:txBody>
      </p:sp>
      <p:sp>
        <p:nvSpPr>
          <p:cNvPr id="56" name="TextBox 55"/>
          <p:cNvSpPr txBox="1"/>
          <p:nvPr/>
        </p:nvSpPr>
        <p:spPr>
          <a:xfrm>
            <a:off x="8823960" y="4553712"/>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embeddings and retrieval</a:t>
            </a:r>
          </a:p>
        </p:txBody>
      </p:sp>
      <p:sp>
        <p:nvSpPr>
          <p:cNvPr id="57" name="Rectangle 56"/>
          <p:cNvSpPr/>
          <p:nvPr/>
        </p:nvSpPr>
        <p:spPr>
          <a:xfrm>
            <a:off x="6537960" y="4846320"/>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537960" y="4937760"/>
            <a:ext cx="274320" cy="237744"/>
          </a:xfrm>
          <a:prstGeom prst="rect">
            <a:avLst/>
          </a:prstGeom>
          <a:noFill/>
        </p:spPr>
        <p:txBody>
          <a:bodyPr wrap="square" lIns="0" rIns="0" tIns="0" bIns="0" anchor="t">
            <a:spAutoFit/>
          </a:bodyPr>
          <a:lstStyle/>
          <a:p>
            <a:pPr algn="l">
              <a:lnSpc>
                <a:spcPct val="122000"/>
              </a:lnSpc>
              <a:spcAft>
                <a:spcPts val="200"/>
              </a:spcAft>
            </a:pPr>
            <a:r>
              <a:rPr sz="1000" b="1" i="0">
                <a:solidFill>
                  <a:srgbClr val="C2C9D2"/>
                </a:solidFill>
                <a:latin typeface="Segoe UI"/>
              </a:rPr>
              <a:t>8</a:t>
            </a:r>
          </a:p>
        </p:txBody>
      </p:sp>
      <p:sp>
        <p:nvSpPr>
          <p:cNvPr id="59" name="TextBox 58"/>
          <p:cNvSpPr txBox="1"/>
          <p:nvPr/>
        </p:nvSpPr>
        <p:spPr>
          <a:xfrm>
            <a:off x="6848856" y="4919472"/>
            <a:ext cx="1920240" cy="237744"/>
          </a:xfrm>
          <a:prstGeom prst="rect">
            <a:avLst/>
          </a:prstGeom>
          <a:noFill/>
        </p:spPr>
        <p:txBody>
          <a:bodyPr wrap="square" lIns="0" rIns="0" tIns="0" bIns="0" anchor="t">
            <a:spAutoFit/>
          </a:bodyPr>
          <a:lstStyle/>
          <a:p>
            <a:pPr algn="l">
              <a:lnSpc>
                <a:spcPct val="122000"/>
              </a:lnSpc>
              <a:spcAft>
                <a:spcPts val="200"/>
              </a:spcAft>
            </a:pPr>
            <a:r>
              <a:rPr sz="1150" b="1" i="0">
                <a:solidFill>
                  <a:srgbClr val="0F172A"/>
                </a:solidFill>
                <a:latin typeface="Segoe UI"/>
              </a:rPr>
              <a:t>ReAct agent</a:t>
            </a:r>
          </a:p>
        </p:txBody>
      </p:sp>
      <p:sp>
        <p:nvSpPr>
          <p:cNvPr id="60" name="TextBox 59"/>
          <p:cNvSpPr txBox="1"/>
          <p:nvPr/>
        </p:nvSpPr>
        <p:spPr>
          <a:xfrm>
            <a:off x="8823960" y="4937760"/>
            <a:ext cx="2560320" cy="237744"/>
          </a:xfrm>
          <a:prstGeom prst="rect">
            <a:avLst/>
          </a:prstGeom>
          <a:noFill/>
        </p:spPr>
        <p:txBody>
          <a:bodyPr wrap="square" lIns="0" rIns="0" tIns="0" bIns="0" anchor="t">
            <a:spAutoFit/>
          </a:bodyPr>
          <a:lstStyle/>
          <a:p>
            <a:pPr algn="l">
              <a:lnSpc>
                <a:spcPct val="122000"/>
              </a:lnSpc>
              <a:spcAft>
                <a:spcPts val="200"/>
              </a:spcAft>
            </a:pPr>
            <a:r>
              <a:rPr sz="1050" b="0" i="0">
                <a:solidFill>
                  <a:srgbClr val="8A94A3"/>
                </a:solidFill>
                <a:latin typeface="Segoe UI"/>
              </a:rPr>
              <a:t>tools, loop, agent guardrails</a:t>
            </a:r>
          </a:p>
        </p:txBody>
      </p:sp>
      <p:sp>
        <p:nvSpPr>
          <p:cNvPr id="61" name="Rectangle 60"/>
          <p:cNvSpPr/>
          <p:nvPr/>
        </p:nvSpPr>
        <p:spPr>
          <a:xfrm>
            <a:off x="6537960" y="5230368"/>
            <a:ext cx="4846320" cy="8230"/>
          </a:xfrm>
          <a:prstGeom prst="rect">
            <a:avLst/>
          </a:prstGeom>
          <a:solidFill>
            <a:srgbClr val="E7EA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77240" y="5358384"/>
            <a:ext cx="731520" cy="2011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77240" y="5559552"/>
            <a:ext cx="10637215" cy="365760"/>
          </a:xfrm>
          <a:prstGeom prst="rect">
            <a:avLst/>
          </a:prstGeom>
          <a:noFill/>
        </p:spPr>
        <p:txBody>
          <a:bodyPr wrap="square" lIns="0" rIns="0" tIns="0" bIns="0" anchor="t">
            <a:spAutoFit/>
          </a:bodyPr>
          <a:lstStyle/>
          <a:p>
            <a:pPr algn="l">
              <a:lnSpc>
                <a:spcPct val="122000"/>
              </a:lnSpc>
              <a:spcAft>
                <a:spcPts val="200"/>
              </a:spcAft>
            </a:pPr>
            <a:r>
              <a:rPr sz="1500" b="1" i="0">
                <a:solidFill>
                  <a:srgbClr val="0F172A"/>
                </a:solidFill>
                <a:latin typeface="Segoe UI"/>
              </a:rPr>
              <a:t>5,477 lines in one file is a fair criticism.</a:t>
            </a:r>
          </a:p>
        </p:txBody>
      </p:sp>
      <p:sp>
        <p:nvSpPr>
          <p:cNvPr id="64" name="TextBox 63"/>
          <p:cNvSpPr txBox="1"/>
          <p:nvPr/>
        </p:nvSpPr>
        <p:spPr>
          <a:xfrm>
            <a:off x="777240" y="5840730"/>
            <a:ext cx="10637215" cy="310896"/>
          </a:xfrm>
          <a:prstGeom prst="rect">
            <a:avLst/>
          </a:prstGeom>
          <a:noFill/>
        </p:spPr>
        <p:txBody>
          <a:bodyPr wrap="square" lIns="0" rIns="0" tIns="0" bIns="0" anchor="t">
            <a:spAutoFit/>
          </a:bodyPr>
          <a:lstStyle/>
          <a:p>
            <a:pPr algn="l">
              <a:lnSpc>
                <a:spcPct val="122000"/>
              </a:lnSpc>
              <a:spcAft>
                <a:spcPts val="200"/>
              </a:spcAft>
            </a:pPr>
            <a:r>
              <a:rPr sz="1150" b="0" i="0">
                <a:solidFill>
                  <a:srgbClr val="8A94A3"/>
                </a:solidFill>
                <a:latin typeface="Segoe UI"/>
              </a:rPr>
              <a:t>The eight sections are why it still navigates, and they are the seams: each one lifts into its own module behind the same function names, and nothing above it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