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6400" b="1" i="0">
                <a:solidFill>
                  <a:srgbClr val="0F172A"/>
                </a:solidFill>
                <a:latin typeface="Segoe UI"/>
              </a:rPr>
              <a:t>Snag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95728"/>
            <a:ext cx="1005840" cy="274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670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700" b="0" i="0">
                <a:solidFill>
                  <a:srgbClr val="0F172A"/>
                </a:solidFill>
                <a:latin typeface="Segoe UI"/>
              </a:rPr>
              <a:t>A receipt-ledger agent — </a:t>
            </a:r>
            <a:r>
              <a:rPr sz="1700" b="0" i="0">
                <a:solidFill>
                  <a:srgbClr val="B45309"/>
                </a:solidFill>
                <a:latin typeface="Segoe UI"/>
              </a:rPr>
              <a:t>every peso traced back to the paper it came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72384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Gemma 4 — e4b vision (OCR) + 12B text (planner)  ·  nomic-embed-text 137M  ·  served through Ollama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any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523" y="383133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4683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9547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local vision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4966" y="383133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2126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990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10 arithmetic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409" y="383133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569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File or 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4433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ledger, or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9852" y="383133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7012" y="3840480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Ask &amp; 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1876" y="4096512"/>
            <a:ext cx="20177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in plain English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6634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40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Next.js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00017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05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337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FastAPI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22794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114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Ollama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80283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003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4603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SQLite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37772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029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12092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MLflow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95261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1D6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69581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52750" y="4919472"/>
            <a:ext cx="201168" cy="201168"/>
          </a:xfrm>
          <a:prstGeom prst="roundRect">
            <a:avLst>
              <a:gd name="adj" fmla="val 28000"/>
            </a:avLst>
          </a:prstGeom>
          <a:solidFill>
            <a:srgbClr val="E9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7070" y="493776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3F4B5C"/>
                </a:solidFill>
                <a:latin typeface="Segoe UI"/>
              </a:rPr>
              <a:t>Pydantic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431536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Nathaniel Adiong  ·  Clarence Ang  ·  Fraser Sim  ·  Aaron 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724144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Introduction to Agentic AI (STAI100)  ·  Stratpoint × DLSU  ·  Week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Use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300 paper receipts a month, one pair of hands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11680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64308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receipts a month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9384" y="213969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6544" y="2011680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2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6544" y="2464308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to type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8688" y="213969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8" y="2011680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10 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8" y="2464308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every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7991" y="213969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5151" y="2011680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B45309"/>
                </a:solidFill>
                <a:latin typeface="Segoe UI"/>
              </a:rPr>
              <a:t>₱1,562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5151" y="2464308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of labour a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20040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340156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91C1C"/>
                </a:solidFill>
                <a:latin typeface="Segoe UI"/>
              </a:rPr>
              <a:t>AND NOBODY CHECKS THE 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" y="3767328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A line misread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4059936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the total still looks fine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2978" y="379476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9010" y="3767328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VAT added twice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9010" y="4059936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on a VAT-inclusive receipt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8717" y="379476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4749" y="3767328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Entered twice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4749" y="4059936"/>
            <a:ext cx="30885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one purchase, two rows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89204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09320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Found at filing time. Months later. If at all.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404561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Every figure in this deck exists because that sentence is expensive.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Use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One thing done well beats five done adequately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8230" cy="324612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1883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 spc="90">
                <a:solidFill>
                  <a:srgbClr val="047857"/>
                </a:solidFill>
                <a:latin typeface="Segoe UI"/>
              </a:rPr>
              <a:t>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28600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243230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Photographed PH retail receipt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16352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96265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Its own printed arithmetic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46704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4930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Hold the bad, file the good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77056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02336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A ledger you can ask, month after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407408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5537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Bank / card statement 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93776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8836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 spc="90">
                <a:solidFill>
                  <a:srgbClr val="B91C1C"/>
                </a:solidFill>
                <a:latin typeface="Segoe UI"/>
              </a:rPr>
              <a:t>OUT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228600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37960" y="243230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Invoices, payslips, contracts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2816352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37960" y="296265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Auto-correcting what the model read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7960" y="3346704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37960" y="34930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Multi-user accounts, cloud sync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3877056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37960" y="402336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PDF statements, refunds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4407408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37960" y="45537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Handwriting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960" y="493776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77240" y="525780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7240" y="545896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 chat window cannot re-photograph the paper, keep a ledger, or stay on your machine.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740146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That is the sanity check the brief asks for — and the reason this is an agent.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Use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The arithmetic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Every input carries its 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2880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103120"/>
            <a:ext cx="12390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414016"/>
            <a:ext cx="12390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receipts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9404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5164" y="2103120"/>
            <a:ext cx="12390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5164" y="2414016"/>
            <a:ext cx="12390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min / receipt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103120"/>
            <a:ext cx="110185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414016"/>
            <a:ext cx="110185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min /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1516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37276" y="2103120"/>
            <a:ext cx="10698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10.0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7276" y="2414016"/>
            <a:ext cx="10698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hours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1988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7748" y="2103120"/>
            <a:ext cx="13030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₱156.25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7748" y="2414016"/>
            <a:ext cx="13030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per hour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2103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103120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₱1,562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1392" y="2414016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per month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2761488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80944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WITH SNAG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" y="3255264"/>
            <a:ext cx="12390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300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" y="3566160"/>
            <a:ext cx="12390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receipts / 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9404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55164" y="3255264"/>
            <a:ext cx="13944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15.4%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55164" y="3566160"/>
            <a:ext cx="13944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held for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8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0248" y="3255264"/>
            <a:ext cx="115671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0248" y="3566160"/>
            <a:ext cx="115671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min / held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1828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7588" y="3255264"/>
            <a:ext cx="1051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7588" y="3566160"/>
            <a:ext cx="1051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min / 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4012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8A94A3"/>
                </a:solidFill>
                <a:latin typeface="Segoe UI"/>
              </a:rPr>
              <a:t>=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9772" y="3255264"/>
            <a:ext cx="11292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₱64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9772" y="3566160"/>
            <a:ext cx="11292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per month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3913632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4187952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 i="0">
                <a:solidFill>
                  <a:srgbClr val="0F172A"/>
                </a:solidFill>
                <a:latin typeface="Segoe UI"/>
              </a:rPr>
              <a:t>9.6 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4627321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saved / month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36544" y="4187952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 i="0">
                <a:solidFill>
                  <a:srgbClr val="0F172A"/>
                </a:solidFill>
                <a:latin typeface="Segoe UI"/>
              </a:rPr>
              <a:t>₱1,498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36544" y="4627321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saved / month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5848" y="4187952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 i="0">
                <a:solidFill>
                  <a:srgbClr val="B45309"/>
                </a:solidFill>
                <a:latin typeface="Segoe UI"/>
              </a:rPr>
              <a:t>₱17,982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5848" y="4627321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saved / year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5151" y="4187952"/>
            <a:ext cx="26593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 i="0">
                <a:solidFill>
                  <a:srgbClr val="B45309"/>
                </a:solidFill>
                <a:latin typeface="Segoe UI"/>
              </a:rPr>
              <a:t>26×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55151" y="4627321"/>
            <a:ext cx="2659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less human time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7240" y="55778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77240" y="572414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Measured vs assumed: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15.4% and 14.9 s/page come from our own traces. The other six inputs are declared assumptions, and every one carries its unit.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Use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What it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Per month, for the same 300 receipts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20" y="1824228"/>
            <a:ext cx="3179978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1520" y="2007108"/>
            <a:ext cx="317997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0F172A"/>
                </a:solidFill>
                <a:latin typeface="Segoe UI"/>
              </a:rPr>
              <a:t>₱1,160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20" y="2565806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3F4B5C"/>
                </a:solidFill>
                <a:latin typeface="Segoe UI"/>
              </a:rPr>
              <a:t>a Claude subscription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20" y="2785262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$20 a month — and you wire it up yourself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7259" y="1824228"/>
            <a:ext cx="3179978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7259" y="2007108"/>
            <a:ext cx="317997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B45309"/>
                </a:solidFill>
                <a:latin typeface="Segoe UI"/>
              </a:rPr>
              <a:t>₱99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7259" y="2565806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3F4B5C"/>
                </a:solidFill>
                <a:latin typeface="Segoe UI"/>
              </a:rPr>
              <a:t>Snag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7259" y="2785262"/>
            <a:ext cx="317997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set up, running, nothing to configure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20" y="3310128"/>
            <a:ext cx="2448763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12× cheaper than a subscription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68299" y="3310128"/>
            <a:ext cx="1521562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0 minutes of setup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2336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4224528"/>
            <a:ext cx="10637215" cy="2887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700" b="1" i="0" dirty="0">
                <a:solidFill>
                  <a:srgbClr val="0F172A"/>
                </a:solidFill>
                <a:latin typeface="Segoe UI"/>
              </a:rPr>
              <a:t>Cheaper and already running.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535881"/>
            <a:ext cx="10637215" cy="1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 dirty="0">
                <a:solidFill>
                  <a:srgbClr val="8A94A3"/>
                </a:solidFill>
                <a:latin typeface="Segoe UI"/>
              </a:rPr>
              <a:t>The convenient option is the one people keep using. A subscription you have to configure is a subscription that sits unused by week two</a:t>
            </a:r>
            <a:r>
              <a:rPr lang="en-US" sz="1150" b="0" i="0" dirty="0">
                <a:solidFill>
                  <a:srgbClr val="8A94A3"/>
                </a:solidFill>
                <a:latin typeface="Segoe UI"/>
              </a:rPr>
              <a:t>.</a:t>
            </a:r>
            <a:endParaRPr sz="1150" b="0" i="0" dirty="0">
              <a:solidFill>
                <a:srgbClr val="8A94A3"/>
              </a:solidFill>
              <a:latin typeface="Segoe U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77240" y="539496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554126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Unit of measurement: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all three are pesos per month for 300 receipts. The subscription line converts $20 at ₱58 = $1 — confirm the rate before you quote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RRL</a:t>
            </a:r>
          </a:p>
        </p:txBody>
      </p:sp>
      <p:sp>
        <p:nvSpPr>
          <p:cNvPr id="4" name="Rectangle 3"/>
          <p:cNvSpPr/>
          <p:nvPr/>
        </p:nvSpPr>
        <p:spPr>
          <a:xfrm>
            <a:off x="1636776" y="571500"/>
            <a:ext cx="21031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Review of related 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One unlabelled receipt decided it before accuracy ever came 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131820"/>
            <a:ext cx="3931920" cy="1074420"/>
          </a:xfrm>
          <a:prstGeom prst="roundRect">
            <a:avLst>
              <a:gd name="adj" fmla="val 2000"/>
            </a:avLst>
          </a:prstGeom>
          <a:solidFill>
            <a:srgbClr val="FD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88920" y="2057400"/>
            <a:ext cx="786384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88920" y="3131820"/>
            <a:ext cx="786384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88920" y="4206240"/>
            <a:ext cx="786384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8230" cy="214884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20840" y="2057400"/>
            <a:ext cx="8230" cy="214884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652760" y="2057400"/>
            <a:ext cx="8230" cy="214884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88920" y="1783080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LEAVES THE MACHINE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F172A"/>
                </a:solidFill>
                <a:latin typeface="Segoe UI"/>
              </a:rPr>
              <a:t>STAYS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459736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NEEDS
LABELLED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589020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F172A"/>
                </a:solidFill>
                <a:latin typeface="Segoe UI"/>
              </a:rPr>
              <a:t>ZERO-SHOT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3317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23042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3F4B5C"/>
                </a:solidFill>
                <a:latin typeface="Segoe UI"/>
              </a:rPr>
              <a:t>Cloud Document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26060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Textract · Google · Azure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3317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23042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3F4B5C"/>
                </a:solidFill>
                <a:latin typeface="Segoe UI"/>
              </a:rPr>
              <a:t>Layout transformers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60604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LayoutLMv3 · Donut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340614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B91C1C"/>
                </a:solidFill>
                <a:latin typeface="Segoe UI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33787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3F4B5C"/>
                </a:solidFill>
                <a:latin typeface="Segoe UI"/>
              </a:rPr>
              <a:t>Classical OCR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36804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Tesseract · PaddleOCR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40614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47857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33787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Open vision-language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6804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B45309"/>
                </a:solidFill>
                <a:latin typeface="Segoe UI"/>
              </a:rPr>
              <a:t>Qwen2.5-VL · Llama 3.2-V · Gemma 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48056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46634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WHAT WE 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4937760"/>
            <a:ext cx="35457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B45309"/>
                </a:solidFill>
                <a:latin typeface="Segoe UI"/>
              </a:rPr>
              <a:t>Vision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5193792"/>
            <a:ext cx="343601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gemma4:e4b  ·  ~4B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5818" y="49286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2978" y="4937760"/>
            <a:ext cx="35457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Planner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7842" y="5193792"/>
            <a:ext cx="343601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gemma4:12b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1557" y="4928616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8717" y="4937760"/>
            <a:ext cx="35457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Embedding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3581" y="5193792"/>
            <a:ext cx="343601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nomic-embed-text  ·  137M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70585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The trade-off we recorded rather than resolved: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e4b is fast but misses the VAT block; 12b reads it and garbles the OR number. The audit catches both.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76272" y="571500"/>
            <a:ext cx="78638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System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737360"/>
            <a:ext cx="10637215" cy="786384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5256" y="181965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1" i="0" spc="90">
                <a:solidFill>
                  <a:srgbClr val="8A94A3"/>
                </a:solidFill>
                <a:latin typeface="Segoe UI"/>
              </a:rPr>
              <a:t>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88336"/>
            <a:ext cx="10637215" cy="1481328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5256" y="277063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1" i="0" spc="90">
                <a:solidFill>
                  <a:srgbClr val="8A94A3"/>
                </a:solidFill>
                <a:latin typeface="Segoe UI"/>
              </a:rPr>
              <a:t>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34256"/>
            <a:ext cx="10637215" cy="1481328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5256" y="44165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1" i="0" spc="90">
                <a:solidFill>
                  <a:srgbClr val="8A94A3"/>
                </a:solidFill>
                <a:latin typeface="Segoe UI"/>
              </a:rPr>
              <a:t>MODELS &amp; STORAGE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1965960"/>
            <a:ext cx="2139696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Scanner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drag · camera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28416" y="1965960"/>
            <a:ext cx="2139696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Dashboard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cashflow · budgets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2704" y="1965960"/>
            <a:ext cx="2139696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Chat panel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streams its thinking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36992" y="1965960"/>
            <a:ext cx="2139696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Review table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confidence badges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61320" y="2066544"/>
            <a:ext cx="68445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850" b="1">
                <a:solidFill>
                  <a:srgbClr val="3F4B5C"/>
                </a:solidFill>
                <a:latin typeface="Segoe UI"/>
              </a:rPr>
              <a:t>Next.js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Web server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same-origin proxy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80944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API server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~70 endpoints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02352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B45309"/>
                </a:solidFill>
                <a:latin typeface="Segoe UI"/>
              </a:rPr>
              <a:t>Extraction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guardrails · audit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B45309"/>
                </a:solidFill>
                <a:latin typeface="Segoe UI"/>
              </a:rPr>
              <a:t>Agent runtime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ReAct · 10 tools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2907792"/>
            <a:ext cx="1993392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172A"/>
                </a:solidFill>
                <a:latin typeface="Segoe UI"/>
              </a:rPr>
              <a:t>Finance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balances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6" y="3547872"/>
            <a:ext cx="2432304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Reconciler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no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11296" y="3547872"/>
            <a:ext cx="2432304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Index builder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embeds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3056" y="3547872"/>
            <a:ext cx="2432304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Query planner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text-to-SQL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14816" y="3547872"/>
            <a:ext cx="2432304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Tracer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one run per call</a:t>
            </a:r>
          </a:p>
        </p:txBody>
      </p:sp>
      <p:sp>
        <p:nvSpPr>
          <p:cNvPr id="32" name="Magnetic Disk 31"/>
          <p:cNvSpPr/>
          <p:nvPr/>
        </p:nvSpPr>
        <p:spPr>
          <a:xfrm>
            <a:off x="914400" y="4553712"/>
            <a:ext cx="1920240" cy="1024128"/>
          </a:xfrm>
          <a:prstGeom prst="flowChartMagneticDisk">
            <a:avLst/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Ledger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18 tables · persists</a:t>
            </a:r>
          </a:p>
        </p:txBody>
      </p:sp>
      <p:sp>
        <p:nvSpPr>
          <p:cNvPr id="33" name="Magnetic Disk 32"/>
          <p:cNvSpPr/>
          <p:nvPr/>
        </p:nvSpPr>
        <p:spPr>
          <a:xfrm>
            <a:off x="3072384" y="4553712"/>
            <a:ext cx="1645920" cy="1024128"/>
          </a:xfrm>
          <a:prstGeom prst="flowChartMagneticDisk">
            <a:avLst/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Vectors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embeddings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4553712"/>
            <a:ext cx="4709160" cy="1024128"/>
          </a:xfrm>
          <a:prstGeom prst="roundRect">
            <a:avLst>
              <a:gd name="adj" fmla="val 3000"/>
            </a:avLst>
          </a:prstGeom>
          <a:solidFill>
            <a:srgbClr val="FD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93792" y="4626864"/>
            <a:ext cx="4297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1" i="0" spc="90">
                <a:solidFill>
                  <a:srgbClr val="B45309"/>
                </a:solidFill>
                <a:latin typeface="Segoe UI"/>
              </a:rPr>
              <a:t>LOCAL INFERENCE SERVER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75504" y="4882896"/>
            <a:ext cx="138988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F172A"/>
                </a:solidFill>
                <a:latin typeface="Segoe UI"/>
              </a:rPr>
              <a:t>Vision</a:t>
            </a:r>
          </a:p>
          <a:p>
            <a:pPr algn="ctr">
              <a:lnSpc>
                <a:spcPct val="100000"/>
              </a:lnSpc>
            </a:pPr>
            <a:r>
              <a:rPr sz="750">
                <a:solidFill>
                  <a:srgbClr val="B45309"/>
                </a:solidFill>
                <a:latin typeface="Segoe UI"/>
              </a:rPr>
              <a:t>gemma4:e4b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56832" y="4882896"/>
            <a:ext cx="138988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F172A"/>
                </a:solidFill>
                <a:latin typeface="Segoe UI"/>
              </a:rPr>
              <a:t>Planner</a:t>
            </a:r>
          </a:p>
          <a:p>
            <a:pPr algn="ctr">
              <a:lnSpc>
                <a:spcPct val="100000"/>
              </a:lnSpc>
            </a:pPr>
            <a:r>
              <a:rPr sz="750">
                <a:solidFill>
                  <a:srgbClr val="B45309"/>
                </a:solidFill>
                <a:latin typeface="Segoe UI"/>
              </a:rPr>
              <a:t>gemma4:12b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160" y="4882896"/>
            <a:ext cx="138988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F172A"/>
                </a:solidFill>
                <a:latin typeface="Segoe UI"/>
              </a:rPr>
              <a:t>Embed</a:t>
            </a:r>
          </a:p>
          <a:p>
            <a:pPr algn="ctr">
              <a:lnSpc>
                <a:spcPct val="100000"/>
              </a:lnSpc>
            </a:pPr>
            <a:r>
              <a:rPr sz="750">
                <a:solidFill>
                  <a:srgbClr val="B45309"/>
                </a:solidFill>
                <a:latin typeface="Segoe UI"/>
              </a:rPr>
              <a:t>nomic-embed-text</a:t>
            </a:r>
          </a:p>
        </p:txBody>
      </p:sp>
      <p:sp>
        <p:nvSpPr>
          <p:cNvPr id="39" name="Magnetic Disk 38"/>
          <p:cNvSpPr/>
          <p:nvPr/>
        </p:nvSpPr>
        <p:spPr>
          <a:xfrm>
            <a:off x="9948672" y="4553712"/>
            <a:ext cx="1463040" cy="1024128"/>
          </a:xfrm>
          <a:prstGeom prst="flowChartMagneticDisk">
            <a:avLst/>
          </a:prstGeom>
          <a:solidFill>
            <a:srgbClr val="FFFFFF"/>
          </a:solidFill>
          <a:ln w="9525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Segoe UI"/>
              </a:rPr>
              <a:t>Traces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8A94A3"/>
                </a:solidFill>
                <a:latin typeface="Segoe UI"/>
              </a:rPr>
              <a:t>every call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011680" y="2468880"/>
            <a:ext cx="0" cy="402336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0800000">
            <a:off x="1977390" y="2836926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4133088" y="2468880"/>
            <a:ext cx="0" cy="402336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10800000">
            <a:off x="4098798" y="2836926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6254496" y="2468880"/>
            <a:ext cx="0" cy="402336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10800000">
            <a:off x="6220206" y="2836926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8375904" y="2468880"/>
            <a:ext cx="0" cy="402336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10800000">
            <a:off x="8341614" y="2836926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1874520" y="4041648"/>
            <a:ext cx="0" cy="457200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10800000">
            <a:off x="1840230" y="446455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965960" y="411480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0" i="0">
                <a:solidFill>
                  <a:srgbClr val="8A94A3"/>
                </a:solidFill>
                <a:latin typeface="Segoe UI"/>
              </a:rPr>
              <a:t>persist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31920" y="4041648"/>
            <a:ext cx="0" cy="457200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10800000">
            <a:off x="3897630" y="446455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023360" y="411480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0" i="0">
                <a:solidFill>
                  <a:srgbClr val="8A94A3"/>
                </a:solidFill>
                <a:latin typeface="Segoe UI"/>
              </a:rPr>
              <a:t>index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60920" y="4041648"/>
            <a:ext cx="0" cy="457200"/>
          </a:xfrm>
          <a:prstGeom prst="line">
            <a:avLst/>
          </a:prstGeom>
          <a:ln w="9525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0800000">
            <a:off x="7326630" y="4464558"/>
            <a:ext cx="68580" cy="68580"/>
          </a:xfrm>
          <a:prstGeom prst="triangl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452360" y="411480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0" i="0">
                <a:solidFill>
                  <a:srgbClr val="B45309"/>
                </a:solidFill>
                <a:latin typeface="Segoe UI"/>
              </a:rPr>
              <a:t>infer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680192" y="4041648"/>
            <a:ext cx="0" cy="457200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10800000">
            <a:off x="10645902" y="4464558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771632" y="411480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00" b="0" i="0">
                <a:solidFill>
                  <a:srgbClr val="8A94A3"/>
                </a:solidFill>
                <a:latin typeface="Segoe UI"/>
              </a:rPr>
              <a:t>trace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779008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7240" y="5925312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One command brings up four containers: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web · API · traces · inference.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76272" y="571500"/>
            <a:ext cx="78638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Component 14 — one receipt, ten stages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vision model is stage 3. Stages 5 and 6 exist because it is not perfect.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828800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Guardrail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04683" y="1828800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04683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683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Normalise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32126" y="1828800"/>
            <a:ext cx="1853123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32126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2126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Read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569" y="1828800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9569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569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Clean 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7012" y="1828800"/>
            <a:ext cx="1853123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87012" y="195681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B45309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7012" y="2176272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Recover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2670048"/>
            <a:ext cx="1853123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B45309"/>
                </a:solidFill>
                <a:latin typeface="Segoe U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Re-read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04683" y="2670048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04683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4683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Validate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32126" y="2670048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32126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32126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Audit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59569" y="2670048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59569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9569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Hold?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87012" y="2670048"/>
            <a:ext cx="1853123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287012" y="279806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1" i="0">
                <a:solidFill>
                  <a:srgbClr val="C2C9D2"/>
                </a:solidFill>
                <a:latin typeface="Segoe UI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7012" y="3017520"/>
            <a:ext cx="18531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Save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365760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" y="38404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THE RE-READ LOOP — WHAT STAGES 5 AND 6 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Audit fails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67523" y="4160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4683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Pick the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4966" y="4160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32126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Crop + enlarge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22409" y="4160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59569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Ask again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9852" y="416052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012" y="4169664"/>
            <a:ext cx="21274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3F4B5C"/>
                </a:solidFill>
                <a:latin typeface="Segoe UI"/>
              </a:rPr>
              <a:t>Keep only if better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93776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7240" y="51389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Transcribe, then repair — never compute.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5450281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Only stage 6 may overwrite a figure, and only if the receipt's own arithmetic improves. The audit, the review gate, the ledger and every answer come from what it 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13 of 14 components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brief asks for 8. Owner initials under 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Prompt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CA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6842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296842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6842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Disambiguation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6842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FS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6444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16444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6444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444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FS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36047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36047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6047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Memory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6047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FS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5649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5649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5649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Guardrails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5649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CA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75251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75251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5251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Chat UI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251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NA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4853" y="1920240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94853" y="2066544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4853" y="2423160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API endpoint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4853" y="2834640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NA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LLMOps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96842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296842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96842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ReAct / tools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96842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16444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816444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16444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SQL + critique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16444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6047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36047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C2C9D2"/>
                </a:solidFill>
                <a:latin typeface="Segoe UI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36047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C2C9D2"/>
                </a:solidFill>
                <a:latin typeface="Segoe UI"/>
              </a:rPr>
              <a:t>Multi-agent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6047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B91C1C"/>
                </a:solidFill>
                <a:latin typeface="Segoe UI"/>
              </a:rPr>
              <a:t>not claimed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5649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55649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5649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Advanced RAG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5649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FS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75251" y="3273552"/>
            <a:ext cx="1300146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375251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75251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Evals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5251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94853" y="3273552"/>
            <a:ext cx="1300146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894853" y="3419856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00" b="1" i="0">
                <a:solidFill>
                  <a:srgbClr val="B45309"/>
                </a:solidFill>
                <a:latin typeface="Segoe UI"/>
              </a:rPr>
              <a:t>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94853" y="3776472"/>
            <a:ext cx="130014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 i="0">
                <a:solidFill>
                  <a:srgbClr val="3F4B5C"/>
                </a:solidFill>
                <a:latin typeface="Segoe UI"/>
              </a:rPr>
              <a:t>CV / DS 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94853" y="4187952"/>
            <a:ext cx="130014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40">
                <a:solidFill>
                  <a:srgbClr val="C2C9D2"/>
                </a:solidFill>
                <a:latin typeface="Segoe UI"/>
              </a:rPr>
              <a:t>ALL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457200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777240" y="4773168"/>
            <a:ext cx="1164946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CA — Clarence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70202" y="4773168"/>
            <a:ext cx="1022299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FS — Fraser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20517" y="4773168"/>
            <a:ext cx="1236269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NA — Nathaniel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84802" y="4773168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AG — Aaron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3794" y="4773168"/>
            <a:ext cx="1164946" cy="274320"/>
          </a:xfrm>
          <a:prstGeom prst="roundRect">
            <a:avLst>
              <a:gd name="adj" fmla="val 50000"/>
            </a:avLst>
          </a:prstGeom>
          <a:solidFill>
            <a:srgbClr val="FD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ALL — CV/DS ★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554126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Guardrails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Seven gates on the way in — and the sixteen prompt rules behind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77393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6855" y="177393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47857"/>
                </a:solidFill>
                <a:latin typeface="Segoe UI"/>
              </a:rPr>
              <a:t>LEDGER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29968"/>
            <a:ext cx="10637215" cy="10973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File check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0392" y="2633472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816102" y="2800350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889504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wrong type
&gt; 25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8242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6842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Schema check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69994" y="2633472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2335704" y="2800350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296842" y="2889504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malformed
reply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7844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6444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SQL filter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89596" y="2633472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0800000">
            <a:off x="3855306" y="2800350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16444" y="2889504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not a
SELECT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7447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6047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Scope lock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09199" y="2633472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5374909" y="2800350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36047" y="2889504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reading the
whole ledger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7049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5649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Sanitiser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28801" y="2633472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894511" y="2800350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5649" y="2889504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injection via a
vendor name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6651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251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Grounding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48403" y="2633472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10800000">
            <a:off x="8414113" y="2800350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75251" y="2889504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a figure no
tool returned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6253" y="2176272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94853" y="2176272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Write guards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968005" y="2633472"/>
            <a:ext cx="0" cy="201168"/>
          </a:xfrm>
          <a:prstGeom prst="line">
            <a:avLst/>
          </a:prstGeom>
          <a:ln w="9525">
            <a:solidFill>
              <a:srgbClr val="C2C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10800000">
            <a:off x="9933715" y="2800350"/>
            <a:ext cx="68580" cy="68580"/>
          </a:xfrm>
          <a:prstGeom prst="triangle">
            <a:avLst/>
          </a:prstGeom>
          <a:solidFill>
            <a:srgbClr val="C2C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894853" y="2889504"/>
            <a:ext cx="1336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 i="0">
                <a:solidFill>
                  <a:srgbClr val="8A94A3"/>
                </a:solidFill>
                <a:latin typeface="Segoe UI"/>
              </a:rPr>
              <a:t>wrong account
double entry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" y="37490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393192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EVERY PROMPT RULE IS A BUG WE ALREADY HAD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4224528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60">
                <a:solidFill>
                  <a:srgbClr val="B45309"/>
                </a:solidFill>
                <a:latin typeface="Segoe UI"/>
              </a:rPr>
              <a:t>rule 7b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44805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8A94A3"/>
                </a:solidFill>
                <a:latin typeface="Segoe UI"/>
              </a:rPr>
              <a:t>amount = 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47914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" y="479145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amount = 25.00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22978" y="4224528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60">
                <a:solidFill>
                  <a:srgbClr val="B45309"/>
                </a:solidFill>
                <a:latin typeface="Segoe UI"/>
              </a:rPr>
              <a:t>rule 10b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22978" y="44805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8A94A3"/>
                </a:solidFill>
                <a:latin typeface="Segoe UI"/>
              </a:rPr>
              <a:t>total = 603.39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22978" y="47914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52162" y="479145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total = 545.00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8717" y="4224528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60">
                <a:solidFill>
                  <a:srgbClr val="B45309"/>
                </a:solidFill>
                <a:latin typeface="Segoe UI"/>
              </a:rPr>
              <a:t>rule 14b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8717" y="44805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8A94A3"/>
                </a:solidFill>
                <a:latin typeface="Segoe UI"/>
              </a:rPr>
              <a:t>12 rows, filed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8717" y="47914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7901" y="4791456"/>
            <a:ext cx="29056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12 of 30 → held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55778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77240" y="572414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0 ungrounded numbers across 64 traced agent runs —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every figure the agent stated appeared in a tool observation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The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One planner, ten tools, four steps — and it asks before it acts.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77393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ONE 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029968"/>
            <a:ext cx="17728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286000"/>
            <a:ext cx="166314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+ last 10 turns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2949" y="202082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109" y="2029968"/>
            <a:ext cx="17728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Ambiguous?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4973" y="2286000"/>
            <a:ext cx="166314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ask once, nothing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5818" y="202082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2978" y="2029968"/>
            <a:ext cx="17728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B45309"/>
                </a:solidFill>
                <a:latin typeface="Segoe UI"/>
              </a:rPr>
              <a:t>Thought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7842" y="2286000"/>
            <a:ext cx="166314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what next?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8688" y="202082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8" y="2029968"/>
            <a:ext cx="17728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B45309"/>
                </a:solidFill>
                <a:latin typeface="Segoe UI"/>
              </a:rPr>
              <a:t>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0712" y="2286000"/>
            <a:ext cx="166314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one 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1557" y="202082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8717" y="2029968"/>
            <a:ext cx="17728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B45309"/>
                </a:solidFill>
                <a:latin typeface="Segoe UI"/>
              </a:rPr>
              <a:t>Observation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3581" y="2286000"/>
            <a:ext cx="166314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sanitised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4426" y="2020824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C2C9D2"/>
                </a:solidFill>
                <a:latin typeface="Segoe UI"/>
              </a:rPr>
              <a:t>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1586" y="2029968"/>
            <a:ext cx="177286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Final answer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6450" y="2286000"/>
            <a:ext cx="166314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 i="0">
                <a:solidFill>
                  <a:srgbClr val="8A94A3"/>
                </a:solidFill>
                <a:latin typeface="Segoe UI"/>
              </a:rPr>
              <a:t>only what tools returned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67004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8A94A3"/>
                </a:solidFill>
                <a:latin typeface="Segoe UI"/>
              </a:rPr>
              <a:t>Thought → Action → Observation repeats at most four times, then the answer is forced.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20040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" y="3383280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TWO WAYS TO ANSWER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3675888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38587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Numbers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387705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B45309"/>
                </a:solidFill>
                <a:latin typeface="Consolas"/>
              </a:rPr>
              <a:t>sql_ledger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3877056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Scope  ›  Generate  ›  Validate  ›  Run  ›  Format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33425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517136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Content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5354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B45309"/>
                </a:solidFill>
                <a:latin typeface="Consolas"/>
              </a:rPr>
              <a:t>search_receipts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5354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Compose  ›  Embed  ›  Store  ›  Match  ›  Cite (#N)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99262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777240" y="5175504"/>
            <a:ext cx="808330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10 tools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713586" y="5175504"/>
            <a:ext cx="665683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4 read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07285" y="5175504"/>
            <a:ext cx="737006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6 write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72307" y="5175504"/>
            <a:ext cx="1022299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1 SQL retry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22622" y="5175504"/>
            <a:ext cx="1307592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grounding check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570585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Scope is a different database, not a WHERE clause —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a model that forgets the filter cannot leak, because the rows are not there.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571500"/>
            <a:ext cx="658368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The API, and the traces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Typed in, typed out — and every model call recorded.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1773936"/>
            <a:ext cx="8230" cy="356616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177393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FIVE OF ~70 ENDPOINTS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29968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1579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POST /extract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395728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image | pdf  →  fields · line items · confidence · audit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724912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8529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POST /extract/batch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090672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list[image|pdf]  →  list[result], one error slot each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19856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54787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GET  /analytics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6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granularity, year?, month?  →  cashflow · totals · budgets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14800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242816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POST /agent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80560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question, receipt_ids?  →  answer, steps[], grounded: bool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9744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937760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1" i="0">
                <a:solidFill>
                  <a:srgbClr val="0F172A"/>
                </a:solidFill>
                <a:latin typeface="Consolas"/>
              </a:rPr>
              <a:t>POST /agent/stream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175504"/>
            <a:ext cx="6126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>
                <a:solidFill>
                  <a:srgbClr val="3F4B5C"/>
                </a:solidFill>
                <a:latin typeface="Consolas"/>
              </a:rPr>
              <a:t>question  →  SSE: start · token · action · observation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504688"/>
            <a:ext cx="62179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43800" y="1773936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WHAT EVERY CALL RECORDS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066544"/>
            <a:ext cx="36576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216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2519172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0" i="0">
                <a:solidFill>
                  <a:srgbClr val="3F4B5C"/>
                </a:solidFill>
                <a:latin typeface="Segoe UI"/>
              </a:rPr>
              <a:t>runs recorded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2834640"/>
            <a:ext cx="386791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43800" y="2953512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3F4B5C"/>
                </a:solidFill>
                <a:latin typeface="Segoe UI"/>
              </a:rPr>
              <a:t>latency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3236976"/>
            <a:ext cx="386791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43800" y="33558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3F4B5C"/>
                </a:solidFill>
                <a:latin typeface="Segoe UI"/>
              </a:rPr>
              <a:t>tokens in / 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43800" y="3639312"/>
            <a:ext cx="386791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43800" y="375818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3F4B5C"/>
                </a:solidFill>
                <a:latin typeface="Segoe UI"/>
              </a:rPr>
              <a:t>audit codes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43800" y="4041648"/>
            <a:ext cx="386791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43800" y="4160520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3F4B5C"/>
                </a:solidFill>
                <a:latin typeface="Segoe UI"/>
              </a:rPr>
              <a:t>steps taken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43800" y="4443984"/>
            <a:ext cx="386791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43800" y="4562856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3F4B5C"/>
                </a:solidFill>
                <a:latin typeface="Segoe UI"/>
              </a:rPr>
              <a:t>tools 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4846320"/>
            <a:ext cx="386791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43800" y="4965192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3F4B5C"/>
                </a:solidFill>
                <a:latin typeface="Segoe UI"/>
              </a:rPr>
              <a:t>grounded?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43800" y="5248656"/>
            <a:ext cx="386791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77240" y="5742432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88873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Every call is kept, not sampled: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latency and token counts are a count over all 216 runs, and the trace UI is part of the demo.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Three models,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same receipts through each one. Accuracy, speed, and what it costs.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773936"/>
            <a:ext cx="2606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7393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7393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PRECISION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77393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773936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TIME / RECEIPT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773936"/>
            <a:ext cx="213055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029968"/>
            <a:ext cx="10637215" cy="10973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2249424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Claude Cowork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54203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hosted  ·  the ceiling we measured against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304288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97%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304288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304288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98%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30428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15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304288"/>
            <a:ext cx="213055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$20 / month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07238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3145536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qwen2.5-VL 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438144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local  ·  self-hosted on our own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200400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3200400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87%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200400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94%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200400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5–6 min 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3200400"/>
            <a:ext cx="213055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free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96849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4041648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50" b="1" i="0">
                <a:solidFill>
                  <a:srgbClr val="B45309"/>
                </a:solidFill>
                <a:latin typeface="Segoe UI"/>
              </a:rPr>
              <a:t>Gemma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334256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00" b="0" i="0">
                <a:solidFill>
                  <a:srgbClr val="8A94A3"/>
                </a:solidFill>
                <a:latin typeface="Segoe UI"/>
              </a:rPr>
              <a:t>free API  ·  what the system runs today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96512"/>
            <a:ext cx="1188720" cy="254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 dirty="0">
                <a:solidFill>
                  <a:srgbClr val="0F172A"/>
                </a:solidFill>
                <a:latin typeface="Segoe UI"/>
              </a:rPr>
              <a:t>51.7%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096512"/>
            <a:ext cx="1188720" cy="254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 dirty="0">
                <a:solidFill>
                  <a:srgbClr val="0F172A"/>
                </a:solidFill>
                <a:latin typeface="Segoe UI"/>
              </a:rPr>
              <a:t>92.5%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096512"/>
            <a:ext cx="1188720" cy="254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 dirty="0">
                <a:solidFill>
                  <a:srgbClr val="0F172A"/>
                </a:solidFill>
                <a:latin typeface="Segoe UI"/>
              </a:rPr>
              <a:t>69.8%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4096512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21.7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4096512"/>
            <a:ext cx="213055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free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566928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7240" y="5815584"/>
            <a:ext cx="10637215" cy="178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 dirty="0">
                <a:solidFill>
                  <a:srgbClr val="0F172A"/>
                </a:solidFill>
                <a:latin typeface="Segoe UI"/>
              </a:rPr>
              <a:t>* </a:t>
            </a:r>
            <a:r>
              <a:rPr sz="1050" b="1" i="0" dirty="0" err="1">
                <a:solidFill>
                  <a:srgbClr val="0F172A"/>
                </a:solidFill>
                <a:latin typeface="Segoe UI"/>
              </a:rPr>
              <a:t>qwen</a:t>
            </a:r>
            <a:r>
              <a:rPr sz="1050" b="1" i="0" dirty="0">
                <a:solidFill>
                  <a:srgbClr val="0F172A"/>
                </a:solidFill>
                <a:latin typeface="Segoe UI"/>
              </a:rPr>
              <a:t> ran on a card with less VRAM than the model needs,  </a:t>
            </a:r>
            <a:r>
              <a:rPr sz="1050" b="0" i="0" dirty="0">
                <a:solidFill>
                  <a:srgbClr val="8A94A3"/>
                </a:solidFill>
                <a:latin typeface="Segoe UI"/>
              </a:rPr>
              <a:t>so part of every page fell back to the CPU. That is where the five to six minutes goes</a:t>
            </a:r>
            <a:r>
              <a:rPr lang="en-US" sz="1050" b="0" i="0" dirty="0">
                <a:solidFill>
                  <a:srgbClr val="8A94A3"/>
                </a:solidFill>
                <a:latin typeface="Segoe UI"/>
              </a:rPr>
              <a:t>,</a:t>
            </a:r>
            <a:r>
              <a:rPr sz="1050" b="0" i="0" dirty="0">
                <a:solidFill>
                  <a:srgbClr val="8A94A3"/>
                </a:solidFill>
                <a:latin typeface="Segoe UI"/>
              </a:rPr>
              <a:t> not the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One full reasoning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Case RCT-006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0" y="1828800"/>
            <a:ext cx="8230" cy="310896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828800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029968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F172A"/>
                </a:solidFill>
                <a:latin typeface="Segoe UI"/>
              </a:rPr>
              <a:t>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197510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Segoe UI"/>
              </a:rPr>
              <a:t>What is the capital of France?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542032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4320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THOUGHT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68833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Segoe UI"/>
              </a:rPr>
              <a:t>Not this user's money. My scope says no.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255264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456432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401568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Segoe UI"/>
              </a:rPr>
              <a:t>none — no tool was called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968496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169664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047857"/>
                </a:solidFill>
                <a:latin typeface="Segoe UI"/>
              </a:rPr>
              <a:t>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11480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Segoe UI"/>
              </a:rPr>
              <a:t>"I'm not sure how to answer that."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681728"/>
            <a:ext cx="640080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4992624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5193792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Refusing is a decision, not a failure to answer.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7497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The planner reached a final answer without calling a single tool — which is exactly what the scope lock is for.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1828800"/>
            <a:ext cx="3566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WHAT THE GUARDRAIL DID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2157984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0" y="230428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In 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304288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B91C1C"/>
                </a:solidFill>
                <a:latin typeface="Segoe UI"/>
              </a:rPr>
              <a:t>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2688336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0" y="283464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Tools called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2834640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8A94A3"/>
                </a:solidFill>
                <a:latin typeface="Segoe UI"/>
              </a:rPr>
              <a:t>none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3218688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63840" y="33649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Ledger writes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0" y="3364992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8A94A3"/>
                </a:solidFill>
                <a:latin typeface="Segoe UI"/>
              </a:rPr>
              <a:t>none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3749040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863840" y="389534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3F4B5C"/>
                </a:solidFill>
                <a:latin typeface="Segoe UI"/>
              </a:rPr>
              <a:t>Answer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3895344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047857"/>
                </a:solidFill>
                <a:latin typeface="Segoe UI"/>
              </a:rPr>
              <a:t>an honest 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4279392"/>
            <a:ext cx="3547872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0" y="4645152"/>
            <a:ext cx="3566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500" b="1" i="0">
                <a:solidFill>
                  <a:srgbClr val="B45309"/>
                </a:solidFill>
                <a:latin typeface="Segoe UI"/>
              </a:rPr>
              <a:t>An agent that will not
say "I don't know"
will say anything.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571500"/>
            <a:ext cx="530352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What we cannot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828799"/>
            <a:ext cx="3687268" cy="4571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011680"/>
            <a:ext cx="3687268" cy="2293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The free model is the weak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" y="2340864"/>
            <a:ext cx="3644857" cy="186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37.1% on line-item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2978" y="1828799"/>
            <a:ext cx="3687268" cy="4571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22978" y="2011680"/>
            <a:ext cx="3687268" cy="2293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Not enough GPU VRAM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2977" y="2340864"/>
            <a:ext cx="3644857" cy="186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part of every page ran on CPU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8717" y="1828799"/>
            <a:ext cx="3687268" cy="4571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68717" y="2011680"/>
            <a:ext cx="3687268" cy="2293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No human 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8716" y="2340864"/>
            <a:ext cx="3644857" cy="186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97% is against ground truth, not a bookkeeper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8716" y="2706623"/>
            <a:ext cx="318081" cy="1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2978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8717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C2C9D2"/>
                </a:solidFill>
                <a:latin typeface="Segoe UI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57784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Wrap-up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571500"/>
            <a:ext cx="46634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Who built 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Two components each, at minimum. Component 14 is owned by all four.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773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22576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Nathaniel Adiong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51760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Chat UI  ·  API  ·  Docker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6544" y="1773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6544" y="2322576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Clarence 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6544" y="2651760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Prompts  ·  Schema  ·  Guardrails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5848" y="1773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8" y="2322576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Fraser 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8" y="2651760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RAG  ·  Memory  · 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5151" y="1773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5151" y="2322576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Aaron 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5151" y="2651760"/>
            <a:ext cx="22935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SQL  ·  ReAct  ·  LLMOps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4670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529584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RETROSPECTIVE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03904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041648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MOST SURPRISING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96849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Two receipts came back identical — a prompt cache, not a misread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48056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4718304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HARDEST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645152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Getting a free model accurate enough that the checks are a safety net, not the product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157216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394960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NEXT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5321808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Benchmark the models in week one, not week twelve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833872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Wrap-up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571500"/>
            <a:ext cx="46634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984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Five steps, in this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Scan a receipt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04683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04683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683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Show a held 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32126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32126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2126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Ask for a number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569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9569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569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Record by talking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7012" y="2011680"/>
            <a:ext cx="1853123" cy="1280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87012" y="217627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7012" y="2505456"/>
            <a:ext cx="18531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Open the traces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0332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3895344"/>
            <a:ext cx="4937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B45309"/>
                </a:solidFill>
                <a:latin typeface="Segoe UI"/>
              </a:rPr>
              <a:t>DISCLOSED UP FRONT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169664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0" i="0">
                <a:solidFill>
                  <a:srgbClr val="3F4B5C"/>
                </a:solidFill>
                <a:latin typeface="Segoe UI"/>
              </a:rPr>
              <a:t>Shared endpoint. If it is down we switch to a recording — and say so as we switch.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895344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 spc="90">
                <a:solidFill>
                  <a:srgbClr val="8A94A3"/>
                </a:solidFill>
                <a:latin typeface="Segoe UI"/>
              </a:rPr>
              <a:t>WHERE TO LOOK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4151376"/>
            <a:ext cx="879653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5629" y="4151376"/>
            <a:ext cx="808330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API docs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81974" y="4151376"/>
            <a:ext cx="808330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3F4B5C"/>
                </a:solidFill>
                <a:latin typeface="Segoe UI"/>
              </a:rPr>
              <a:t>Trace 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53542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100" b="0" i="0">
                <a:solidFill>
                  <a:srgbClr val="8A94A3"/>
                </a:solidFill>
                <a:latin typeface="Segoe UI"/>
              </a:rPr>
              <a:t>Fallback recording on disk, same five steps.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394960"/>
            <a:ext cx="10637215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554126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</a:rPr>
              <a:t>The demo is the argument.  </a:t>
            </a:r>
            <a:r>
              <a:rPr sz="1050" b="0" i="0">
                <a:solidFill>
                  <a:srgbClr val="8A94A3"/>
                </a:solidFill>
                <a:latin typeface="Segoe UI"/>
              </a:rPr>
              <a:t>Everything before this slide was setup.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6776" y="36576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RRL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6576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65760"/>
            <a:ext cx="1078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9392" y="365760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0" i="0" spc="20">
                <a:solidFill>
                  <a:srgbClr val="C2C9D2"/>
                </a:solidFill>
                <a:latin typeface="Segoe UI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8928" y="365760"/>
            <a:ext cx="886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00" b="1" i="0" spc="20">
                <a:solidFill>
                  <a:srgbClr val="0F172A"/>
                </a:solidFill>
                <a:latin typeface="Segoe UI"/>
              </a:rPr>
              <a:t>Wrap-up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571500"/>
            <a:ext cx="466344" cy="155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Take away four things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850" b="1" i="0">
                <a:solidFill>
                  <a:srgbClr val="8A94A3"/>
                </a:solidFill>
                <a:latin typeface="Segoe UI"/>
              </a:rPr>
              <a:t>Snag</a:t>
            </a:r>
            <a:r>
              <a:rPr sz="850" b="0" i="0">
                <a:solidFill>
                  <a:srgbClr val="C2C9D2"/>
                </a:solidFill>
                <a:latin typeface="Segoe UI"/>
              </a:rPr>
              <a:t>   every peso traced back to the paper it came 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9895" y="638251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  <a:spcAft>
                <a:spcPts val="200"/>
              </a:spcAft>
            </a:pPr>
            <a:r>
              <a:rPr sz="850" b="0" i="0">
                <a:solidFill>
                  <a:srgbClr val="C2C9D2"/>
                </a:solidFill>
                <a:latin typeface="Segoe UI"/>
              </a:rPr>
              <a:t>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4846320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02996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50" b="1" i="0">
                <a:solidFill>
                  <a:srgbClr val="0F172A"/>
                </a:solidFill>
                <a:latin typeface="Segoe UI"/>
              </a:rPr>
              <a:t>The CV model is the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9572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audit · gate · ledger · answers all derive from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82880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50" b="1" i="0">
                <a:solidFill>
                  <a:srgbClr val="0F172A"/>
                </a:solidFill>
                <a:latin typeface="Segoe UI"/>
              </a:rPr>
              <a:t>₱99 a month, already set 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9572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16× cheaper than typing them · 12× cheaper than a subscription you configure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10896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31012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50" b="1" i="0">
                <a:solidFill>
                  <a:srgbClr val="0F172A"/>
                </a:solidFill>
                <a:latin typeface="Segoe UI"/>
              </a:rPr>
              <a:t>Three models, measured the same 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7588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i="0">
                <a:solidFill>
                  <a:srgbClr val="8A94A3"/>
                </a:solidFill>
                <a:latin typeface="Segoe UI"/>
              </a:rPr>
              <a:t>97 / 94 / 98 hosted · 85 / 87 / 94 local · every figure on one slide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108960"/>
            <a:ext cx="4846320" cy="8230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331012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650" b="1" i="0">
                <a:solidFill>
                  <a:srgbClr val="0F172A"/>
                </a:solidFill>
                <a:latin typeface="Segoe UI"/>
              </a:rPr>
              <a:t>We found our own failures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937760"/>
            <a:ext cx="731520" cy="2011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2229</Words>
  <Application>Microsoft Office PowerPoint</Application>
  <PresentationFormat>Widescreen</PresentationFormat>
  <Paragraphs>638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Clarence Ang</cp:lastModifiedBy>
  <cp:revision>4</cp:revision>
  <dcterms:created xsi:type="dcterms:W3CDTF">2013-01-27T09:14:16Z</dcterms:created>
  <dcterms:modified xsi:type="dcterms:W3CDTF">2026-08-09T18:22:42Z</dcterms:modified>
  <cp:category/>
</cp:coreProperties>
</file>