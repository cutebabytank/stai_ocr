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600" b="1" i="0">
                <a:solidFill>
                  <a:srgbClr val="FFFFFF"/>
                </a:solidFill>
                <a:latin typeface="Segoe UI"/>
              </a:rPr>
              <a:t>Snag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1673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A receipt-ledger agent — </a:t>
            </a:r>
            <a:r>
              <a:rPr sz="1700" b="1" i="0">
                <a:solidFill>
                  <a:srgbClr val="B45309"/>
                </a:solidFill>
                <a:latin typeface="Segoe UI"/>
              </a:rPr>
              <a:t>every peso traced back to the paper it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Gemma 4 — e4b vision (OCR) + 12B text (planner)  ·  nomic-embed-text 137M  ·  served through 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036003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Photo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Segoe UI"/>
              </a:rPr>
              <a:t>any receipt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03515" y="320040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781239" y="31501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963" y="2743200"/>
            <a:ext cx="2036003" cy="91440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Read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Segoe UI"/>
              </a:rPr>
              <a:t>local vision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2398" y="320040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000122" y="31501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7846" y="2743200"/>
            <a:ext cx="2036003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Check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Segoe UI"/>
              </a:rPr>
              <a:t>10 arithmetic tests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1281" y="320040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219005" y="31501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96729" y="2743200"/>
            <a:ext cx="2036003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File or hold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Segoe UI"/>
              </a:rPr>
              <a:t>ledger, or human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60164" y="320040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9437888" y="31501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15612" y="2743200"/>
            <a:ext cx="2036003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Ask &amp; record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Segoe UI"/>
              </a:rPr>
              <a:t>in plain English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Next.js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6445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5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933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2810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8298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Ollama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58766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03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4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SQLite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84722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29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0210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MLflow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10678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6166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Docker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6634" y="396849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9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2122" y="40599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Segoe UI"/>
              </a:rPr>
              <a:t>Pydantic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63440"/>
            <a:ext cx="269748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Nathaniel Adiong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Chat UI · API · Docker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663440"/>
            <a:ext cx="269748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Clarence Ang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Prompts · Schema · Guardrails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663440"/>
            <a:ext cx="269748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Fraser Sim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RAG · Memory ·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663440"/>
            <a:ext cx="269748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Aaron Go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SQL · ReAct · LLMOps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Introduction to Agentic AI (STAI100)  ·  Stratpoint × DLSU  ·  Week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300 paper receipts a month, one pair of hands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00784"/>
            <a:ext cx="259072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Segoe UI"/>
              </a:rPr>
              <a:t>300 receipts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6B7280"/>
                </a:solidFill>
                <a:latin typeface="Segoe UI"/>
              </a:rPr>
              <a:t>a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58236" y="2180844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3335960" y="213055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13684" y="1700784"/>
            <a:ext cx="259072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Segoe UI"/>
              </a:rPr>
              <a:t>Typed by hand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6B7280"/>
                </a:solidFill>
                <a:latin typeface="Segoe UI"/>
              </a:rPr>
              <a:t>2 min each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1840" y="2180844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6109564" y="213055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87288" y="1700784"/>
            <a:ext cx="2590724" cy="96012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Segoe UI"/>
              </a:rPr>
              <a:t>10 hours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6B7280"/>
                </a:solidFill>
                <a:latin typeface="Segoe UI"/>
              </a:rPr>
              <a:t>every month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05443" y="2180844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883167" y="213055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0891" y="1700784"/>
            <a:ext cx="2590724" cy="96012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Segoe UI"/>
              </a:rPr>
              <a:t>₱1,562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6B7280"/>
                </a:solidFill>
                <a:latin typeface="Segoe UI"/>
              </a:rPr>
              <a:t>of labour a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723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AND NOBODY CHECKS THE MATH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83280"/>
            <a:ext cx="3520440" cy="93268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651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" y="367588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6027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A line misread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38953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the total still looks fine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3" y="3383280"/>
            <a:ext cx="3520440" cy="93268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651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1999" y="367588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7" y="36027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VAT added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7" y="38953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on a VAT-inclusive receipt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7" y="3383280"/>
            <a:ext cx="3520440" cy="93268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651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84463" y="367588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36027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Entered twice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1" y="38953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one purchase, two rows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9904" y="4480560"/>
            <a:ext cx="0" cy="384048"/>
          </a:xfrm>
          <a:prstGeom prst="line">
            <a:avLst/>
          </a:prstGeom>
          <a:ln w="3048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39612" y="481431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108960" y="4882896"/>
            <a:ext cx="5943600" cy="694944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06577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Found at filing time. Months later. If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5577840" cy="3218688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1627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6824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 i="0">
                <a:solidFill>
                  <a:srgbClr val="047857"/>
                </a:solidFill>
                <a:latin typeface="Segoe UI"/>
              </a:rPr>
              <a:t>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212848"/>
            <a:ext cx="502920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04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Photographed PH retail receipt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688336"/>
            <a:ext cx="502920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7797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Its own printed arithmetic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163824"/>
            <a:ext cx="502920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25526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Hold the bad, file the good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39312"/>
            <a:ext cx="502920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307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A ledger you can ask, month after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502920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Bank / card statement 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463040"/>
            <a:ext cx="5029200" cy="321868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21424" y="1627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16824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 i="0">
                <a:solidFill>
                  <a:srgbClr val="B91C1C"/>
                </a:solidFill>
                <a:latin typeface="Segoe UI"/>
              </a:rPr>
              <a:t>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212848"/>
            <a:ext cx="44805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3042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Invoices, payslips, contracts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688336"/>
            <a:ext cx="44805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7797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Auto-correcting what the model read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163824"/>
            <a:ext cx="44805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2552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Multi-user accounts, cloud sync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639312"/>
            <a:ext cx="44805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7307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PDF statements, refunds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114800"/>
            <a:ext cx="44805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Handwriting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Why not just ask ChatGPT?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BROWSER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1920240"/>
            <a:ext cx="15483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Upload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4496" y="2194560"/>
            <a:ext cx="9144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485644" y="214426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3368" y="1920240"/>
            <a:ext cx="15483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Read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39184" y="2194560"/>
            <a:ext cx="9144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180332" y="214426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58056" y="1920240"/>
            <a:ext cx="15483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151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then it forgets — nothing typed, nothing stored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SNAG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37360"/>
            <a:ext cx="5212080" cy="141732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1920240"/>
            <a:ext cx="110642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Read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63256" y="2194560"/>
            <a:ext cx="54864" cy="0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7767828" y="214426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45552" y="1920240"/>
            <a:ext cx="110642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Check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79408" y="2194560"/>
            <a:ext cx="54864" cy="0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8983980" y="214426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61704" y="1920240"/>
            <a:ext cx="110642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Re-read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95560" y="2194560"/>
            <a:ext cx="54864" cy="0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0200132" y="214426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77856" y="1920240"/>
            <a:ext cx="110642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6151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and every receipt stays, typed, forever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2186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THREE THINGS A CHAT WINDOW CANNOT 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566160"/>
            <a:ext cx="35204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4048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Re-photograph the paper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3" y="3566160"/>
            <a:ext cx="35204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52543" y="384048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Keep a typed ledger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7" y="3566160"/>
            <a:ext cx="35204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7" y="384048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Stay on your machine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873752"/>
            <a:ext cx="2926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020056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Our test: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if a browser LLM can do it in one sitting, it is not our pitch.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The 10×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Our mentor's bar: you need two of the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05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1554480"/>
            <a:ext cx="2596896" cy="2596896"/>
          </a:xfrm>
          <a:prstGeom prst="ellipse">
            <a:avLst/>
          </a:prstGeom>
          <a:solidFill>
            <a:srgbClr val="ECFDF5"/>
          </a:solidFill>
          <a:ln w="279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047857"/>
                </a:solidFill>
                <a:latin typeface="Segoe UI"/>
              </a:rPr>
              <a:t>CHEAPER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88336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Segoe UI"/>
              </a:rPr>
              <a:t>₱1,562 → ₱64
per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37490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4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Oval 17"/>
          <p:cNvSpPr/>
          <p:nvPr/>
        </p:nvSpPr>
        <p:spPr>
          <a:xfrm>
            <a:off x="4782312" y="1554480"/>
            <a:ext cx="2596896" cy="2596896"/>
          </a:xfrm>
          <a:prstGeom prst="ellipse">
            <a:avLst/>
          </a:prstGeom>
          <a:solidFill>
            <a:srgbClr val="ECFDF5"/>
          </a:solidFill>
          <a:ln w="279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047857"/>
                </a:solidFill>
                <a:latin typeface="Segoe UI"/>
              </a:rPr>
              <a:t>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88336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Segoe UI"/>
              </a:rPr>
              <a:t>10 hours → 23 min
per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7490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4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Oval 21"/>
          <p:cNvSpPr/>
          <p:nvPr/>
        </p:nvSpPr>
        <p:spPr>
          <a:xfrm>
            <a:off x="8714232" y="1554480"/>
            <a:ext cx="2596896" cy="2596896"/>
          </a:xfrm>
          <a:prstGeom prst="ellipse">
            <a:avLst/>
          </a:prstGeom>
          <a:solidFill>
            <a:srgbClr val="FEF2F2"/>
          </a:solidFill>
          <a:ln w="279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91C1C"/>
                </a:solidFill>
                <a:latin typeface="Segoe UI"/>
              </a:rPr>
              <a:t>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688336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Segoe UI"/>
              </a:rPr>
              <a:t>unmeasured —
not claimed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37490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4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047857"/>
                </a:solidFill>
                <a:latin typeface="Segoe UI"/>
              </a:rPr>
              <a:t>2 of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29260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26694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Why not "better":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no labelled receipts means no accuracy figure — and we will not invent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The arithmetic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input carries its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10911535" cy="969264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490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7190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0665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receipts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7190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7190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0665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min / receipt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17190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190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0665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min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7190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171907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06654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190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71907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₱156.25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066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/ hour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17190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71907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₱1,562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066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/ month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9904" y="2505456"/>
            <a:ext cx="0" cy="182880"/>
          </a:xfrm>
          <a:prstGeom prst="line">
            <a:avLst/>
          </a:prstGeom>
          <a:ln w="3048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0800000">
            <a:off x="6039612" y="2638044"/>
            <a:ext cx="100584" cy="100584"/>
          </a:xfrm>
          <a:prstGeom prst="triangl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2706624"/>
            <a:ext cx="10911535" cy="969264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27340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WITH SNAG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96265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3101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receipts /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296265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296265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15.4%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3310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held for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6265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96265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3101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min / held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96265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2962656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33101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min /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96265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296265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₱64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3101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/ month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04164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9.6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5039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saved / month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404164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₱1,498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45039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saved / 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04164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B45309"/>
                </a:solidFill>
                <a:latin typeface="Segoe UI"/>
              </a:rPr>
              <a:t>₱17,982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5039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saved / year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39" y="404164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B45309"/>
                </a:solidFill>
                <a:latin typeface="Segoe UI"/>
              </a:rPr>
              <a:t>26×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39" y="45039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less human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Flat per organisation — and where we 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07</a:t>
            </a:r>
          </a:p>
        </p:txBody>
      </p:sp>
      <p:pic>
        <p:nvPicPr>
          <p:cNvPr id="14" name="Picture 13" descr="chart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350187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26679" y="1463040"/>
            <a:ext cx="3886200" cy="105156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16093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Self-host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18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₱0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9751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you bring the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670048"/>
            <a:ext cx="38862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2816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Appliance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825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Segoe UI"/>
              </a:rPr>
              <a:t>₱60,000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31821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₱1,667/mo over 36 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877056"/>
            <a:ext cx="38862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4023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Hosted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0325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Segoe UI"/>
              </a:rPr>
              <a:t>₱1,500 / org /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4389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flat, not per seat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58968"/>
            <a:ext cx="29260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605272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Read the red line against us: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under ~334 receipts a month the box costs more than the bookkeeper it replaces.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RRL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3779" y="534924"/>
            <a:ext cx="190195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Review of related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Two questions killed three of four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627632"/>
            <a:ext cx="3429000" cy="18059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627632"/>
            <a:ext cx="3429000" cy="18059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3433572"/>
            <a:ext cx="3429000" cy="18059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3433572"/>
            <a:ext cx="3429000" cy="1805940"/>
          </a:xfrm>
          <a:prstGeom prst="rect">
            <a:avLst/>
          </a:prstGeom>
          <a:solidFill>
            <a:srgbClr val="ECFDF5"/>
          </a:solidFill>
          <a:ln w="279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31673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B91C1C"/>
                </a:solidFill>
                <a:latin typeface="Segoe UI"/>
              </a:rPr>
              <a:t>LEAVES THE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31673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047857"/>
                </a:solidFill>
                <a:latin typeface="Segoe UI"/>
              </a:rPr>
              <a:t>STAYS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3134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B91C1C"/>
                </a:solidFill>
                <a:latin typeface="Segoe UI"/>
              </a:rPr>
              <a:t>NEEDS
LABELLED
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42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047857"/>
                </a:solidFill>
                <a:latin typeface="Segoe UI"/>
              </a:rPr>
              <a:t>ZERO-SHOT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130552"/>
            <a:ext cx="2880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Cloud Document AI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Textract · Google · Azure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130552"/>
            <a:ext cx="2880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Layout transformers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LayoutLMv3 · Donut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936492"/>
            <a:ext cx="2880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Classical OCR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Tesseract · PaddleOCR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72484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79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Open vision-language models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Qwen2.5-VL · Llama 3.2-V · Gemma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59" y="24505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6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59" y="24505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6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59" y="42611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6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0919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RRL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3779" y="534924"/>
            <a:ext cx="190195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Three models, three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59105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374151"/>
                </a:solidFill>
                <a:latin typeface="Segoe UI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568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gemma4:e4b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249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~4B · ≈6 s per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3" y="146304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3" y="159105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374151"/>
                </a:solidFill>
                <a:latin typeface="Segoe UI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3" y="19568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6B7280"/>
                </a:solidFill>
                <a:latin typeface="Segoe UI"/>
              </a:rPr>
              <a:t>gemma4:12b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3" y="2249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12B · routes the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7" y="146304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159105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374151"/>
                </a:solidFill>
                <a:latin typeface="Segoe UI"/>
              </a:rPr>
              <a:t>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568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6B7280"/>
                </a:solidFill>
                <a:latin typeface="Segoe UI"/>
              </a:rPr>
              <a:t>nomic-embed-text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249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137M · 768-dim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44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THE VISION TRADE-OFF WE RECORDED RATHER THAN RESOLVED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73552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401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gemma4:e4b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3383280"/>
            <a:ext cx="632764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≈6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785615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794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fast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16966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788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misses line items and the VAT block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273552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401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gemma4:12b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383280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≈20 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785615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794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reads the VAT block exactly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16966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1788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garbles descriptions and the OR number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89904" y="4718304"/>
            <a:ext cx="0" cy="256032"/>
          </a:xfrm>
          <a:prstGeom prst="line">
            <a:avLst/>
          </a:prstGeom>
          <a:ln w="3048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039612" y="4924044"/>
            <a:ext cx="100584" cy="100584"/>
          </a:xfrm>
          <a:prstGeom prst="triangl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94560" y="4992624"/>
            <a:ext cx="7772400" cy="676656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51755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Neither is reliably accurate — so the audit catches what the fast one misses.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006" y="534924"/>
            <a:ext cx="815644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44752"/>
            <a:ext cx="10911535" cy="786384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49961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22576"/>
            <a:ext cx="10911535" cy="1554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10911535" cy="1517904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9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MODELS &amp;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664208"/>
            <a:ext cx="22860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Scanner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drag · camera ·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1664208"/>
            <a:ext cx="45720" cy="4754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1664208"/>
            <a:ext cx="22860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Dashboard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cashflow · budgets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664208"/>
            <a:ext cx="45720" cy="4754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52160" y="1664208"/>
            <a:ext cx="22860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Chat panel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streams its thinking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664208"/>
            <a:ext cx="45720" cy="4754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1664208"/>
            <a:ext cx="22860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Review table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confidence badges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664208"/>
            <a:ext cx="45720" cy="4754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44200" y="1773936"/>
            <a:ext cx="90159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374151"/>
                </a:solidFill>
                <a:latin typeface="Segoe UI"/>
              </a:rPr>
              <a:t>Next.js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56032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Web server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same-origin proxy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560320"/>
            <a:ext cx="45720" cy="5486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27248" y="256032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API server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~70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2560320"/>
            <a:ext cx="45720" cy="5486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40096" y="256032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Extraction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guardrails · 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0096" y="2560320"/>
            <a:ext cx="45720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52944" y="256032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Agent runtime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ReAct · 10 tools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2944" y="2560320"/>
            <a:ext cx="45720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65792" y="256032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Segoe UI"/>
              </a:rPr>
              <a:t>Finance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balances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5792" y="2560320"/>
            <a:ext cx="45720" cy="5486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3255264"/>
            <a:ext cx="2468880" cy="4754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Reconciler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no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3255264"/>
            <a:ext cx="45720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66160" y="3255264"/>
            <a:ext cx="2468880" cy="4754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Index builder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embeds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3255264"/>
            <a:ext cx="45720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3255264"/>
            <a:ext cx="2468880" cy="4754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Query planner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text-to-SQL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255264"/>
            <a:ext cx="45720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69680" y="3255264"/>
            <a:ext cx="2468880" cy="4754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Tracer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one run per call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255264"/>
            <a:ext cx="45720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Magnetic Disk 45"/>
          <p:cNvSpPr/>
          <p:nvPr/>
        </p:nvSpPr>
        <p:spPr>
          <a:xfrm>
            <a:off x="914400" y="4261104"/>
            <a:ext cx="1965960" cy="1152144"/>
          </a:xfrm>
          <a:prstGeom prst="flowChartMagneticDisk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Ledger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18 tables · persists</a:t>
            </a:r>
          </a:p>
        </p:txBody>
      </p:sp>
      <p:sp>
        <p:nvSpPr>
          <p:cNvPr id="47" name="Magnetic Disk 46"/>
          <p:cNvSpPr/>
          <p:nvPr/>
        </p:nvSpPr>
        <p:spPr>
          <a:xfrm>
            <a:off x="3108960" y="4261104"/>
            <a:ext cx="1691640" cy="1152144"/>
          </a:xfrm>
          <a:prstGeom prst="flowChartMagneticDisk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Vectors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embeddings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4261104"/>
            <a:ext cx="4617720" cy="1152144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5232" y="433425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B45309"/>
                </a:solidFill>
                <a:latin typeface="Segoe UI"/>
              </a:rPr>
              <a:t>LOCAL INFERENCE SERVER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57800" y="4590288"/>
            <a:ext cx="13716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11827"/>
                </a:solidFill>
                <a:latin typeface="Segoe UI"/>
              </a:rPr>
              <a:t>Vision</a:t>
            </a:r>
          </a:p>
          <a:p>
            <a:pPr algn="ctr">
              <a:lnSpc>
                <a:spcPct val="100000"/>
              </a:lnSpc>
            </a:pPr>
            <a:r>
              <a:rPr sz="800">
                <a:solidFill>
                  <a:srgbClr val="6B7280"/>
                </a:solidFill>
                <a:latin typeface="Segoe UI"/>
              </a:rPr>
              <a:t>gemma4:e4b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20840" y="4590288"/>
            <a:ext cx="13716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11827"/>
                </a:solidFill>
                <a:latin typeface="Segoe UI"/>
              </a:rPr>
              <a:t>Planner</a:t>
            </a:r>
          </a:p>
          <a:p>
            <a:pPr algn="ctr">
              <a:lnSpc>
                <a:spcPct val="100000"/>
              </a:lnSpc>
            </a:pPr>
            <a:r>
              <a:rPr sz="800">
                <a:solidFill>
                  <a:srgbClr val="6B7280"/>
                </a:solidFill>
                <a:latin typeface="Segoe UI"/>
              </a:rPr>
              <a:t>gemma4:12b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83879" y="4590288"/>
            <a:ext cx="13716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11827"/>
                </a:solidFill>
                <a:latin typeface="Segoe UI"/>
              </a:rPr>
              <a:t>Embed</a:t>
            </a:r>
          </a:p>
          <a:p>
            <a:pPr algn="ctr">
              <a:lnSpc>
                <a:spcPct val="100000"/>
              </a:lnSpc>
            </a:pPr>
            <a:r>
              <a:rPr sz="800">
                <a:solidFill>
                  <a:srgbClr val="6B7280"/>
                </a:solidFill>
                <a:latin typeface="Segoe UI"/>
              </a:rPr>
              <a:t>nomic-embed-text</a:t>
            </a:r>
          </a:p>
        </p:txBody>
      </p:sp>
      <p:sp>
        <p:nvSpPr>
          <p:cNvPr id="53" name="Magnetic Disk 52"/>
          <p:cNvSpPr/>
          <p:nvPr/>
        </p:nvSpPr>
        <p:spPr>
          <a:xfrm>
            <a:off x="9966960" y="4261104"/>
            <a:ext cx="1645920" cy="1152144"/>
          </a:xfrm>
          <a:prstGeom prst="flowChartMagneticDisk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1827"/>
                </a:solidFill>
                <a:latin typeface="Segoe UI"/>
              </a:rPr>
              <a:t>Traces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every call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057400" y="2176272"/>
            <a:ext cx="0" cy="36576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0800000">
            <a:off x="2007108" y="24917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526280" y="2176272"/>
            <a:ext cx="0" cy="36576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10800000">
            <a:off x="4475988" y="24917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6995160" y="2176272"/>
            <a:ext cx="0" cy="36576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10800000">
            <a:off x="6944868" y="24917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9464040" y="2176272"/>
            <a:ext cx="0" cy="36576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10800000">
            <a:off x="9413748" y="24917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92807" y="3749039"/>
            <a:ext cx="0" cy="475489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10800000">
            <a:off x="1842515" y="4174236"/>
            <a:ext cx="100584" cy="100584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65960" y="3840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persist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950208" y="3749039"/>
            <a:ext cx="0" cy="475489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/>
          <p:cNvSpPr/>
          <p:nvPr/>
        </p:nvSpPr>
        <p:spPr>
          <a:xfrm rot="10800000">
            <a:off x="3899916" y="4174236"/>
            <a:ext cx="100584" cy="100584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60" y="3840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index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424927" y="3749039"/>
            <a:ext cx="0" cy="475489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10800000">
            <a:off x="7374635" y="4174236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98079" y="3840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45309"/>
                </a:solidFill>
                <a:latin typeface="Segoe UI"/>
              </a:rPr>
              <a:t>infer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789920" y="3749039"/>
            <a:ext cx="0" cy="475489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10800000">
            <a:off x="10739628" y="4174236"/>
            <a:ext cx="100584" cy="100584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63072" y="3840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6B7280"/>
                </a:solidFill>
                <a:latin typeface="Segoe UI"/>
              </a:rPr>
              <a:t>trace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5623559"/>
            <a:ext cx="29260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" y="572414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One command brings up four containers: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web · API · traces ·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006" y="534924"/>
            <a:ext cx="815644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One receipt, ten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Strictly in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536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7739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Guardrail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15768" y="1847088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2802636" y="179679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1463040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8376" y="1536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17739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Normalise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6048" y="1847088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042916" y="179679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1463040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1536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17739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Read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96328" y="1847088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283196" y="179679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60920" y="1463040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1536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7739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Clean up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36608" y="1847088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9523476" y="179679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0" y="1463040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9216" y="1536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17739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Recover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487168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79806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Re-read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15768" y="2871216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802636" y="2820924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80360" y="2487168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08376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279806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Validate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56048" y="2871216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5042916" y="2820924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20640" y="2487168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48656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279806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Audit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96328" y="2871216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7283196" y="2820924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60920" y="2487168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88936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79806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Hold?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436608" y="2871216"/>
            <a:ext cx="137160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9523476" y="2820924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01200" y="2487168"/>
            <a:ext cx="20574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9216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279806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Save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23042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B7280"/>
                </a:solidFill>
                <a:latin typeface="Segoe UI"/>
              </a:rPr>
              <a:t>…continues below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360273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STAGE 4 — SIX DETERMINISTIC PASSES, IN THIS ORDER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Parse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350008" y="4142232"/>
            <a:ext cx="128015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2427731" y="40919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496311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6311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Clean names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206239" y="4142232"/>
            <a:ext cx="128015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4283962" y="40919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352542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52542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Remap tax lines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62470" y="4142232"/>
            <a:ext cx="128015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6140193" y="40919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208773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08773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De-duplicate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918701" y="4142232"/>
            <a:ext cx="128015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 rot="5400000">
            <a:off x="7996424" y="40919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065004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65004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Fix payments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774932" y="4142232"/>
            <a:ext cx="128015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9852655" y="409194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921235" y="3913632"/>
            <a:ext cx="16916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21235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Segoe UI"/>
              </a:rPr>
              <a:t>Coerce numbers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4663440"/>
            <a:ext cx="10911535" cy="10058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8280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B45309"/>
                </a:solidFill>
                <a:latin typeface="Segoe UI"/>
              </a:rPr>
              <a:t>Transcribe, then repair — never compute.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526694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Only stage 6 may overwrite a figure, and only if the receipt's own arithmetic improves.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006" y="534924"/>
            <a:ext cx="815644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Parallel or sequential?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Asked at the midterm — here is the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PAGES — THREE AT A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9222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177393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6654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204825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4086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232257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51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59689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950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87121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page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145536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663440" y="1719072"/>
            <a:ext cx="0" cy="1719072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54880" y="34564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worker pool refills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EVERYTHING ELSE — ONE AFTER THE OTHER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77056"/>
            <a:ext cx="2606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8678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10 stages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97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each eats the last one's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64408" y="4270248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3342132" y="421995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29000" y="3877056"/>
            <a:ext cx="2606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98678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10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297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all run, none short-circuits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53328" y="4270248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6131052" y="421995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3877056"/>
            <a:ext cx="2606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98678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2 re-reads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297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the 2nd is chosen by the 1st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42248" y="4270248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919972" y="421995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06839" y="3877056"/>
            <a:ext cx="2606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398678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1 tool per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4297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that is what ReAct 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029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Tracing</a:t>
            </a:r>
            <a:r>
              <a:rPr sz="1300" b="0" i="0">
                <a:solidFill>
                  <a:srgbClr val="6B7280"/>
                </a:solidFill>
                <a:latin typeface="Segoe UI"/>
              </a:rPr>
              <a:t> runs on the calling thread — not parallel.     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Embedding</a:t>
            </a:r>
            <a:r>
              <a:rPr sz="1300" b="0" i="0">
                <a:solidFill>
                  <a:srgbClr val="6B7280"/>
                </a:solidFill>
                <a:latin typeface="Segoe UI"/>
              </a:rPr>
              <a:t> is deferred to the next 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006" y="534924"/>
            <a:ext cx="815644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Component 14 — the CV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44752"/>
            <a:ext cx="2590724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58236" y="178308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335960" y="17327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3684" y="1444752"/>
            <a:ext cx="2590724" cy="676656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Vision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1840" y="178308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109564" y="17327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8" y="1444752"/>
            <a:ext cx="2590724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Typed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05443" y="1783080"/>
            <a:ext cx="12801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8883167" y="17327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0891" y="1444752"/>
            <a:ext cx="2590724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Confidence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from token probabilities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0362" y="3131438"/>
            <a:ext cx="501058" cy="498774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537412" y="3566204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945415" y="4062414"/>
            <a:ext cx="369617" cy="539112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8251024" y="4537518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582799" y="4919810"/>
            <a:ext cx="1014210" cy="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5518791" y="4855802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3864776" y="4062414"/>
            <a:ext cx="369617" cy="539112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>
            <a:off x="4170385" y="3998406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4578388" y="3131438"/>
            <a:ext cx="501058" cy="498774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5015438" y="3067430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61204" y="274320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Audit fails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3178" y="346981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Pick the band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19869" y="464549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Crop + enlarge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2539" y="464549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Ask again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39230" y="3469810"/>
            <a:ext cx="2057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Keep only if better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8304" y="39410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THE RE-READ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331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Why a crop:  </a:t>
            </a:r>
            <a:r>
              <a:rPr sz="1200" b="0" i="0">
                <a:solidFill>
                  <a:srgbClr val="6B7280"/>
                </a:solidFill>
                <a:latin typeface="Segoe UI"/>
              </a:rPr>
              <a:t>900 px → 1,600 px across the same band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331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Why the score is real:  </a:t>
            </a:r>
            <a:r>
              <a:rPr sz="1200" b="0" i="0">
                <a:solidFill>
                  <a:srgbClr val="6B7280"/>
                </a:solidFill>
                <a:latin typeface="Segoe UI"/>
              </a:rPr>
              <a:t>it is the token probabilities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623559"/>
            <a:ext cx="29260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72414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Not decorative: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the audit, the review gate, the ledger and every answer come from what it read.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13 of 14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Spec asks for 8. Owner initials in each tile.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Prompt
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1136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Disambiguation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1136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2192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2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2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304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4304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Guardrails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CA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59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59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3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Chat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1463040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6" y="1545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190195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API endpoint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6416" y="228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NA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LLMOps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31136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31136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ReAct /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31136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AG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22192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2192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77056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SQL + critique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AG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13248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13248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68112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Multi-agent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B91C1C"/>
                </a:solidFill>
                <a:latin typeface="Segoe UI"/>
              </a:rPr>
              <a:t>not claimed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04304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04304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9168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Advanced RAG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04304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FS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59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59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111827"/>
                </a:solidFill>
                <a:latin typeface="Segoe UI"/>
              </a:rPr>
              <a:t>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50223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Evals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59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AG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86416" y="2615184"/>
            <a:ext cx="1463040" cy="1060704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86416" y="26974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B45309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3054096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374151"/>
                </a:solidFill>
                <a:latin typeface="Segoe UI"/>
              </a:rPr>
              <a:t>CV / DS 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6416" y="3438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9CA3AF"/>
                </a:solidFill>
                <a:latin typeface="Segoe UI"/>
              </a:rPr>
              <a:t>ALL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4059936"/>
            <a:ext cx="1439265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CA — Clarence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70785" y="4059936"/>
            <a:ext cx="1260043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FS — Fraser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22268" y="4059936"/>
            <a:ext cx="1528876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NA — Nathaniel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142584" y="40599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AG — Aaron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4456" y="4059936"/>
            <a:ext cx="1439265" cy="310896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ALL — CV/DS 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4782312"/>
            <a:ext cx="29260" cy="47548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9536" y="4882896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Why #11 is grey: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one planner over ten tools is not several collaborating agents. We do not claim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rule is a bug we already had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6858000" cy="363931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910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EXTRACTION PROMPT — 16 RULES, 3 OF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1883664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7b.  NUMBERS INSIDE A PRODUCT NAME ARE PART OF THE NAME 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121408"/>
            <a:ext cx="5989320" cy="228600"/>
          </a:xfrm>
          <a:prstGeom prst="roundRect">
            <a:avLst>
              <a:gd name="adj" fmla="val 20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13969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Consolas"/>
              </a:rPr>
              <a:t>     NEVER A PRICE, NEVER A QUANTITY.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395728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     "Mineral Water 500ml   25.00"  -&gt;  amount 25.00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65176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        (NOT amount 500, NOT qty 500)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90779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163824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10b. A tax breakdown does NOT get added to anything.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41985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     VATable 486.61 / 12% VAT 58.39 is a BREAKDOWN of the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657600"/>
            <a:ext cx="5989320" cy="228600"/>
          </a:xfrm>
          <a:prstGeom prst="roundRect">
            <a:avLst>
              <a:gd name="adj" fmla="val 20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675888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Consolas"/>
              </a:rPr>
              <a:t>     545.00 already charged — not a tax to add on top.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93192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18795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14b. items_printed_count is how many product lines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443984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onsolas"/>
              </a:rPr>
              <a:t>     counted printed in the item block during PASS 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81728"/>
            <a:ext cx="5989320" cy="228600"/>
          </a:xfrm>
          <a:prstGeom prst="roundRect">
            <a:avLst>
              <a:gd name="adj" fmla="val 20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70001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Consolas"/>
              </a:rPr>
              <a:t>     Never adjust it to match how many rows you produced.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48132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EACH RULE IS A BUG WE ALREADY HAD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1792224"/>
            <a:ext cx="384048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1901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RULE 7b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15798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91C1C"/>
                </a:solidFill>
                <a:latin typeface="Segoe UI"/>
              </a:rPr>
              <a:t>amount = 500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65008" y="2468880"/>
            <a:ext cx="347472" cy="0"/>
          </a:xfrm>
          <a:prstGeom prst="line">
            <a:avLst/>
          </a:prstGeom>
          <a:ln w="2286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362188" y="2418588"/>
            <a:ext cx="100584" cy="100584"/>
          </a:xfrm>
          <a:prstGeom prst="triangl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2377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47857"/>
                </a:solidFill>
                <a:latin typeface="Segoe UI"/>
              </a:rPr>
              <a:t>amount = 25.00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2926080"/>
            <a:ext cx="384048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30358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RULE 10b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2918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91C1C"/>
                </a:solidFill>
                <a:latin typeface="Segoe UI"/>
              </a:rPr>
              <a:t>total = 603.39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65008" y="3602736"/>
            <a:ext cx="347472" cy="0"/>
          </a:xfrm>
          <a:prstGeom prst="line">
            <a:avLst/>
          </a:prstGeom>
          <a:ln w="2286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8362188" y="3552444"/>
            <a:ext cx="100584" cy="100584"/>
          </a:xfrm>
          <a:prstGeom prst="triangl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58784" y="35112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47857"/>
                </a:solidFill>
                <a:latin typeface="Segoe UI"/>
              </a:rPr>
              <a:t>total = 545.00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4059936"/>
            <a:ext cx="384048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169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RULE 14b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42569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91C1C"/>
                </a:solidFill>
                <a:latin typeface="Segoe UI"/>
              </a:rPr>
              <a:t>12 rows, filed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65008" y="4736592"/>
            <a:ext cx="347472" cy="0"/>
          </a:xfrm>
          <a:prstGeom prst="line">
            <a:avLst/>
          </a:prstGeom>
          <a:ln w="2286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8362188" y="4686300"/>
            <a:ext cx="100584" cy="100584"/>
          </a:xfrm>
          <a:prstGeom prst="triangl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8784" y="4645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47857"/>
                </a:solidFill>
                <a:latin typeface="Segoe UI"/>
              </a:rPr>
              <a:t>12 of 30 → held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285232"/>
            <a:ext cx="1439265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3 read passes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70785" y="5285232"/>
            <a:ext cx="1797710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16 numbered rules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59935" y="5285232"/>
            <a:ext cx="1887321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self-report clause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8696" y="5285232"/>
            <a:ext cx="1797710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fixed JSON schema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27846" y="5285232"/>
            <a:ext cx="2156155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374151"/>
                </a:solidFill>
                <a:latin typeface="Segoe UI"/>
              </a:rPr>
              <a:t>per-image fingerprint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Seven gates. Each drops one kind of failure.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4015" y="1444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047857"/>
                </a:solidFill>
                <a:latin typeface="Segoe UI"/>
              </a:rPr>
              <a:t>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File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97703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2166867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309747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1259455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wrong type
&gt; 25 MB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5447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35447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Schema check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93069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3762233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905114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2854822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5719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malformed
reply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30813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0813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SQL filter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88436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5357600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500481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4450189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085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not a
SELECT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26180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26180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Scope lock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83803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6952967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095848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0800000">
            <a:off x="6045556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6452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reading the
whole ledger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21547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1547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Sanitiser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79170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8548334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691214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0800000">
            <a:off x="7640922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11819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injection via a
vendor name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16914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6914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Grounding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74536" y="2286000"/>
            <a:ext cx="219456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10143700" y="22357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286581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10800000">
            <a:off x="9236289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7186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a figure no
tool returned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12280" y="1737360"/>
            <a:ext cx="1339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12280" y="1965960"/>
            <a:ext cx="1339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Write guards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881948" y="2871216"/>
            <a:ext cx="0" cy="347472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10800000">
            <a:off x="10831656" y="316839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2552" y="3273552"/>
            <a:ext cx="1558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wrong account
double entry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4480560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462686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 i="0">
                <a:solidFill>
                  <a:srgbClr val="047857"/>
                </a:solidFill>
                <a:latin typeface="Segoe UI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14697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ungrounded numbers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6160" y="486460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across 64 traced agent runs — every figure the agent stated appeared in a tool observation first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Two ways to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Numbers go left. Content goes right.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SQL AGENT  ·  "how much did I spend?"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92224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20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385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read-only copy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2340864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3241548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2487168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151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334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schema + examples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3035808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3241548" y="311353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82112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3101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3284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SELECT only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91840" y="3730752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3241548" y="380847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3877056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005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23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in-scope rows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91840" y="4425696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0800000">
            <a:off x="3241548" y="450342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457200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00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7183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the exact figure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35040" y="3547871"/>
            <a:ext cx="274320" cy="0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09360" y="2322576"/>
            <a:ext cx="0" cy="1225295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053328" y="2322576"/>
            <a:ext cx="256032" cy="0"/>
          </a:xfrm>
          <a:prstGeom prst="line">
            <a:avLst/>
          </a:prstGeom>
          <a:ln w="203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6200000">
            <a:off x="6003036" y="2272284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2834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Segoe UI"/>
              </a:rPr>
              <a:t>retry
×1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RETRIEVAL  ·  "what did I buy?"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1792224"/>
            <a:ext cx="475488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1920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Compose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19385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one sentence per receipt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5440" y="2340864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10800000">
            <a:off x="9185148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0" y="2487168"/>
            <a:ext cx="475488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6151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Embed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2633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"document:" prefix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35440" y="3035808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9185148" y="311353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858000" y="3182112"/>
            <a:ext cx="475488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0" y="33101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Store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33284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768-dim vector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35440" y="3730752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10800000">
            <a:off x="9185148" y="380847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858000" y="3877056"/>
            <a:ext cx="475488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600" y="4005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Match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4023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cosine, floor 0.5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235440" y="4425696"/>
            <a:ext cx="0" cy="12801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10800000">
            <a:off x="9185148" y="450342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4572000"/>
            <a:ext cx="4754880" cy="53035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86600" y="4700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Answer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471830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cited (Receipt #N)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The ReAct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19072"/>
            <a:ext cx="19202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Question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6B7280"/>
                </a:solidFill>
                <a:latin typeface="Segoe UI"/>
              </a:rPr>
              <a:t>+ the last 10 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719072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Ambiguous?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1993392"/>
            <a:ext cx="192024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747772" y="194310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2706624"/>
            <a:ext cx="2103120" cy="493776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Ask once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nothing runs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0" y="2286000"/>
            <a:ext cx="0" cy="384048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3607308" y="2619756"/>
            <a:ext cx="100584" cy="100584"/>
          </a:xfrm>
          <a:prstGeom prst="triangl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3591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1463040"/>
            <a:ext cx="4114800" cy="22402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5361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THE LOOP — max 4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810512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Thought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what next?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2304288"/>
            <a:ext cx="0" cy="73152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7584948" y="232714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0" y="2395728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Action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one tool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2889504"/>
            <a:ext cx="0" cy="73152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7584948" y="2912364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0" y="2980944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11827"/>
                </a:solidFill>
                <a:latin typeface="Segoe UI"/>
              </a:rPr>
              <a:t>Observation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sanitised result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218688"/>
            <a:ext cx="365760" cy="0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921240" y="2048256"/>
            <a:ext cx="0" cy="1170432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573768" y="2048256"/>
            <a:ext cx="347472" cy="0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9523476" y="1997964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505455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loop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83480" y="1993392"/>
            <a:ext cx="557784" cy="256032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5490972" y="219913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77840" y="3913632"/>
            <a:ext cx="4114800" cy="49377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827"/>
                </a:solidFill>
                <a:latin typeface="Segoe UI"/>
              </a:rPr>
              <a:t>Final Answer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Segoe UI"/>
              </a:rPr>
              <a:t>only what the tools returned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35240" y="3730752"/>
            <a:ext cx="0" cy="146304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0800000">
            <a:off x="7584948" y="3826764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0" y="3913632"/>
            <a:ext cx="1554480" cy="493776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11827"/>
                </a:solidFill>
                <a:latin typeface="Segoe UI"/>
              </a:rPr>
              <a:t>Forced final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6B7280"/>
                </a:solidFill>
                <a:latin typeface="Segoe UI"/>
              </a:rPr>
              <a:t>budget spent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738360" y="4160520"/>
            <a:ext cx="283464" cy="0"/>
          </a:xfrm>
          <a:prstGeom prst="line">
            <a:avLst/>
          </a:prstGeom>
          <a:ln w="2032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971532" y="411022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1129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GUARDS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803904"/>
            <a:ext cx="1439265" cy="292608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374151"/>
                </a:solidFill>
                <a:latin typeface="Segoe UI"/>
              </a:rPr>
              <a:t>4-step budget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70785" y="3803904"/>
            <a:ext cx="1349654" cy="292608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374151"/>
                </a:solidFill>
                <a:latin typeface="Segoe UI"/>
              </a:rPr>
              <a:t>repeat cache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11879" y="3803904"/>
            <a:ext cx="1439265" cy="292608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374151"/>
                </a:solidFill>
                <a:latin typeface="Segoe UI"/>
              </a:rPr>
              <a:t>loop steering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42584" y="3803904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374151"/>
                </a:solidFill>
                <a:latin typeface="Segoe UI"/>
              </a:rPr>
              <a:t>grounding check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937760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Are you </a:t>
            </a:r>
            <a:r>
              <a:rPr sz="1600" b="1" i="0">
                <a:solidFill>
                  <a:srgbClr val="B45309"/>
                </a:solidFill>
                <a:latin typeface="Segoe UI"/>
              </a:rPr>
              <a:t>TELLING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me, or </a:t>
            </a:r>
            <a:r>
              <a:rPr sz="1600" b="1" i="0">
                <a:solidFill>
                  <a:srgbClr val="B45309"/>
                </a:solidFill>
                <a:latin typeface="Segoe UI"/>
              </a:rPr>
              <a:t>ASKING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me?    That is the planner's first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Ten tools, one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3200400"/>
            <a:ext cx="2103120" cy="914400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33832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B45309"/>
                </a:solidFill>
                <a:latin typeface="Segoe UI"/>
              </a:rPr>
              <a:t>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36941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gemma4:12b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37360"/>
            <a:ext cx="3566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82880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Consolas"/>
              </a:rPr>
              <a:t>sql_ledger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0665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question: 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258567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str — one exact figure, or rows in prose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2130552"/>
            <a:ext cx="740664" cy="1527048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4942332" y="36073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2633472"/>
            <a:ext cx="3566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7249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Consolas"/>
              </a:rPr>
              <a:t>search_receipts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296265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phrase: str, k: int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154679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str — k receipt docs, each cited (#N)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51960" y="3026664"/>
            <a:ext cx="740664" cy="630936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942332" y="36073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3529583"/>
            <a:ext cx="3566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621023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Consolas"/>
              </a:rPr>
              <a:t>list_accounts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3858767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05079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str — names, types, balances, categories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251960" y="3657600"/>
            <a:ext cx="740664" cy="265175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4942332" y="36073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425696"/>
            <a:ext cx="3566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51713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Consolas"/>
              </a:rPr>
              <a:t>list_plans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75488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filter: str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946903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50" b="0" i="0">
                <a:solidFill>
                  <a:srgbClr val="374151"/>
                </a:solidFill>
                <a:latin typeface="Consolas"/>
              </a:rPr>
              <a:t>str — goals, debts, budgets + progress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251960" y="3657600"/>
            <a:ext cx="740664" cy="1161288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>
            <a:off x="4942332" y="360730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0" y="1463040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150876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add_expense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170992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amount: float, account: str, category?: str, date?: str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190195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txn id + new balance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187184" y="1783080"/>
            <a:ext cx="813816" cy="1874520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>
            <a:off x="7950708" y="173278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20" y="2176272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222199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add_income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24231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amount: float, account: str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26151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txn id + new balance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7187184" y="2496312"/>
            <a:ext cx="813816" cy="1161288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>
            <a:off x="7950708" y="2446020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46720" y="2889504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3024" y="293522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transfer_money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313639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amount: float, from: str, to: str, fee?: float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332841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both balances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7187184" y="3209544"/>
            <a:ext cx="813816" cy="448056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7950708" y="3159252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46720" y="3602736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364845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record_activity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384962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type: goal|debt|receivable, target: str, amount: float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3024" y="40416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plan progress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187184" y="3657600"/>
            <a:ext cx="813816" cy="265176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7950708" y="3872484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46720" y="4315968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93024" y="436168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create_plan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4" y="456285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type: str, name: str, amount: float, due?: 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93024" y="47548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plan id, no money moves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187184" y="3657600"/>
            <a:ext cx="813816" cy="978408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10800000">
            <a:off x="7950708" y="4585716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046720" y="5029200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93024" y="50749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374151"/>
                </a:solidFill>
                <a:latin typeface="Consolas"/>
              </a:rPr>
              <a:t>update_plan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3024" y="52760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in 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type: str, target: str, amount?: float, delete?: bool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4" y="54681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onsolas"/>
              </a:rPr>
              <a:t>out </a:t>
            </a:r>
            <a:r>
              <a:rPr sz="800" b="0" i="0">
                <a:solidFill>
                  <a:srgbClr val="374151"/>
                </a:solidFill>
                <a:latin typeface="Consolas"/>
              </a:rPr>
              <a:t>str — edit or deletion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187184" y="3657600"/>
            <a:ext cx="813816" cy="1691640"/>
          </a:xfrm>
          <a:prstGeom prst="line">
            <a:avLst/>
          </a:prstGeom>
          <a:ln w="1651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 rot="10800000">
            <a:off x="7950708" y="5298948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14264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4 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20" y="11704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6 WRITE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5824728"/>
            <a:ext cx="29260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9536" y="589788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One shared spine for every write: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amount · account · category · date · duplicate. No tool carries its own guards.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The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10911535" cy="310896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5270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52704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  (type)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527048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Out  (type)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152704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2880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183794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file: image |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83794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fields · line items · confidence ·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3112" y="183794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422 · 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112264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1762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/extract/batch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218541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files: list[image | pdf]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18541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list[result]  one per page, own error slot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218541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in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459736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52374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GET /receipts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253288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limit: int =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253288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list[receipt]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25328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807208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287121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GET /receipts/{id}/items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288036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id: 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88036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list[line_item]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28803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404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154680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2186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GET /analytics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2" y="322783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granularity: str, year?: int, month?: 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22783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cashflow · category totals · budgets · deltas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322783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502152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356616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357530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question: str, receipt_ids?: list[int]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9672" y="357530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answer: str, sql: str, rows: 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35753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849624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391363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92277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query: str, k: int =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39227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answer: str, sources: list[int]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83112" y="392277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4197096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261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82112" y="427024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question: str, receipt_ids?: list[int]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427024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answer: str, steps: list[step], grounded: bool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83112" y="42702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422 · 500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544568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60857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onsolas"/>
              </a:rPr>
              <a:t>POST /agent/stream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82112" y="46177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question: str, receipt_ids?: list[int]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9672" y="46177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374151"/>
                </a:solidFill>
                <a:latin typeface="Consolas"/>
              </a:rPr>
              <a:t>SSE: start · token · action · observation · final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461772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in stream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4892040"/>
            <a:ext cx="10911535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5513832"/>
            <a:ext cx="29260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" y="558698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Typed in, typed out —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every request and response is a schema-validated model, so ~70 endpoints behave the same way.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1682" y="534924"/>
            <a:ext cx="676656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Every model call is traced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517904"/>
            <a:ext cx="1706880" cy="6400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Model call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28872" y="1837943"/>
            <a:ext cx="40233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4280916" y="1787651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640" y="1517904"/>
            <a:ext cx="1706880" cy="6400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Traced run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2952" y="1837943"/>
            <a:ext cx="402336" cy="0"/>
          </a:xfrm>
          <a:prstGeom prst="line">
            <a:avLst/>
          </a:prstGeom>
          <a:ln w="158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444996" y="1787651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22720" y="1517904"/>
            <a:ext cx="1706880" cy="6400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Segoe UI"/>
              </a:rPr>
              <a:t>Trace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19656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8197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runs recorded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10128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4198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21608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75818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latency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023360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405993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tokens in /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325112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4361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audit codes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626864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confidence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77440" y="2569464"/>
            <a:ext cx="2194560" cy="704088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2327148" y="322326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52543" y="3310128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1" y="34198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AGENT TURN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1" y="3721608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7" y="375818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latency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53711" y="4023360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7" y="405993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steps taken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1" y="4325112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7" y="4361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tools used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53711" y="4626864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7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grounded?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0" y="2569464"/>
            <a:ext cx="1517903" cy="704088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6039611" y="322326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65007" y="3310128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34198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SQL / SEARCH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6175" y="3721608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1" y="375818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latency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66175" y="4023360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1" y="405993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generated query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6175" y="4325112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1" y="4361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retry?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66175" y="4626864"/>
            <a:ext cx="31089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1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rows returned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0" y="2569464"/>
            <a:ext cx="5230367" cy="704088"/>
          </a:xfrm>
          <a:prstGeom prst="line">
            <a:avLst/>
          </a:prstGeom>
          <a:ln w="1651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9752075" y="3223260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How we 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Four layers. The top one is blocked.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6968" y="1481328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4712" y="1600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B91C1C"/>
                </a:solidFill>
                <a:latin typeface="Segoe UI"/>
              </a:rPr>
              <a:t>LAYER 3 — end to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4712" y="18928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receipt accuracy vs labelled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0208" y="1755648"/>
            <a:ext cx="901598" cy="31089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B91C1C"/>
                </a:solidFill>
                <a:latin typeface="Segoe UI"/>
              </a:rPr>
              <a:t>NOT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8288" y="2450592"/>
            <a:ext cx="66751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6032" y="25694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LAYER 2 — trajectory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6032" y="28620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the agent's path, live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8888" y="2724912"/>
            <a:ext cx="901598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Segoe UI"/>
              </a:rPr>
              <a:t>7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3888" y="3419856"/>
            <a:ext cx="85039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32" y="353872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LAYER 1 — 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1632" y="383133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guardrails · isolation · backup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3288" y="3694176"/>
            <a:ext cx="1618488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Segoe UI"/>
              </a:rPr>
              <a:t>found 4 defects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3768" y="4389120"/>
            <a:ext cx="104241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1512" y="450799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LAYER 0 —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1512" y="480060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deterministic functions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3408" y="4663440"/>
            <a:ext cx="1080820" cy="31089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Segoe UI"/>
              </a:rPr>
              <a:t>831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58968"/>
            <a:ext cx="2926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605272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The rule the harness enforces on itself: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an unmeasured metric returns null — never 0%, never 100%.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Metric 1 —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6 of 7 cases pass · eight checks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23</a:t>
            </a:r>
          </a:p>
        </p:txBody>
      </p:sp>
      <p:pic>
        <p:nvPicPr>
          <p:cNvPr id="14" name="Picture 13" descr="char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27549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1463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7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5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checks 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463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B91C1C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925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check 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5603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68833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THE ONE THAT 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35808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700" b="1" i="0">
                <a:solidFill>
                  <a:srgbClr val="374151"/>
                </a:solidFill>
                <a:latin typeface="Segoe UI"/>
              </a:rPr>
              <a:t>It was our scorer,
not the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One full reasoning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Case RCT-006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733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6459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What is the capital of France?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2139696"/>
            <a:ext cx="0" cy="109728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4064508" y="2199132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267712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4780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THOUGHT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45059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Not this user's money. My scope says no.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2944368"/>
            <a:ext cx="0" cy="109728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4064508" y="3003804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072384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77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2826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25526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none — no tool was called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3749040"/>
            <a:ext cx="0" cy="109728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4064508" y="3808476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877056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778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87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47857"/>
                </a:solidFill>
                <a:latin typeface="Segoe UI"/>
              </a:rPr>
              <a:t>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0599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"I'm not sure how to answer that."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48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Segoe UI"/>
              </a:rPr>
              <a:t>SCORECARD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47488"/>
            <a:ext cx="99120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Segoe UI"/>
              </a:rPr>
              <a:t>events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22729" y="504748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Segoe UI"/>
              </a:rPr>
              <a:t>no error 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84601" y="5047488"/>
            <a:ext cx="99120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Segoe UI"/>
              </a:rPr>
              <a:t>budget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7250" y="5047488"/>
            <a:ext cx="1260043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Segoe UI"/>
              </a:rPr>
              <a:t>no repeat 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18733" y="5047488"/>
            <a:ext cx="811987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Segoe UI"/>
              </a:rPr>
              <a:t>ends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2160" y="5047488"/>
            <a:ext cx="1439265" cy="31089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B91C1C"/>
                </a:solidFill>
                <a:latin typeface="Segoe UI"/>
              </a:rPr>
              <a:t>observation 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1463040"/>
            <a:ext cx="3840480" cy="3877056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1645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VERDICT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0299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0299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47857"/>
                </a:solidFill>
                <a:latin typeface="Segoe UI"/>
              </a:rPr>
              <a:t>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24871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Scorer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91C1C"/>
                </a:solidFill>
                <a:latin typeface="Segoe UI"/>
              </a:rPr>
              <a:t>wrong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2944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Code changed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944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D1D5DB"/>
                </a:solidFill>
                <a:latin typeface="Segoe UI"/>
              </a:rPr>
              <a:t>none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401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Failure deleted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4015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D1D5DB"/>
                </a:solidFill>
                <a:latin typeface="Segoe UI"/>
              </a:rPr>
              <a:t>none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0233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 i="0">
                <a:solidFill>
                  <a:srgbClr val="B45309"/>
                </a:solidFill>
                <a:latin typeface="Segoe UI"/>
              </a:rPr>
              <a:t>A benchmark you edit
when it embarrasses you
measures nothing.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Metric 2 —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The spread is the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25</a:t>
            </a:r>
          </a:p>
        </p:txBody>
      </p:sp>
      <p:pic>
        <p:nvPicPr>
          <p:cNvPr id="14" name="Picture 13" descr="char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775" y="1444752"/>
            <a:ext cx="4712610" cy="2331720"/>
          </a:xfrm>
          <a:prstGeom prst="rect">
            <a:avLst/>
          </a:prstGeom>
        </p:spPr>
      </p:pic>
      <p:pic>
        <p:nvPicPr>
          <p:cNvPr id="15" name="Picture 14" descr="chart_latency_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725" y="3895344"/>
            <a:ext cx="4622709" cy="2240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0" y="1517904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~9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5132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SQL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96896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~27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3032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agent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67588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10–200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109313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OCR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828032"/>
            <a:ext cx="3840480" cy="1316736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9560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23036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Segoe UI"/>
              </a:rPr>
              <a:t>Development traces, not a
frozen benchmark. Mixed
models, mixed load.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Metric 3 —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Trustworthy, as opposed to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2651760" cy="1207008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72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047857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ungrounded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 64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463040"/>
            <a:ext cx="2651760" cy="1207008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572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047857"/>
                </a:solidFill>
                <a:latin typeface="Segoe U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answers grounded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 a tool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26517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72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steps per 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budget is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39" y="1463040"/>
            <a:ext cx="26517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39" y="1572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200" b="1" i="0">
                <a:solidFill>
                  <a:srgbClr val="111827"/>
                </a:solidFill>
                <a:latin typeface="Segoe UI"/>
              </a:rPr>
              <a:t>33%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asked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39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before acting</a:t>
            </a:r>
          </a:p>
        </p:txBody>
      </p:sp>
      <p:pic>
        <p:nvPicPr>
          <p:cNvPr id="30" name="Picture 29" descr="chart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44" y="2907792"/>
            <a:ext cx="6193631" cy="32004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772400" y="2962656"/>
            <a:ext cx="3840480" cy="29260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0906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ROUTING, NOT DEFAULTING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474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numbers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40" y="35753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505188" y="3525012"/>
            <a:ext cx="100584" cy="100584"/>
          </a:xfrm>
          <a:prstGeom prst="triangl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sql_ledger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9684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content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35440" y="4069080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9505188" y="4018788"/>
            <a:ext cx="100584" cy="100584"/>
          </a:xfrm>
          <a:prstGeom prst="triangl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968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search_receipts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4622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statements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35440" y="4562856"/>
            <a:ext cx="320040" cy="0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9505188" y="4512564"/>
            <a:ext cx="100584" cy="100584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462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a write tool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Metric 4 —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Measured before and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27</a:t>
            </a:r>
          </a:p>
        </p:txBody>
      </p:sp>
      <p:pic>
        <p:nvPicPr>
          <p:cNvPr id="14" name="Picture 13" descr="chart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00" y="1463040"/>
            <a:ext cx="7732959" cy="22494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" y="393192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B45309"/>
                </a:solidFill>
                <a:latin typeface="Segoe UI"/>
              </a:rPr>
              <a:t>2 →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model calls per SQL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a removed round trip beats a faster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3" y="393192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3" y="40416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B45309"/>
                </a:solidFill>
                <a:latin typeface="Segoe UI"/>
              </a:rPr>
              <a:t>227×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3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faster per-receipt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3" y="4846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one missing index on line items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7" y="393192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40416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B45309"/>
                </a:solidFill>
                <a:latin typeface="Segoe UI"/>
              </a:rPr>
              <a:t>24×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faster scoped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846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scope pushed into the query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2006742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63040"/>
            <a:ext cx="2006742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9715" y="16642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9696"/>
            <a:ext cx="1823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Pepper Lunch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15184"/>
            <a:ext cx="18238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47857"/>
                </a:solidFill>
                <a:latin typeface="Segoe UI"/>
              </a:rPr>
              <a:t>₱545.00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45536"/>
            <a:ext cx="18238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VAT-inclusive:
breakdown ≠ addition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6278" y="1463040"/>
            <a:ext cx="2006742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66278" y="1463040"/>
            <a:ext cx="2006742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95913" y="16642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7718" y="2139696"/>
            <a:ext cx="1823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Shake Shack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7718" y="2615184"/>
            <a:ext cx="18238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47857"/>
                </a:solidFill>
                <a:latin typeface="Segoe UI"/>
              </a:rPr>
              <a:t>₱475.00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7718" y="3145536"/>
            <a:ext cx="18238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cash &amp; change kept
out of the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2476" y="1463040"/>
            <a:ext cx="2006742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2476" y="1463040"/>
            <a:ext cx="2006742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22112" y="16642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3916" y="2139696"/>
            <a:ext cx="1823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DBarn Manila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3916" y="2615184"/>
            <a:ext cx="18238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47857"/>
                </a:solidFill>
                <a:latin typeface="Segoe UI"/>
              </a:rPr>
              <a:t>₱216.00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3916" y="3145536"/>
            <a:ext cx="18238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270 − 54 discount,
the discounted figure filed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8675" y="1463040"/>
            <a:ext cx="2006742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8675" y="1463040"/>
            <a:ext cx="2006742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48310" y="16642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0115" y="2139696"/>
            <a:ext cx="1823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Wendy's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0115" y="2615184"/>
            <a:ext cx="18238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47857"/>
                </a:solidFill>
                <a:latin typeface="Segoe UI"/>
              </a:rPr>
              <a:t>₱835.00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0115" y="3145536"/>
            <a:ext cx="18238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7 lines read in full,
card: no cash 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44873" y="1463040"/>
            <a:ext cx="2006742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44873" y="1463040"/>
            <a:ext cx="2006742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74508" y="16642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2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6313" y="2139696"/>
            <a:ext cx="1823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374151"/>
                </a:solidFill>
                <a:latin typeface="Segoe UI"/>
              </a:rPr>
              <a:t>SM Supermarket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6313" y="2615184"/>
            <a:ext cx="18238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47857"/>
                </a:solidFill>
                <a:latin typeface="Segoe UI"/>
              </a:rPr>
              <a:t>₱1,608.00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6313" y="3145536"/>
            <a:ext cx="18238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printed 0.00 kept
as a real value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663440"/>
            <a:ext cx="2926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480974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"Clean" means internally consistent —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all ten checks passed. It does not mean every character matches the paper.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It fails too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Three caught. One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63040"/>
            <a:ext cx="2522144" cy="24688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159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09128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57984"/>
            <a:ext cx="230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Ikkoryu Ramen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33472"/>
            <a:ext cx="2302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items ≠ subtotal ≠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4224" y="3364992"/>
            <a:ext cx="6327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047857"/>
                </a:solidFill>
                <a:latin typeface="Segoe UI"/>
              </a:rPr>
              <a:t>HELD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6544" y="1463040"/>
            <a:ext cx="2522144" cy="24688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159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05592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6272" y="2157984"/>
            <a:ext cx="230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Handwritten slip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272" y="2633472"/>
            <a:ext cx="2302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confidence 0.41 vs 0.96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30688" y="3364992"/>
            <a:ext cx="6327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047857"/>
                </a:solidFill>
                <a:latin typeface="Segoe UI"/>
              </a:rPr>
              <a:t>HELD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8" y="1463040"/>
            <a:ext cx="2522144" cy="246888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2159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2055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2736" y="2157984"/>
            <a:ext cx="230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Same photo twice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2736" y="2633472"/>
            <a:ext cx="2302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cash 101.00 vs cash 1.00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27151" y="3364992"/>
            <a:ext cx="90159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B45309"/>
                </a:solidFill>
                <a:latin typeface="Segoe UI"/>
              </a:rPr>
              <a:t>FLAGGED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71" y="1463040"/>
            <a:ext cx="2522144" cy="24688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2159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98519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9199" y="2157984"/>
            <a:ext cx="230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374151"/>
                </a:solidFill>
                <a:latin typeface="Segoe UI"/>
              </a:rPr>
              <a:t>DBarn Manila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9199" y="2633472"/>
            <a:ext cx="2302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VAT 540.00 = subtotal 540.00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3615" y="3364992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Segoe UI"/>
              </a:rPr>
              <a:t>FILED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80560"/>
            <a:ext cx="10911535" cy="120700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2159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085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Segoe UI"/>
              </a:rPr>
              <a:t>THE ONE WE MISSED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901184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50" b="0" i="0">
                <a:solidFill>
                  <a:srgbClr val="374151"/>
                </a:solidFill>
                <a:latin typeface="Segoe UI"/>
              </a:rPr>
              <a:t>The VAT check is a warning, not an error — so nothing stopped it. A tax figure equal to the whole subtotal should be an error. That is a fix, not an excuse.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370" y="534924"/>
            <a:ext cx="537667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What we cannot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63040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664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No labelled receipts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accuracy is uncomputed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2468880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156716" y="2418588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23774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label ~50 receipts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3" y="1463040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3" y="1463040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1" y="1664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No LLM-as-judge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1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answer quality unscored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26863" y="2468880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869179" y="2418588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5" y="23774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a judge prompt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7" y="1463040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7" y="1463040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1664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7 trajectory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one family only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39327" y="2468880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8581643" y="2418588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39" y="23774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9 more families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145536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145536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Carry-forward inert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the toggle does nothing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4151376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1156716" y="4101084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53312" y="405993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a product decision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543" y="3145536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2543" y="3145536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1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Posting drops currency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1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USD looks like PHP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26863" y="4151376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4869179" y="4101084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65775" y="405993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a schema change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7" y="3145536"/>
            <a:ext cx="352044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65007" y="3145536"/>
            <a:ext cx="3520440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5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374151"/>
                </a:solidFill>
                <a:latin typeface="Segoe UI"/>
              </a:rPr>
              <a:t>"Local" is conditional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our default uses a shared endpoint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39327" y="4151376"/>
            <a:ext cx="292608" cy="0"/>
          </a:xfrm>
          <a:prstGeom prst="line">
            <a:avLst/>
          </a:prstGeom>
          <a:ln w="2286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8581643" y="4101084"/>
            <a:ext cx="100584" cy="100584"/>
          </a:xfrm>
          <a:prstGeom prst="triangl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39" y="405993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047857"/>
                </a:solidFill>
                <a:latin typeface="Segoe UI"/>
              </a:rPr>
              <a:t>one env var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166359"/>
            <a:ext cx="2926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53126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 limitation you disclose is a limitation.   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One a grader finds is a defect.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8069" y="534924"/>
            <a:ext cx="885139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Retrospective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72821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Segoe UI"/>
              </a:rPr>
              <a:t>EASIEST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6916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The deterministic half — ordinary code, ordinary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95728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609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MOST SURPRISING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624328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Two receipts came back identical — a prompt cache, not a misread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28416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935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HARDEST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557016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A full eval harness that still cannot report an accuracy figure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61104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Segoe UI"/>
              </a:rPr>
              <a:t>DO DIFFERENTLY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489704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Label fifty receipts in week 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93792"/>
            <a:ext cx="1091153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Segoe UI"/>
              </a:rPr>
              <a:t>NEXT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422392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Segoe UI"/>
              </a:rPr>
              <a:t>Pin models by digest; freeze one config before any result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8069" y="534924"/>
            <a:ext cx="885139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Who built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269748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66420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Nathaniel Adiong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907792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718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Chat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46704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10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85616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496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1463040"/>
            <a:ext cx="269748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166420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4688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Clarence Ang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2907792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9718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Prompts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3346704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410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3785616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8496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463040"/>
            <a:ext cx="269748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166420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4688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Fraser Sim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907792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9718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346704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410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Memory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785616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8496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463040"/>
            <a:ext cx="269748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49840" y="166420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4688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374151"/>
                </a:solidFill>
                <a:latin typeface="Segoe UI"/>
              </a:rPr>
              <a:t>Aaron Go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2907792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29718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SQL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3346704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3410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ReAct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3785616"/>
            <a:ext cx="2240280" cy="347472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8496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LLMOps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18304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88289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B45309"/>
                </a:solidFill>
                <a:latin typeface="Segoe UI"/>
              </a:rPr>
              <a:t>Component 14 — CV/DS integration ★ mandatory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248656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owned by all four:  the prompt · the confidence · the audit · the re-read loop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9240" y="534924"/>
            <a:ext cx="259689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9480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Scan a receipt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76080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153804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22384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11784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7248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Show a held one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8384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3736108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04688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4088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9552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Ask for a number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40688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318412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86992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76391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1856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Ask for content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22991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6900715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9295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8695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4159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Record by talking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05295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8483019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51599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40999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6463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Try to break it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87599" y="2468880"/>
            <a:ext cx="128016" cy="0"/>
          </a:xfrm>
          <a:prstGeom prst="line">
            <a:avLst/>
          </a:prstGeom>
          <a:ln w="1778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10065323" y="2418588"/>
            <a:ext cx="100584" cy="100584"/>
          </a:xfrm>
          <a:prstGeom prst="triangl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33903" y="1737360"/>
            <a:ext cx="1417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623303" y="18836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8767" y="2450592"/>
            <a:ext cx="130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Segoe UI"/>
              </a:rPr>
              <a:t>Open the traces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749039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8770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DISCLOSED UP FRONT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51376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Shared endpoint. If it is down we switch to a recording — and say so as we switch.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3749039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38770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WHERE TO LOOK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20840" y="4224528"/>
            <a:ext cx="108082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93100" y="4224528"/>
            <a:ext cx="991209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API docs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5749" y="4224528"/>
            <a:ext cx="991209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Trace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46268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Fallback recording on disk, same seven steps.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779" y="310896"/>
            <a:ext cx="2999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0006" y="310896"/>
            <a:ext cx="9253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682" y="310896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4370" y="310896"/>
            <a:ext cx="6473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069" y="310896"/>
            <a:ext cx="9948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Retrospective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9240" y="310896"/>
            <a:ext cx="369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Segoe UI"/>
              </a:rPr>
              <a:t>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9240" y="534924"/>
            <a:ext cx="259689" cy="201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i="0">
                <a:solidFill>
                  <a:srgbClr val="111827"/>
                </a:solidFill>
                <a:latin typeface="Segoe UI"/>
              </a:rPr>
              <a:t>Take away four things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Snag</a:t>
            </a:r>
            <a:r>
              <a:rPr sz="900" b="0" i="0">
                <a:solidFill>
                  <a:srgbClr val="9CA3AF"/>
                </a:solidFill>
                <a:latin typeface="Segoe UI"/>
              </a:rPr>
              <a:t>  ·  every peso traced back to the paper it came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63040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2159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70078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374151"/>
                </a:solidFill>
                <a:latin typeface="Segoe UI"/>
              </a:rPr>
              <a:t>The CV model IS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94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audit · gate · ledger · answers all derive from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70078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374151"/>
                </a:solidFill>
                <a:latin typeface="Segoe UI"/>
              </a:rPr>
              <a:t>Two of three tens, honestly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194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26× faster · ₱17,982/yr · "better" not claimed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80944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18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374151"/>
                </a:solidFill>
                <a:latin typeface="Segoe UI"/>
              </a:rPr>
              <a:t>The eval knows its own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71246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6/7 cases · 0 ungrounded · accuracy uncomputed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80944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218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374151"/>
                </a:solidFill>
                <a:latin typeface="Segoe UI"/>
              </a:rPr>
              <a:t>We found our own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71246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and wrote each one down with its 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5604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Snag</a:t>
            </a:r>
            <a:r>
              <a:rPr sz="1600" b="0" i="0">
                <a:solidFill>
                  <a:srgbClr val="94A3B8"/>
                </a:solidFill>
                <a:latin typeface="Segoe UI"/>
              </a:rPr>
              <a:t>   —   every peso traced back to the paper it came 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B45309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